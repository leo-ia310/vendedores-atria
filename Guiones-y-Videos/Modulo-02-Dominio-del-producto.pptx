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 de nuevo al equipo. Este es el Módulo 2 de la Academia Comercial ATRIA, dominio del producto, y déjame decirte, sin exagerar, que es uno de los módulos más importantes de todo el programa. Si el primer módulo te dio los cimientos, este te da las herramientas con las que vas a trabajar todos los días. ¿Por qué es tan importante? Porque aquí se cumple una regla que no tiene excepciones en el mundo de las ventas: no se vende lo que no se entiende. Puedes tener el mejor guion escrito, la mejor actitud, la sonrisa más amable y la mejor presencia; pero si no dominas el producto de verdad, el cliente lo va a notar en los primeros dos minutos de conversación. Va a hacer una pregunta y vas a titubear, y ahí se cae la confianza. En cambio, cuando dominas el producto, cada respuesta sale con seguridad, y esa seguridad se contagia y se convierte en credibilidad. En este módulo vas a conocer cada parte de ATRIA a fondo. Pero, y esto es clave, no lo vamos a hacer como un manual técnico aburrido que se limita a describir pantallas y botones. Lo vamos a hacer de la forma en que piensa un vendedor experto. Cada módulo del producto lo vamos a conectar con tres cosas: qué hace, qué problema resuelve y qué tipo de cliente lo necesita. Esa fórmula de tres es lo que convierte el conocimiento técnico frío en argumentos de venta que mueven decisiones. Son treinta y cinco minutos de contenido valioso, así que ponte cómodo, y si puedes, ten a la mano papel y lápiz para anotar, porque lo que viene lo vas a usar en la calle. Vamos a empezar por entender el mapa completo del producto, y luego lo recorreremos parte por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completo que vamos a hacer, y te lo muestro entero para que tengas el mapa en la cabeza antes de empezar el viaje. Vamos a ver cinco grandes módulos del producto, uno por uno, con calma. Empezaremos por el punto de venta, que es el corazón de la caja, el módulo que casi todos los clientes van a usar en cada venta, todos los días. Luego veremos pedidos y menú, que es el módulo especial, el que está diseñado específicamente para los restaurantes y todo lo relacionado con la comida. Después pasaremos al inventario, que controla las existencias, los lotes y los vencimientos, y que le ahorra al cliente mucho más dinero del que imagina. Enseguida llegaremos a la contabilidad automática, que yo, personalmente, llamo la joya de la corona de ATRIA, porque es lo que de verdad nos diferencia de cualquier otro sistema del mercado. Y cerraremos el recorrido con multi-sucursal y reportes, que le dan al dueño la visión completa, de águila, sobre su negocio. Al final de todo, vamos a unir las piezas con la fórmula más importante que vas a aprender para vender: función, problema, beneficio. Quiero pedirte algo desde ahora: cada vez que veas o abras una pantalla de ATRIA, de aquí en adelante, quiero que la mires con esos tres lentes puestos. No pienses solo qué hace esa pantalla, piensa qué problema resuelve y a quién le sirve. Si adoptas ese hábito mental, este módulo habrá cumplido su misión. Empecemos por el primero, el punto de 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el punto de venta, o POS por sus siglas en inglés, que significa point of sale, punto de venta. Este es el módulo que el cliente ve funcionar todos los días, en cada venta que hace, así que es el más visible y el que más rápido genera confianza cuando lo muestras bien. Vamos a analizarlo con nuestra fórmula. Primero, ¿qué hace el POS de ATRIA? Hace varias cosas que le resuelven la vida a un comerciante. Permite vender rápido, con muy pocos toques, buscando el producto por su nombre o por su código de barras, sin perder tiempo. Permite aplicar descuentos de forma controlada, para que el negocio no regale dinero sin darse cuenta. Permite cobrar de forma mixta, o sea, una parte en efectivo y otra parte con tarjeta, algo comunísimo en nuestros comercios latinoamericanos y que muchos sistemas ni siquiera contemplan. Y tiene una característica que a los clientes les encanta y que siempre debes mencionar: sigue operando aunque se caiga el internet. Cuando la conexión vuelve, todo se sincroniza solo, sin perder ni una sola venta. Segundo, y esta es la parte que de verdad vende, ¿qué problema resuelve el POS? Resuelve tres dolores muy concretos: las ventas lentas que hacen perder tiempo y paciencia; las colas de clientes que se cansan de esperar y a veces se van sin comprar; y, el más grave de todos, las ventas que se hacen sin quedar registradas, esas ventas fantasma que después nadie sabe si el dinero entró a la caja o se quedó en el bolsillo de alguien. Ese descontrol le cuesta muchísimo a los negocios. Y tercero, ¿quién es el cliente típico de este módulo? La respuesta es amplia: prácticamente cualquier comercio que tenga una caja. Una tienda, una ferretería, una farmacia, una boutique, un minimercado. Si cobran dinero, necesitan un buen punto de venta. Fíjate cómo, al analizarlo, usamos la fórmula completa: te dije qué hace, qué problema resuelve y quién lo necesita. Así, exactamente así, vas a pensar cada módulo del producto de aquí en adelante. Practícalo con este mismo, repítelo en voz alta, hasta que te salga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módulo es muy especial, porque es el que convierte a ATRIA en la solución ideal para todo el mundo de la comida: pedidos y menú para restaurantes. Este módulo está diseñado pensando en la realidad concreta de una cocina y un salón llenos de movimiento, y cuando lo dominas, tienes en tus manos la llave para vender a un sector enorme y muy desatendido. Analicémoslo con nuestra fórmula, como siempre. ¿Qué hace? Hace cuatro cosas encadenadas que vale la pena que memorices. Primero, organiza el menú: carga los platos, sus precios, sus categorías, sus variantes, de modo que todo esté ordenado y a la mano. Segundo, toma los pedidos por mesa o por cuenta, para que nada se pierda ni se confunda entre el salón y la cocina; el mesero captura, y la cocina recibe. Tercero, conecta cada pedido directamente con la caja, así que el cobro sale exactamente de lo que realmente se pidió, sin que se cuele nada ni se cobre de menos. Y cuarto, y esto es lo más potente, ayuda a controlar el consumo de inventario, porque cuando se vende un plato, ATRIA sabe qué insumos, qué ingredientes se usaron para prepararlo, y los descuenta. Ahora, ¿qué problema resuelve? Resuelve el dolor más común y más frustrante de los restaurantes, ese que hace que el dueño viva estresado. Resuelve los pedidos que se pierden o se confunden, con el clásico «yo no pedí esto» o el plato que nunca llegó a la mesa. Resuelve los cobros desordenados, donde al final del día nunca se sabe con certeza si se cobró todo lo que se sirvió. Y resuelve la falta de claridad sobre qué platos se venden más y, sobre todo, cuáles dejan margen y cuáles no; porque hay platos que se venden mucho pero dejan poquísimo, y el dueño muchas veces ni lo sabe. Y por último, ¿quién lo necesita? Lo necesita cualquier restaurante, cafetería, negocio de comida rápida, bar, food truck o cocina que maneje pedidos con frecuencia. Te doy un consejo de vendedor: cuando entres a un negocio de comida y veas al dueño corriendo entre las mesas, apuntando pedidos en papelitos, este es el módulo que va a hacer brillar sus ojos, porque le vas a mostrar el orden que tanto necesita. Ese momento de conexión es lo que cierra ventas en el sector gastronómico.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tercer módulo es el inventario, y quiero que le prestes especial atención, porque es uno de los que más dinero le ahorra al cliente sin que él siquiera se dé cuenta de cuánto está perdiendo hoy. El inventario es dinero quieto en los estantes, y controlarlo bien es controlar la salud del negocio. Vamos con la fórmula. ¿Qué hace el módulo de inventario de ATRIA? Controla las existencias en tiempo real, es decir, te dice cuánto tienes de cada producto en este preciso momento, sin tener que ir a contar a la bodega. Maneja lotes y vencimientos, algo absolutamente vital para las farmacias, para las tiendas de alimentos y para cualquier negocio que venda productos que caducan. Controla varios almacenes o bodegas al mismo tiempo, porque muchos negocios tienen más de un lugar donde guardan mercadería. Y registra los movimientos entre sucursales, cuando un producto sale de una tienda y va a otra, para que nunca se pierda el rastro. Ahora la pregunta que vende: ¿qué problema resuelve? Resuelve dos dolores que son carísimos, aunque muchas veces invisibles. El primero son las pérdidas: productos que se roban, productos que se vencen en la estantería y hay que botar, y productos que simplemente se pierden porque nadie sabía que estaban ahí, arrumados en un rincón. Todo eso es dinero que se evapora. El segundo dolor son los quiebres de stock, que es cuando un cliente llega dispuesto a comprar y resulta que no hay producto. Eso es doblemente malo: es una venta que se perdió y es un cliente que se va molesto y quizás no vuelve. ¿Y quién necesita este módulo? Lo necesita todo negocio que maneje productos físicos: ferreterías con miles de artículos distintos, farmacias con medicamentos que vencen, tiendas, distribuidoras, minimercados. Y te dejo un dato de oro para tus conversaciones de venta, uno que impacta: la gran mayoría de los negocios pequeños no tiene ni idea de cuánto dinero tiene, literalmente, parado o perdido dentro de su inventario. Trabajan a ciegas. ATRIA se los muestra con números claros, y ver ese número suele ser el momento en que el cliente entiende que necesita ordenar su inventario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 la que, con todo cariño y con toda razón, llamo la joya de ATRIA: la contabilidad automática. Presta aquí la máxima atención de todo el módulo, porque este es el argumento que de verdad nos separa de cualquier caja registradora o POS común del mercado. Cualquiera vende un sistema para cobrar; casi nadie le entrega al comerciante su contabilidad hecha sola. Vamos con la fórmula, pero con más profundidad. ¿Qué hace? Ya lo tocamos en el primer módulo, pero ahora lo entendemos completo. Cada venta, cada compra a un proveedor, cada gasto del negocio y cada cobro que se recibe genera automáticamente su asiento contable, en el instante, sin que ninguna persona tenga que volver a digitar esa información en otro programa ni pasarla a un contador. Y a partir de esos asientos que se crean solos, el libro diario, el libro mayor y los estados financieros del negocio se arman solos y se mantienen actualizados al día, no a fin de mes, no con tres meses de atraso, sino al día. ¿Qué problema resuelve? Resuelve el dolor de una contabilidad que está atrasada, que es cara y que está llena de errores. Y quiero que dimensiones este dolor, porque es enorme. Piensa en cuántos negocios pequeños llevan su contabilidad con meses de retraso, tomando decisiones a ciegas porque los números que tienen ya son viejos. Piensa en cuántos le pagan mes a mes a un contador que solo aparece a recoger papeles y que les entrega los resultados cuando ya es demasiado tarde para reaccionar. Piensa en los errores de digitación, en las facturas que se traspapelan, en los sustos con los impuestos. Todo eso lo resuelve ATRIA. ¿Y quién lo necesita? En verdad lo necesitan todos, pero muy en especial los negocios que hoy pagan a alguien únicamente para cuadrar sus cuentas. Y aquí te regalo un argumento de venta poderosísimo, de los que cierran tratos: en muchísimos casos, lo que el cliente se ahorra en tiempo propio y en costos de contabilidad externa paga por sí solo la suscripción mensual de ATRIA. O sea, el sistema se paga solo con el ahorro que genera. Cuando aprendas a mostrar bien este módulo, en el Módulo de demostración, vas a ver con tus propios ojos cómo le cambia la cara al cliente, porque le estás quitando de encima uno de los mayores dolores de cabeza que tiene un dueño de negocio. Domina este módulo más que ningún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quinto y último módulo del producto es multi-sucursal y reportes, y es el que le regala al dueño la visión de águila sobre todo su negocio, esa mirada desde arriba que le permite decidir con inteligencia en lugar de por corazonada. Vamos con la fórmula por última vez en este recorrido. ¿Qué hace? Hace dos grandes cosas. Por un lado, consolida varias tiendas o sucursales en una sola vista, de manera que el dueño no tenga que andar sumando a mano lo de cada local en una servilleta al final del día. Todo junto, en una sola pantalla, comparable. Por otro lado, entrega reportes claros y útiles: reportes de ventas, para saber cuánto se vendió y cuándo; reportes de rentabilidad, para saber cuánto se ganó de verdad, que no es lo mismo que cuánto se vendió; reportes de cuentas por cobrar, para no perder de vista el dinero que le deben; y reportes de stock bajo, para saber qué productos hay que reponer antes de que se agoten. ¿Qué problema resuelve? Resuelve una angustia muy típica y muy real del dueño que tiene varios locales: no saber con certeza cuál de sus sucursales es realmente la más rentable, ni dónde exactamente se le está escapando el dinero. Y te comparto algo que verás mucho en la calle: muchísimos dueños están convencidos de que su local más grande, el que más vende, es el que más gana. Y cuando ATRIA les muestra los reportes de rentabilidad, se llevan la sorpresa de su vida al descubrir que, a veces, ese local grande gana menos que uno pequeño porque tiene más gastos. Los datos rompen las suposiciones. ¿Y quién lo necesita? De forma directa e inmediata, lo necesitan los negocios que tienen dos o más sucursales. Pero pon mucha atención a esto, porque es importante: los reportes le sirven absolutamente a cualquier negocio, incluso al que tiene un solo local. ¿Por qué? Porque decidir con datos reales siempre, siempre, es mejor que decidir con una corazonada. Un dueño que ve sus números toma mejores decisiones. Con esto ya conoces los cinco grandes módulos del producto de ATRIA. Ahora viene la parte que une todo y que convierte este conocimiento en ventas.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secreto, la fórmula que de verdad separa a un vendedor promedio de uno experto. Quiero que la grabes a fuego, porque es el hilo que conecta todo lo que acabas de aprender del producto con lo que vas a lograr en la calle. Déjame primero mostrarte cómo NO se hace, para que sientas la diferencia. Un vendedor promedio se para frente al cliente y enumera funciones, una tras otra: mire, señor, esto tiene punto de venta, tiene inventario, tiene contabilidad, tiene reportes, tiene multi-sucursal. Y el cliente escucha, asiente con la cabeza por educación, dice «ajá, interesante»... y no compra. ¿Por qué no compra, si le dijiste todo lo que hace? Porque en ningún momento sintió que eso resolviera un problema suyo. Le hablaste de tu producto, no de su dolor. Ahora mira cómo lo hace el vendedor experto. Usa una fórmula de tres pasos encadenados: función, problema, beneficio. Primero menciona la función, lo que la herramienta hace. Segundo, y este es el paso que casi todos olvidan, conecta esa función con el problema real y específico de ese cliente que tiene enfrente. Y tercero, remata con el beneficio, es decir, con lo que el cliente concretamente gana. Veámoslo con el ejemplo que tienes en pantalla, usando el POS. Función: el punto de venta de ATRIA cobra de forma mixta y sigue funcionando aunque se caiga el internet. Problema: usted me contó que pierde ventas cada vez que se le cae la red y la caja deja de funcionar. Beneficio: con ATRIA, usted nunca deja de vender ni de cobrar, pase lo que pase con el internet. ¿Sientes la diferencia? ¿Escuchas cómo la tercera versión sí mueve algo por dentro? La función sola es simple información, datos que entran por un oído y salen por el otro. Pero la función, más el problema, más el beneficio, eso es una venta en construcción. Grábate esta cadena de tres eslabones, porque la vas a usar con cada uno de los cinco módulos que aprendimos y con cada cliente que atiendas. Es, sin exagerar, la herramienta más importante que te llevas de este módulo.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aterrizar la fórmula con tres casos reales, exactamente del tipo que te vas a encontrar cuando salgas a la calle a trabajar. Te recomiendo memorizar estos tres, porque son oro puro para tus primeras conversaciones. Caso número uno: una ferretería con dos locales. ¿Cuál es su problema? Que el dueño no sabe cuál de sus dos locales es más rentable; trabaja a ciegas, repartiendo su atención y su mercadería sin datos que lo guíen. ¿Cuál es la solución de ATRIA? El módulo multi-sucursal junto con los reportes de rentabilidad. Y fíjate cómo se lo dirías en una sola frase potente: «Con ATRIA usted va a ver, negro sobre blanco y sin discusión, cuál de sus dos locales le deja más plata y por qué». Eso es función, problema y beneficio en acción. Caso número dos: una farmacia que pierde productos vencidos. ¿El problema? Cada medicamento que se vence en el estante es dinero que se va directo a la basura, y en una farmacia eso pasa seguido. ¿La solución? El control de lotes y vencimientos del inventario, que le avisa al farmacéutico con anticipación, antes de que el producto caduque, para que lo venda o lo rote a tiempo. El beneficio es claro: deja de botar plata. Caso número tres: un restaurante que pierde el control entre los pedidos, la caja y los insumos. ¿El problema? Los pedidos se confunden, no cuadra la caja al final del día, y no sabe cuántos insumos consume realmente. ¿La solución? El módulo de pedidos y menú conectado con el inventario y con los reportes, que ordena todo el flujo de principio a fin. Ahora, quiero que notes algo muy importante sobre el ORDEN de estos tres casos. En los tres, yo no empecé por la función. Empecé por el problema, y la función apareció después, como la respuesta natural a ese problema. Ese es el orden mental correcto que debes entrenar: primero escuchas y entiendes el problema del cliente, y solo después ofreces la función que lo resuelve. Nunca al revés. El vendedor novato llega ofreciendo funciones; el vendedor experto llega escuchando problemas. Practica estos tres casos hasta que te salgan de 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cerrar este módulo, quiero advertirte sobre los dos errores más comunes, y te lo digo con énfasis porque son errores que se cometen justo cuando ya te sientes seguro y entusiasmado con el producto. Son trampas del exceso de confianza. El primer error es querer mostrar todos los módulos, aunque el cliente solo necesite dos. Es muy tentador, lo entiendo: acabas de aprender todo lo maravilloso que hace ATRIA, estás emocionado, y quieres enseñarlo todo, presumir cada función, demostrar todo lo que sabes. Pero para el cliente, eso no es impresionante, es abrumador y confuso. Imagina que llegas donde el dueño de una pequeña tienda de barrio, con un solo local, y te pones a hablarle con entusiasmo del módulo multi-sucursal para consolidar varias tiendas. ¿Qué logras? Lo pierdes. Él piensa «esto es demasiado grande para mí, esto no es para mi negocito». Recuerda siempre: menos es más. Muestra solo lo que le sirve a ese cliente en particular, y guarda el resto. El segundo error es hablar de funciones sin conectarlas a un problema. Es el error de recitar la ficha técnica de memoria, como si leyeras un folleto. «Tiene esto, tiene lo otro, tiene aquello». Ya lo vimos con la fórmula, pero lo repito porque es el error más frecuente de todos: una función suelta, sin un problema al lado, es puro aire que el cliente olvida en cinco segundos. En cambio, una función que resuelve un dolor concreto es una venta que empieza a construirse. Si logras evitar estos dos errores, mostrar de menos y siempre con problema, ya estás por encima de la mayoría de los vendedores del mercado. Porque dominar el producto, y esto es lo más importante que te llevas, no es saber decir todo lo que hace; dominar el producto es saber elegir, con criterio, lo que le importa al cliente que tienes enfrente, y dejar callado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el resumen de este módulo, que estuvo cargado de contenido valioso. Quédate con estas tres ideas por encima de todo. Primera idea: cada módulo de ATRIA, el punto de venta, los pedidos y menú, el inventario, la contabilidad automática y los reportes multi-sucursal, resuelve un problema concreto y real de un negocio de verdad. No son funciones para presumir en un folleto; son soluciones a dolores que le quitan el sueño al dueño. Cuando pienses en cualquier módulo, piensa primero en el dolor que cura. Segunda idea: la cadena que nunca, jamás, debes soltar es función, problema, beneficio. Menciona qué hace la herramienta, conéctalo con el dolor específico de ese cliente, y remata con lo que gana en dinero, en tiempo o en tranquilidad. Esa cadena es tu herramienta de trabajo diaria. Y tercera idea: no todos los clientes necesitan todo. Tu trabajo como asesor profesional no es mostrarlo absolutamente todo, sino elegir con criterio lo relevante para el negocio que tienes enfrente. La sabiduría del buen vendedor está tanto en lo que muestra como en lo que decide callar. Si dominas estas tres ideas, dominas el producto de la única manera que realmente sirve: la manera que vende.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con esto cerramos el Módulo 2. Hiciste un trabajo excelente, y quiero que lo reconozcas, porque acabas de recorrer todo el producto de ATRIA con la mentalidad correcta, la mentalidad de un vendedor experto. Ya no ves pantallas sueltas ni botones sin sentido: ahora ves soluciones a problemas reales. Conoces el punto de venta, los pedidos y menú para restaurantes, el inventario con sus lotes y vencimientos, la contabilidad automática que es nuestra joya, y los reportes multi-sucursal que dan la visión completa. Y lo más importante de todo: sabes conectar cada uno de ellos con un dolor concreto del cliente, usando la fórmula de oro, función, problema y beneficio. Ese conocimiento es exactamente lo que te va a dar seguridad, esa seguridad que se nota y se contagia, cuando estés sentado frente a un dueño de negocio. Tienes además dos recursos de apoyo que te recomiendo revisar para reforzar: la ficha de producto en PDF y la comparativa de Excel contra ATRIA, que es buenísima para mostrar el contraste. El siguiente paso es presentar el examen de este módulo, para afianzar todo lo que aprendiste, y luego avanzar al Módulo 3, donde vamos a aprender algo clave que te va a ahorrar muchísimo tiempo: cómo identificar al cliente ideal. Es decir, a quién sí conviene venderle y a quién no, para que enfoques tu energía donde de verdad rinde. Nos vemos en el próximo video. Vas muy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19695" y="2468880"/>
            <a:ext cx="4572000" cy="4572000"/>
          </a:xfrm>
          <a:prstGeom prst="rect">
            <a:avLst/>
          </a:prstGeom>
          <a:noFill/>
          <a:ln/>
        </p:spPr>
        <p:txBody>
          <a:bodyPr wrap="square" lIns="0" tIns="0" rIns="0" bIns="0" rtlCol="0" anchor="b"/>
          <a:lstStyle/>
          <a:p>
            <a:pPr algn="r" indent="0" marL="0">
              <a:buNone/>
            </a:pPr>
            <a:r>
              <a:rPr lang="en-US" sz="23000" b="1" dirty="0">
                <a:solidFill>
                  <a:srgbClr val="FFFFFF">
                    <a:alpha val="10000"/>
                  </a:srgbClr>
                </a:solidFill>
                <a:latin typeface="Century Schoolbook" pitchFamily="34" charset="0"/>
                <a:ea typeface="Century Schoolbook" pitchFamily="34" charset="-122"/>
                <a:cs typeface="Century Schoolbook" pitchFamily="34" charset="-120"/>
              </a:rPr>
              <a:t>02</a:t>
            </a:r>
            <a:endParaRPr lang="en-US" sz="23000" dirty="0"/>
          </a:p>
        </p:txBody>
      </p:sp>
      <p:sp>
        <p:nvSpPr>
          <p:cNvPr id="4" name="Text 1"/>
          <p:cNvSpPr/>
          <p:nvPr/>
        </p:nvSpPr>
        <p:spPr>
          <a:xfrm>
            <a:off x="640080" y="137160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ACADEMIA COMERCIAL ATRIA · MÓDULO 02</a:t>
            </a:r>
            <a:endParaRPr lang="en-US" sz="1150" dirty="0"/>
          </a:p>
        </p:txBody>
      </p:sp>
      <p:sp>
        <p:nvSpPr>
          <p:cNvPr id="5" name="Text 2"/>
          <p:cNvSpPr/>
          <p:nvPr/>
        </p:nvSpPr>
        <p:spPr>
          <a:xfrm>
            <a:off x="640080" y="1920240"/>
            <a:ext cx="10911535" cy="1828800"/>
          </a:xfrm>
          <a:prstGeom prst="rect">
            <a:avLst/>
          </a:prstGeom>
          <a:noFill/>
          <a:ln/>
        </p:spPr>
        <p:txBody>
          <a:bodyPr wrap="square" lIns="0" tIns="0" rIns="0" bIns="0" rtlCol="0" anchor="t"/>
          <a:lstStyle/>
          <a:p>
            <a:pPr algn="l" indent="0" marL="0">
              <a:lnSpc>
                <a:spcPct val="95000"/>
              </a:lnSpc>
              <a:buNone/>
            </a:pPr>
            <a:r>
              <a:rPr lang="en-US" sz="5800" b="1" dirty="0">
                <a:solidFill>
                  <a:srgbClr val="FFFFFF"/>
                </a:solidFill>
                <a:latin typeface="Century Schoolbook" pitchFamily="34" charset="0"/>
                <a:ea typeface="Century Schoolbook" pitchFamily="34" charset="-122"/>
                <a:cs typeface="Century Schoolbook" pitchFamily="34" charset="-120"/>
              </a:rPr>
              <a:t>Dominio del producto</a:t>
            </a:r>
            <a:endParaRPr lang="en-US" sz="5800" dirty="0"/>
          </a:p>
        </p:txBody>
      </p:sp>
      <p:sp>
        <p:nvSpPr>
          <p:cNvPr id="6" name="Text 3"/>
          <p:cNvSpPr/>
          <p:nvPr/>
        </p:nvSpPr>
        <p:spPr>
          <a:xfrm>
            <a:off x="640080" y="3886200"/>
            <a:ext cx="9997135" cy="822960"/>
          </a:xfrm>
          <a:prstGeom prst="rect">
            <a:avLst/>
          </a:prstGeom>
          <a:noFill/>
          <a:ln/>
        </p:spPr>
        <p:txBody>
          <a:bodyPr wrap="square" lIns="0" tIns="0" rIns="0" bIns="0" rtlCol="0" anchor="t"/>
          <a:lstStyle/>
          <a:p>
            <a:pPr algn="l" indent="0" marL="0">
              <a:buNone/>
            </a:pPr>
            <a:r>
              <a:rPr lang="en-US" sz="2200" i="1" dirty="0">
                <a:solidFill>
                  <a:srgbClr val="E7DEF7"/>
                </a:solidFill>
                <a:latin typeface="Calibri" pitchFamily="34" charset="0"/>
                <a:ea typeface="Calibri" pitchFamily="34" charset="-122"/>
                <a:cs typeface="Calibri" pitchFamily="34" charset="-120"/>
              </a:rPr>
              <a:t>Cada módulo de ATRIA conectado a un problema real</a:t>
            </a:r>
            <a:endParaRPr lang="en-US" sz="2200" dirty="0"/>
          </a:p>
        </p:txBody>
      </p:sp>
      <p:sp>
        <p:nvSpPr>
          <p:cNvPr id="7" name="Shape 4"/>
          <p:cNvSpPr/>
          <p:nvPr/>
        </p:nvSpPr>
        <p:spPr>
          <a:xfrm>
            <a:off x="640080" y="5669280"/>
            <a:ext cx="5120640" cy="566928"/>
          </a:xfrm>
          <a:prstGeom prst="roundRect">
            <a:avLst>
              <a:gd name="adj" fmla="val 50000"/>
            </a:avLst>
          </a:prstGeom>
          <a:solidFill>
            <a:srgbClr val="FFFFFF">
              <a:alpha val="14000"/>
            </a:srgbClr>
          </a:solidFill>
          <a:ln w="9525">
            <a:solidFill>
              <a:srgbClr val="FFFFFF">
                <a:alpha val="40000"/>
              </a:srgbClr>
            </a:solidFill>
            <a:prstDash val="solid"/>
          </a:ln>
        </p:spPr>
      </p:sp>
      <p:sp>
        <p:nvSpPr>
          <p:cNvPr id="8" name="Text 5"/>
          <p:cNvSpPr/>
          <p:nvPr/>
        </p:nvSpPr>
        <p:spPr>
          <a:xfrm>
            <a:off x="640080" y="5669280"/>
            <a:ext cx="51206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Nivel Principiante · Duración 35 minutos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LOS MÓDULOS QUE DOMINARÁS</a:t>
            </a:r>
            <a:endParaRPr lang="en-US" sz="1150" dirty="0"/>
          </a:p>
        </p:txBody>
      </p:sp>
      <p:sp>
        <p:nvSpPr>
          <p:cNvPr id="3" name="Text 1"/>
          <p:cNvSpPr/>
          <p:nvPr/>
        </p:nvSpPr>
        <p:spPr>
          <a:xfrm>
            <a:off x="640080" y="822960"/>
            <a:ext cx="10911535" cy="86868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El producto ATRIA, parte por parte</a:t>
            </a:r>
            <a:endParaRPr lang="en-US" sz="3400" dirty="0"/>
          </a:p>
        </p:txBody>
      </p:sp>
      <p:sp>
        <p:nvSpPr>
          <p:cNvPr id="4" name="Shape 2"/>
          <p:cNvSpPr/>
          <p:nvPr/>
        </p:nvSpPr>
        <p:spPr>
          <a:xfrm>
            <a:off x="640080" y="1874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5" name="Shape 3"/>
          <p:cNvSpPr/>
          <p:nvPr/>
        </p:nvSpPr>
        <p:spPr>
          <a:xfrm>
            <a:off x="896112" y="2170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6" name="Text 4"/>
          <p:cNvSpPr/>
          <p:nvPr/>
        </p:nvSpPr>
        <p:spPr>
          <a:xfrm>
            <a:off x="896112" y="2170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1</a:t>
            </a:r>
            <a:endParaRPr lang="en-US" sz="2400" dirty="0"/>
          </a:p>
        </p:txBody>
      </p:sp>
      <p:sp>
        <p:nvSpPr>
          <p:cNvPr id="7" name="Text 5"/>
          <p:cNvSpPr/>
          <p:nvPr/>
        </p:nvSpPr>
        <p:spPr>
          <a:xfrm>
            <a:off x="1737360"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Punto de venta (POS)</a:t>
            </a:r>
            <a:endParaRPr lang="en-US" sz="1700" dirty="0"/>
          </a:p>
        </p:txBody>
      </p:sp>
      <p:sp>
        <p:nvSpPr>
          <p:cNvPr id="8" name="Text 6"/>
          <p:cNvSpPr/>
          <p:nvPr/>
        </p:nvSpPr>
        <p:spPr>
          <a:xfrm>
            <a:off x="1737360" y="2484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corazón de la caja</a:t>
            </a:r>
            <a:endParaRPr lang="en-US" sz="1250" dirty="0"/>
          </a:p>
        </p:txBody>
      </p:sp>
      <p:sp>
        <p:nvSpPr>
          <p:cNvPr id="9" name="Shape 7"/>
          <p:cNvSpPr/>
          <p:nvPr/>
        </p:nvSpPr>
        <p:spPr>
          <a:xfrm>
            <a:off x="6255868" y="1874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0" name="Shape 8"/>
          <p:cNvSpPr/>
          <p:nvPr/>
        </p:nvSpPr>
        <p:spPr>
          <a:xfrm>
            <a:off x="6511900" y="2170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9"/>
          <p:cNvSpPr/>
          <p:nvPr/>
        </p:nvSpPr>
        <p:spPr>
          <a:xfrm>
            <a:off x="6511900" y="2170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2</a:t>
            </a:r>
            <a:endParaRPr lang="en-US" sz="2400" dirty="0"/>
          </a:p>
        </p:txBody>
      </p:sp>
      <p:sp>
        <p:nvSpPr>
          <p:cNvPr id="12" name="Text 10"/>
          <p:cNvSpPr/>
          <p:nvPr/>
        </p:nvSpPr>
        <p:spPr>
          <a:xfrm>
            <a:off x="7353148"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Pedidos y menú</a:t>
            </a:r>
            <a:endParaRPr lang="en-US" sz="1700" dirty="0"/>
          </a:p>
        </p:txBody>
      </p:sp>
      <p:sp>
        <p:nvSpPr>
          <p:cNvPr id="13" name="Text 11"/>
          <p:cNvSpPr/>
          <p:nvPr/>
        </p:nvSpPr>
        <p:spPr>
          <a:xfrm>
            <a:off x="7353148" y="2484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módulo de restaurantes</a:t>
            </a:r>
            <a:endParaRPr lang="en-US" sz="1250" dirty="0"/>
          </a:p>
        </p:txBody>
      </p:sp>
      <p:sp>
        <p:nvSpPr>
          <p:cNvPr id="14" name="Shape 12"/>
          <p:cNvSpPr/>
          <p:nvPr/>
        </p:nvSpPr>
        <p:spPr>
          <a:xfrm>
            <a:off x="640080" y="3398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5" name="Shape 13"/>
          <p:cNvSpPr/>
          <p:nvPr/>
        </p:nvSpPr>
        <p:spPr>
          <a:xfrm>
            <a:off x="896112" y="3694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6" name="Text 14"/>
          <p:cNvSpPr/>
          <p:nvPr/>
        </p:nvSpPr>
        <p:spPr>
          <a:xfrm>
            <a:off x="896112" y="3694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3</a:t>
            </a:r>
            <a:endParaRPr lang="en-US" sz="2400" dirty="0"/>
          </a:p>
        </p:txBody>
      </p:sp>
      <p:sp>
        <p:nvSpPr>
          <p:cNvPr id="17" name="Text 15"/>
          <p:cNvSpPr/>
          <p:nvPr/>
        </p:nvSpPr>
        <p:spPr>
          <a:xfrm>
            <a:off x="1737360" y="3599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Inventario</a:t>
            </a:r>
            <a:endParaRPr lang="en-US" sz="1700" dirty="0"/>
          </a:p>
        </p:txBody>
      </p:sp>
      <p:sp>
        <p:nvSpPr>
          <p:cNvPr id="18" name="Text 16"/>
          <p:cNvSpPr/>
          <p:nvPr/>
        </p:nvSpPr>
        <p:spPr>
          <a:xfrm>
            <a:off x="1737360" y="4008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Control de existencias y lotes</a:t>
            </a:r>
            <a:endParaRPr lang="en-US" sz="1250" dirty="0"/>
          </a:p>
        </p:txBody>
      </p:sp>
      <p:sp>
        <p:nvSpPr>
          <p:cNvPr id="19" name="Shape 17"/>
          <p:cNvSpPr/>
          <p:nvPr/>
        </p:nvSpPr>
        <p:spPr>
          <a:xfrm>
            <a:off x="6255868" y="3398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20" name="Shape 18"/>
          <p:cNvSpPr/>
          <p:nvPr/>
        </p:nvSpPr>
        <p:spPr>
          <a:xfrm>
            <a:off x="6511900" y="3694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1" name="Text 19"/>
          <p:cNvSpPr/>
          <p:nvPr/>
        </p:nvSpPr>
        <p:spPr>
          <a:xfrm>
            <a:off x="6511900" y="3694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4</a:t>
            </a:r>
            <a:endParaRPr lang="en-US" sz="2400" dirty="0"/>
          </a:p>
        </p:txBody>
      </p:sp>
      <p:sp>
        <p:nvSpPr>
          <p:cNvPr id="22" name="Text 20"/>
          <p:cNvSpPr/>
          <p:nvPr/>
        </p:nvSpPr>
        <p:spPr>
          <a:xfrm>
            <a:off x="7353148" y="3599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Contabilidad automática</a:t>
            </a:r>
            <a:endParaRPr lang="en-US" sz="1700" dirty="0"/>
          </a:p>
        </p:txBody>
      </p:sp>
      <p:sp>
        <p:nvSpPr>
          <p:cNvPr id="23" name="Text 21"/>
          <p:cNvSpPr/>
          <p:nvPr/>
        </p:nvSpPr>
        <p:spPr>
          <a:xfrm>
            <a:off x="7353148" y="4008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La joya de ATRIA</a:t>
            </a:r>
            <a:endParaRPr lang="en-US" sz="1250" dirty="0"/>
          </a:p>
        </p:txBody>
      </p:sp>
      <p:sp>
        <p:nvSpPr>
          <p:cNvPr id="24" name="Shape 22"/>
          <p:cNvSpPr/>
          <p:nvPr/>
        </p:nvSpPr>
        <p:spPr>
          <a:xfrm>
            <a:off x="640080" y="4922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25" name="Shape 23"/>
          <p:cNvSpPr/>
          <p:nvPr/>
        </p:nvSpPr>
        <p:spPr>
          <a:xfrm>
            <a:off x="896112" y="5218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6" name="Text 24"/>
          <p:cNvSpPr/>
          <p:nvPr/>
        </p:nvSpPr>
        <p:spPr>
          <a:xfrm>
            <a:off x="896112" y="5218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5</a:t>
            </a:r>
            <a:endParaRPr lang="en-US" sz="2400" dirty="0"/>
          </a:p>
        </p:txBody>
      </p:sp>
      <p:sp>
        <p:nvSpPr>
          <p:cNvPr id="27" name="Text 25"/>
          <p:cNvSpPr/>
          <p:nvPr/>
        </p:nvSpPr>
        <p:spPr>
          <a:xfrm>
            <a:off x="1737360" y="5123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Multi-sucursal y reportes</a:t>
            </a:r>
            <a:endParaRPr lang="en-US" sz="1700" dirty="0"/>
          </a:p>
        </p:txBody>
      </p:sp>
      <p:sp>
        <p:nvSpPr>
          <p:cNvPr id="28" name="Text 26"/>
          <p:cNvSpPr/>
          <p:nvPr/>
        </p:nvSpPr>
        <p:spPr>
          <a:xfrm>
            <a:off x="1737360" y="5532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Visión de todo el negocio</a:t>
            </a:r>
            <a:endParaRPr lang="en-US" sz="1250" dirty="0"/>
          </a:p>
        </p:txBody>
      </p:sp>
      <p:sp>
        <p:nvSpPr>
          <p:cNvPr id="29" name="Shape 27"/>
          <p:cNvSpPr/>
          <p:nvPr/>
        </p:nvSpPr>
        <p:spPr>
          <a:xfrm>
            <a:off x="6255868" y="4922520"/>
            <a:ext cx="5295748" cy="1249680"/>
          </a:xfrm>
          <a:prstGeom prst="roundRect">
            <a:avLst>
              <a:gd name="adj" fmla="val 7317"/>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30" name="Shape 28"/>
          <p:cNvSpPr/>
          <p:nvPr/>
        </p:nvSpPr>
        <p:spPr>
          <a:xfrm>
            <a:off x="6511900" y="5218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31" name="Text 29"/>
          <p:cNvSpPr/>
          <p:nvPr/>
        </p:nvSpPr>
        <p:spPr>
          <a:xfrm>
            <a:off x="6511900" y="5218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6</a:t>
            </a:r>
            <a:endParaRPr lang="en-US" sz="2400" dirty="0"/>
          </a:p>
        </p:txBody>
      </p:sp>
      <p:sp>
        <p:nvSpPr>
          <p:cNvPr id="32" name="Text 30"/>
          <p:cNvSpPr/>
          <p:nvPr/>
        </p:nvSpPr>
        <p:spPr>
          <a:xfrm>
            <a:off x="7353148" y="5123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Función → problema → beneficio</a:t>
            </a:r>
            <a:endParaRPr lang="en-US" sz="1700" dirty="0"/>
          </a:p>
        </p:txBody>
      </p:sp>
      <p:sp>
        <p:nvSpPr>
          <p:cNvPr id="33" name="Text 31"/>
          <p:cNvSpPr/>
          <p:nvPr/>
        </p:nvSpPr>
        <p:spPr>
          <a:xfrm>
            <a:off x="7353148" y="5532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Cómo se conecta todo</a:t>
            </a:r>
            <a:endParaRPr lang="en-US" sz="1250" dirty="0"/>
          </a:p>
        </p:txBody>
      </p:sp>
      <p:sp>
        <p:nvSpPr>
          <p:cNvPr id="34" name="Text 32"/>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35" name="Text 33"/>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MÓDULO DEL PRODUCTO 1 DE 5</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Punto de venta (POS)</a:t>
            </a:r>
            <a:endParaRPr lang="en-US" sz="3400" dirty="0"/>
          </a:p>
        </p:txBody>
      </p:sp>
      <p:sp>
        <p:nvSpPr>
          <p:cNvPr id="4" name="Shape 2"/>
          <p:cNvSpPr/>
          <p:nvPr/>
        </p:nvSpPr>
        <p:spPr>
          <a:xfrm>
            <a:off x="640080" y="1828800"/>
            <a:ext cx="10911535" cy="1554480"/>
          </a:xfrm>
          <a:prstGeom prst="roundRect">
            <a:avLst>
              <a:gd name="adj" fmla="val 7059"/>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960120" y="2029968"/>
            <a:ext cx="2743200" cy="292608"/>
          </a:xfrm>
          <a:prstGeom prst="rect">
            <a:avLst/>
          </a:prstGeom>
          <a:noFill/>
          <a:ln/>
        </p:spPr>
        <p:txBody>
          <a:bodyPr wrap="square" lIns="0" tIns="0" rIns="0" bIns="0" rtlCol="0" anchor="ctr"/>
          <a:lstStyle/>
          <a:p>
            <a:pPr algn="l" indent="0" marL="0">
              <a:buNone/>
            </a:pPr>
            <a:r>
              <a:rPr lang="en-US" sz="1100" b="1" spc="250" kern="0" dirty="0">
                <a:solidFill>
                  <a:srgbClr val="A18BCF"/>
                </a:solidFill>
                <a:latin typeface="Calibri" pitchFamily="34" charset="0"/>
                <a:ea typeface="Calibri" pitchFamily="34" charset="-122"/>
                <a:cs typeface="Calibri" pitchFamily="34" charset="-120"/>
              </a:rPr>
              <a:t>QUÉ HACE</a:t>
            </a:r>
            <a:endParaRPr lang="en-US" sz="1100" dirty="0"/>
          </a:p>
        </p:txBody>
      </p:sp>
      <p:sp>
        <p:nvSpPr>
          <p:cNvPr id="6" name="Text 4"/>
          <p:cNvSpPr/>
          <p:nvPr/>
        </p:nvSpPr>
        <p:spPr>
          <a:xfrm>
            <a:off x="960120" y="2331720"/>
            <a:ext cx="10271455" cy="9601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Century Schoolbook" pitchFamily="34" charset="0"/>
                <a:ea typeface="Century Schoolbook" pitchFamily="34" charset="-122"/>
                <a:cs typeface="Century Schoolbook" pitchFamily="34" charset="-120"/>
              </a:rPr>
              <a:t>Vende rápido, aplica descuentos, cobra de forma mixta y sigue operando cuando el internet falla.</a:t>
            </a:r>
            <a:endParaRPr lang="en-US" sz="1700" dirty="0"/>
          </a:p>
        </p:txBody>
      </p:sp>
      <p:sp>
        <p:nvSpPr>
          <p:cNvPr id="7" name="Shape 5"/>
          <p:cNvSpPr/>
          <p:nvPr/>
        </p:nvSpPr>
        <p:spPr>
          <a:xfrm>
            <a:off x="640080" y="3611880"/>
            <a:ext cx="527288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914400" y="3886200"/>
            <a:ext cx="640080" cy="640080"/>
          </a:xfrm>
          <a:prstGeom prst="ellipse">
            <a:avLst/>
          </a:prstGeom>
          <a:solidFill>
            <a:srgbClr val="E2626B"/>
          </a:solidFill>
          <a:ln/>
        </p:spPr>
      </p:sp>
      <p:sp>
        <p:nvSpPr>
          <p:cNvPr id="9" name="Text 7"/>
          <p:cNvSpPr/>
          <p:nvPr/>
        </p:nvSpPr>
        <p:spPr>
          <a:xfrm>
            <a:off x="914400"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0" name="Text 8"/>
          <p:cNvSpPr/>
          <p:nvPr/>
        </p:nvSpPr>
        <p:spPr>
          <a:xfrm>
            <a:off x="1737360"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PROBLEMA QUE RESUELVE</a:t>
            </a:r>
            <a:endParaRPr lang="en-US" sz="1150" dirty="0"/>
          </a:p>
        </p:txBody>
      </p:sp>
      <p:sp>
        <p:nvSpPr>
          <p:cNvPr id="11" name="Text 9"/>
          <p:cNvSpPr/>
          <p:nvPr/>
        </p:nvSpPr>
        <p:spPr>
          <a:xfrm>
            <a:off x="960120"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Ventas lentas, colas y ventas sin registrar.</a:t>
            </a:r>
            <a:endParaRPr lang="en-US" sz="1500" dirty="0"/>
          </a:p>
        </p:txBody>
      </p:sp>
      <p:sp>
        <p:nvSpPr>
          <p:cNvPr id="12" name="Shape 10"/>
          <p:cNvSpPr/>
          <p:nvPr/>
        </p:nvSpPr>
        <p:spPr>
          <a:xfrm>
            <a:off x="6278728" y="3611880"/>
            <a:ext cx="5272888" cy="2286000"/>
          </a:xfrm>
          <a:prstGeom prst="roundRect">
            <a:avLst>
              <a:gd name="adj" fmla="val 4800"/>
            </a:avLst>
          </a:prstGeom>
          <a:solidFill>
            <a:srgbClr val="F5F2FA"/>
          </a:solidFill>
          <a:ln w="12700">
            <a:solidFill>
              <a:srgbClr val="E7E1F0"/>
            </a:solidFill>
            <a:prstDash val="solid"/>
          </a:ln>
        </p:spPr>
      </p:sp>
      <p:sp>
        <p:nvSpPr>
          <p:cNvPr id="13" name="Shape 11"/>
          <p:cNvSpPr/>
          <p:nvPr/>
        </p:nvSpPr>
        <p:spPr>
          <a:xfrm>
            <a:off x="6553048" y="3886200"/>
            <a:ext cx="640080" cy="640080"/>
          </a:xfrm>
          <a:prstGeom prst="ellipse">
            <a:avLst/>
          </a:prstGeom>
          <a:solidFill>
            <a:srgbClr val="3FB27F"/>
          </a:solidFill>
          <a:ln/>
        </p:spPr>
      </p:sp>
      <p:sp>
        <p:nvSpPr>
          <p:cNvPr id="14" name="Text 12"/>
          <p:cNvSpPr/>
          <p:nvPr/>
        </p:nvSpPr>
        <p:spPr>
          <a:xfrm>
            <a:off x="6553048"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5" name="Text 13"/>
          <p:cNvSpPr/>
          <p:nvPr/>
        </p:nvSpPr>
        <p:spPr>
          <a:xfrm>
            <a:off x="7376008"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CLIENTE TÍPICO</a:t>
            </a:r>
            <a:endParaRPr lang="en-US" sz="1150" dirty="0"/>
          </a:p>
        </p:txBody>
      </p:sp>
      <p:sp>
        <p:nvSpPr>
          <p:cNvPr id="16" name="Text 14"/>
          <p:cNvSpPr/>
          <p:nvPr/>
        </p:nvSpPr>
        <p:spPr>
          <a:xfrm>
            <a:off x="6598768"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Cualquier comercio con caja.</a:t>
            </a:r>
            <a:endParaRPr lang="en-US" sz="1500" dirty="0"/>
          </a:p>
        </p:txBody>
      </p:sp>
      <p:sp>
        <p:nvSpPr>
          <p:cNvPr id="17" name="Text 1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8" name="Text 1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MÓDULO DEL PRODUCTO 2 DE 5</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Pedidos y menú para restaurantes</a:t>
            </a:r>
            <a:endParaRPr lang="en-US" sz="3400" dirty="0"/>
          </a:p>
        </p:txBody>
      </p:sp>
      <p:sp>
        <p:nvSpPr>
          <p:cNvPr id="4" name="Shape 2"/>
          <p:cNvSpPr/>
          <p:nvPr/>
        </p:nvSpPr>
        <p:spPr>
          <a:xfrm>
            <a:off x="640080" y="1828800"/>
            <a:ext cx="10911535" cy="1554480"/>
          </a:xfrm>
          <a:prstGeom prst="roundRect">
            <a:avLst>
              <a:gd name="adj" fmla="val 7059"/>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960120" y="2029968"/>
            <a:ext cx="2743200" cy="292608"/>
          </a:xfrm>
          <a:prstGeom prst="rect">
            <a:avLst/>
          </a:prstGeom>
          <a:noFill/>
          <a:ln/>
        </p:spPr>
        <p:txBody>
          <a:bodyPr wrap="square" lIns="0" tIns="0" rIns="0" bIns="0" rtlCol="0" anchor="ctr"/>
          <a:lstStyle/>
          <a:p>
            <a:pPr algn="l" indent="0" marL="0">
              <a:buNone/>
            </a:pPr>
            <a:r>
              <a:rPr lang="en-US" sz="1100" b="1" spc="250" kern="0" dirty="0">
                <a:solidFill>
                  <a:srgbClr val="A18BCF"/>
                </a:solidFill>
                <a:latin typeface="Calibri" pitchFamily="34" charset="0"/>
                <a:ea typeface="Calibri" pitchFamily="34" charset="-122"/>
                <a:cs typeface="Calibri" pitchFamily="34" charset="-120"/>
              </a:rPr>
              <a:t>QUÉ HACE</a:t>
            </a:r>
            <a:endParaRPr lang="en-US" sz="1100" dirty="0"/>
          </a:p>
        </p:txBody>
      </p:sp>
      <p:sp>
        <p:nvSpPr>
          <p:cNvPr id="6" name="Text 4"/>
          <p:cNvSpPr/>
          <p:nvPr/>
        </p:nvSpPr>
        <p:spPr>
          <a:xfrm>
            <a:off x="960120" y="2331720"/>
            <a:ext cx="10271455" cy="9601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Century Schoolbook" pitchFamily="34" charset="0"/>
                <a:ea typeface="Century Schoolbook" pitchFamily="34" charset="-122"/>
                <a:cs typeface="Century Schoolbook" pitchFamily="34" charset="-120"/>
              </a:rPr>
              <a:t>Organiza el menú, toma pedidos, conecta la venta con la caja y controla el consumo de inventario.</a:t>
            </a:r>
            <a:endParaRPr lang="en-US" sz="1700" dirty="0"/>
          </a:p>
        </p:txBody>
      </p:sp>
      <p:sp>
        <p:nvSpPr>
          <p:cNvPr id="7" name="Shape 5"/>
          <p:cNvSpPr/>
          <p:nvPr/>
        </p:nvSpPr>
        <p:spPr>
          <a:xfrm>
            <a:off x="640080" y="3611880"/>
            <a:ext cx="527288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914400" y="3886200"/>
            <a:ext cx="640080" cy="640080"/>
          </a:xfrm>
          <a:prstGeom prst="ellipse">
            <a:avLst/>
          </a:prstGeom>
          <a:solidFill>
            <a:srgbClr val="E2626B"/>
          </a:solidFill>
          <a:ln/>
        </p:spPr>
      </p:sp>
      <p:sp>
        <p:nvSpPr>
          <p:cNvPr id="9" name="Text 7"/>
          <p:cNvSpPr/>
          <p:nvPr/>
        </p:nvSpPr>
        <p:spPr>
          <a:xfrm>
            <a:off x="914400"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0" name="Text 8"/>
          <p:cNvSpPr/>
          <p:nvPr/>
        </p:nvSpPr>
        <p:spPr>
          <a:xfrm>
            <a:off x="1737360"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PROBLEMA QUE RESUELVE</a:t>
            </a:r>
            <a:endParaRPr lang="en-US" sz="1150" dirty="0"/>
          </a:p>
        </p:txBody>
      </p:sp>
      <p:sp>
        <p:nvSpPr>
          <p:cNvPr id="11" name="Text 9"/>
          <p:cNvSpPr/>
          <p:nvPr/>
        </p:nvSpPr>
        <p:spPr>
          <a:xfrm>
            <a:off x="960120"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Pedidos perdidos, cobros desordenados y poca claridad de qué se vende.</a:t>
            </a:r>
            <a:endParaRPr lang="en-US" sz="1500" dirty="0"/>
          </a:p>
        </p:txBody>
      </p:sp>
      <p:sp>
        <p:nvSpPr>
          <p:cNvPr id="12" name="Shape 10"/>
          <p:cNvSpPr/>
          <p:nvPr/>
        </p:nvSpPr>
        <p:spPr>
          <a:xfrm>
            <a:off x="6278728" y="3611880"/>
            <a:ext cx="5272888" cy="2286000"/>
          </a:xfrm>
          <a:prstGeom prst="roundRect">
            <a:avLst>
              <a:gd name="adj" fmla="val 4800"/>
            </a:avLst>
          </a:prstGeom>
          <a:solidFill>
            <a:srgbClr val="F5F2FA"/>
          </a:solidFill>
          <a:ln w="12700">
            <a:solidFill>
              <a:srgbClr val="E7E1F0"/>
            </a:solidFill>
            <a:prstDash val="solid"/>
          </a:ln>
        </p:spPr>
      </p:sp>
      <p:sp>
        <p:nvSpPr>
          <p:cNvPr id="13" name="Shape 11"/>
          <p:cNvSpPr/>
          <p:nvPr/>
        </p:nvSpPr>
        <p:spPr>
          <a:xfrm>
            <a:off x="6553048" y="3886200"/>
            <a:ext cx="640080" cy="640080"/>
          </a:xfrm>
          <a:prstGeom prst="ellipse">
            <a:avLst/>
          </a:prstGeom>
          <a:solidFill>
            <a:srgbClr val="3FB27F"/>
          </a:solidFill>
          <a:ln/>
        </p:spPr>
      </p:sp>
      <p:sp>
        <p:nvSpPr>
          <p:cNvPr id="14" name="Text 12"/>
          <p:cNvSpPr/>
          <p:nvPr/>
        </p:nvSpPr>
        <p:spPr>
          <a:xfrm>
            <a:off x="6553048"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5" name="Text 13"/>
          <p:cNvSpPr/>
          <p:nvPr/>
        </p:nvSpPr>
        <p:spPr>
          <a:xfrm>
            <a:off x="7376008"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CLIENTE TÍPICO</a:t>
            </a:r>
            <a:endParaRPr lang="en-US" sz="1150" dirty="0"/>
          </a:p>
        </p:txBody>
      </p:sp>
      <p:sp>
        <p:nvSpPr>
          <p:cNvPr id="16" name="Text 14"/>
          <p:cNvSpPr/>
          <p:nvPr/>
        </p:nvSpPr>
        <p:spPr>
          <a:xfrm>
            <a:off x="6598768"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Restaurante, cafetería, comida rápida, bar o cocina con pedidos frecuentes.</a:t>
            </a:r>
            <a:endParaRPr lang="en-US" sz="1500" dirty="0"/>
          </a:p>
        </p:txBody>
      </p:sp>
      <p:sp>
        <p:nvSpPr>
          <p:cNvPr id="17" name="Text 1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8" name="Text 1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MÓDULO DEL PRODUCTO 3 DE 5</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Inventario</a:t>
            </a:r>
            <a:endParaRPr lang="en-US" sz="3400" dirty="0"/>
          </a:p>
        </p:txBody>
      </p:sp>
      <p:sp>
        <p:nvSpPr>
          <p:cNvPr id="4" name="Shape 2"/>
          <p:cNvSpPr/>
          <p:nvPr/>
        </p:nvSpPr>
        <p:spPr>
          <a:xfrm>
            <a:off x="640080" y="1828800"/>
            <a:ext cx="10911535" cy="1554480"/>
          </a:xfrm>
          <a:prstGeom prst="roundRect">
            <a:avLst>
              <a:gd name="adj" fmla="val 7059"/>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960120" y="2029968"/>
            <a:ext cx="2743200" cy="292608"/>
          </a:xfrm>
          <a:prstGeom prst="rect">
            <a:avLst/>
          </a:prstGeom>
          <a:noFill/>
          <a:ln/>
        </p:spPr>
        <p:txBody>
          <a:bodyPr wrap="square" lIns="0" tIns="0" rIns="0" bIns="0" rtlCol="0" anchor="ctr"/>
          <a:lstStyle/>
          <a:p>
            <a:pPr algn="l" indent="0" marL="0">
              <a:buNone/>
            </a:pPr>
            <a:r>
              <a:rPr lang="en-US" sz="1100" b="1" spc="250" kern="0" dirty="0">
                <a:solidFill>
                  <a:srgbClr val="A18BCF"/>
                </a:solidFill>
                <a:latin typeface="Calibri" pitchFamily="34" charset="0"/>
                <a:ea typeface="Calibri" pitchFamily="34" charset="-122"/>
                <a:cs typeface="Calibri" pitchFamily="34" charset="-120"/>
              </a:rPr>
              <a:t>QUÉ HACE</a:t>
            </a:r>
            <a:endParaRPr lang="en-US" sz="1100" dirty="0"/>
          </a:p>
        </p:txBody>
      </p:sp>
      <p:sp>
        <p:nvSpPr>
          <p:cNvPr id="6" name="Text 4"/>
          <p:cNvSpPr/>
          <p:nvPr/>
        </p:nvSpPr>
        <p:spPr>
          <a:xfrm>
            <a:off x="960120" y="2331720"/>
            <a:ext cx="10271455" cy="9601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Century Schoolbook" pitchFamily="34" charset="0"/>
                <a:ea typeface="Century Schoolbook" pitchFamily="34" charset="-122"/>
                <a:cs typeface="Century Schoolbook" pitchFamily="34" charset="-120"/>
              </a:rPr>
              <a:t>Controla existencias, lotes, vencimientos, almacenes y movimientos entre sucursales.</a:t>
            </a:r>
            <a:endParaRPr lang="en-US" sz="1700" dirty="0"/>
          </a:p>
        </p:txBody>
      </p:sp>
      <p:sp>
        <p:nvSpPr>
          <p:cNvPr id="7" name="Shape 5"/>
          <p:cNvSpPr/>
          <p:nvPr/>
        </p:nvSpPr>
        <p:spPr>
          <a:xfrm>
            <a:off x="640080" y="3611880"/>
            <a:ext cx="527288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914400" y="3886200"/>
            <a:ext cx="640080" cy="640080"/>
          </a:xfrm>
          <a:prstGeom prst="ellipse">
            <a:avLst/>
          </a:prstGeom>
          <a:solidFill>
            <a:srgbClr val="E2626B"/>
          </a:solidFill>
          <a:ln/>
        </p:spPr>
      </p:sp>
      <p:sp>
        <p:nvSpPr>
          <p:cNvPr id="9" name="Text 7"/>
          <p:cNvSpPr/>
          <p:nvPr/>
        </p:nvSpPr>
        <p:spPr>
          <a:xfrm>
            <a:off x="914400"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0" name="Text 8"/>
          <p:cNvSpPr/>
          <p:nvPr/>
        </p:nvSpPr>
        <p:spPr>
          <a:xfrm>
            <a:off x="1737360"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PROBLEMA QUE RESUELVE</a:t>
            </a:r>
            <a:endParaRPr lang="en-US" sz="1150" dirty="0"/>
          </a:p>
        </p:txBody>
      </p:sp>
      <p:sp>
        <p:nvSpPr>
          <p:cNvPr id="11" name="Text 9"/>
          <p:cNvSpPr/>
          <p:nvPr/>
        </p:nvSpPr>
        <p:spPr>
          <a:xfrm>
            <a:off x="960120"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Pérdidas por robo o vencimiento y quiebres de stock.</a:t>
            </a:r>
            <a:endParaRPr lang="en-US" sz="1500" dirty="0"/>
          </a:p>
        </p:txBody>
      </p:sp>
      <p:sp>
        <p:nvSpPr>
          <p:cNvPr id="12" name="Shape 10"/>
          <p:cNvSpPr/>
          <p:nvPr/>
        </p:nvSpPr>
        <p:spPr>
          <a:xfrm>
            <a:off x="6278728" y="3611880"/>
            <a:ext cx="5272888" cy="2286000"/>
          </a:xfrm>
          <a:prstGeom prst="roundRect">
            <a:avLst>
              <a:gd name="adj" fmla="val 4800"/>
            </a:avLst>
          </a:prstGeom>
          <a:solidFill>
            <a:srgbClr val="F5F2FA"/>
          </a:solidFill>
          <a:ln w="12700">
            <a:solidFill>
              <a:srgbClr val="E7E1F0"/>
            </a:solidFill>
            <a:prstDash val="solid"/>
          </a:ln>
        </p:spPr>
      </p:sp>
      <p:sp>
        <p:nvSpPr>
          <p:cNvPr id="13" name="Shape 11"/>
          <p:cNvSpPr/>
          <p:nvPr/>
        </p:nvSpPr>
        <p:spPr>
          <a:xfrm>
            <a:off x="6553048" y="3886200"/>
            <a:ext cx="640080" cy="640080"/>
          </a:xfrm>
          <a:prstGeom prst="ellipse">
            <a:avLst/>
          </a:prstGeom>
          <a:solidFill>
            <a:srgbClr val="3FB27F"/>
          </a:solidFill>
          <a:ln/>
        </p:spPr>
      </p:sp>
      <p:sp>
        <p:nvSpPr>
          <p:cNvPr id="14" name="Text 12"/>
          <p:cNvSpPr/>
          <p:nvPr/>
        </p:nvSpPr>
        <p:spPr>
          <a:xfrm>
            <a:off x="6553048"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5" name="Text 13"/>
          <p:cNvSpPr/>
          <p:nvPr/>
        </p:nvSpPr>
        <p:spPr>
          <a:xfrm>
            <a:off x="7376008"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CLIENTE TÍPICO</a:t>
            </a:r>
            <a:endParaRPr lang="en-US" sz="1150" dirty="0"/>
          </a:p>
        </p:txBody>
      </p:sp>
      <p:sp>
        <p:nvSpPr>
          <p:cNvPr id="16" name="Text 14"/>
          <p:cNvSpPr/>
          <p:nvPr/>
        </p:nvSpPr>
        <p:spPr>
          <a:xfrm>
            <a:off x="6598768"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Negocios con productos físicos.</a:t>
            </a:r>
            <a:endParaRPr lang="en-US" sz="1500" dirty="0"/>
          </a:p>
        </p:txBody>
      </p:sp>
      <p:sp>
        <p:nvSpPr>
          <p:cNvPr id="17" name="Text 1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8" name="Text 1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MÓDULO DEL PRODUCTO 4 DE 5 · LA JOYA</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Contabilidad automática</a:t>
            </a:r>
            <a:endParaRPr lang="en-US" sz="3400" dirty="0"/>
          </a:p>
        </p:txBody>
      </p:sp>
      <p:sp>
        <p:nvSpPr>
          <p:cNvPr id="4" name="Shape 2"/>
          <p:cNvSpPr/>
          <p:nvPr/>
        </p:nvSpPr>
        <p:spPr>
          <a:xfrm>
            <a:off x="640080" y="1828800"/>
            <a:ext cx="10911535" cy="1554480"/>
          </a:xfrm>
          <a:prstGeom prst="roundRect">
            <a:avLst>
              <a:gd name="adj" fmla="val 7059"/>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960120" y="2029968"/>
            <a:ext cx="2743200" cy="292608"/>
          </a:xfrm>
          <a:prstGeom prst="rect">
            <a:avLst/>
          </a:prstGeom>
          <a:noFill/>
          <a:ln/>
        </p:spPr>
        <p:txBody>
          <a:bodyPr wrap="square" lIns="0" tIns="0" rIns="0" bIns="0" rtlCol="0" anchor="ctr"/>
          <a:lstStyle/>
          <a:p>
            <a:pPr algn="l" indent="0" marL="0">
              <a:buNone/>
            </a:pPr>
            <a:r>
              <a:rPr lang="en-US" sz="1100" b="1" spc="250" kern="0" dirty="0">
                <a:solidFill>
                  <a:srgbClr val="A18BCF"/>
                </a:solidFill>
                <a:latin typeface="Calibri" pitchFamily="34" charset="0"/>
                <a:ea typeface="Calibri" pitchFamily="34" charset="-122"/>
                <a:cs typeface="Calibri" pitchFamily="34" charset="-120"/>
              </a:rPr>
              <a:t>QUÉ HACE</a:t>
            </a:r>
            <a:endParaRPr lang="en-US" sz="1100" dirty="0"/>
          </a:p>
        </p:txBody>
      </p:sp>
      <p:sp>
        <p:nvSpPr>
          <p:cNvPr id="6" name="Text 4"/>
          <p:cNvSpPr/>
          <p:nvPr/>
        </p:nvSpPr>
        <p:spPr>
          <a:xfrm>
            <a:off x="960120" y="2331720"/>
            <a:ext cx="10271455" cy="9601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Century Schoolbook" pitchFamily="34" charset="0"/>
                <a:ea typeface="Century Schoolbook" pitchFamily="34" charset="-122"/>
                <a:cs typeface="Century Schoolbook" pitchFamily="34" charset="-120"/>
              </a:rPr>
              <a:t>Cada venta, compra, gasto y cobro genera su asiento sin volver a digitar. Libro diario, mayor y estados salen solos.</a:t>
            </a:r>
            <a:endParaRPr lang="en-US" sz="1700" dirty="0"/>
          </a:p>
        </p:txBody>
      </p:sp>
      <p:sp>
        <p:nvSpPr>
          <p:cNvPr id="7" name="Shape 5"/>
          <p:cNvSpPr/>
          <p:nvPr/>
        </p:nvSpPr>
        <p:spPr>
          <a:xfrm>
            <a:off x="640080" y="3611880"/>
            <a:ext cx="527288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914400" y="3886200"/>
            <a:ext cx="640080" cy="640080"/>
          </a:xfrm>
          <a:prstGeom prst="ellipse">
            <a:avLst/>
          </a:prstGeom>
          <a:solidFill>
            <a:srgbClr val="E2626B"/>
          </a:solidFill>
          <a:ln/>
        </p:spPr>
      </p:sp>
      <p:sp>
        <p:nvSpPr>
          <p:cNvPr id="9" name="Text 7"/>
          <p:cNvSpPr/>
          <p:nvPr/>
        </p:nvSpPr>
        <p:spPr>
          <a:xfrm>
            <a:off x="914400"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0" name="Text 8"/>
          <p:cNvSpPr/>
          <p:nvPr/>
        </p:nvSpPr>
        <p:spPr>
          <a:xfrm>
            <a:off x="1737360"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PROBLEMA QUE RESUELVE</a:t>
            </a:r>
            <a:endParaRPr lang="en-US" sz="1150" dirty="0"/>
          </a:p>
        </p:txBody>
      </p:sp>
      <p:sp>
        <p:nvSpPr>
          <p:cNvPr id="11" name="Text 9"/>
          <p:cNvSpPr/>
          <p:nvPr/>
        </p:nvSpPr>
        <p:spPr>
          <a:xfrm>
            <a:off x="960120"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Contabilidad atrasada, cara y llena de errores.</a:t>
            </a:r>
            <a:endParaRPr lang="en-US" sz="1500" dirty="0"/>
          </a:p>
        </p:txBody>
      </p:sp>
      <p:sp>
        <p:nvSpPr>
          <p:cNvPr id="12" name="Shape 10"/>
          <p:cNvSpPr/>
          <p:nvPr/>
        </p:nvSpPr>
        <p:spPr>
          <a:xfrm>
            <a:off x="6278728" y="3611880"/>
            <a:ext cx="5272888" cy="2286000"/>
          </a:xfrm>
          <a:prstGeom prst="roundRect">
            <a:avLst>
              <a:gd name="adj" fmla="val 4800"/>
            </a:avLst>
          </a:prstGeom>
          <a:solidFill>
            <a:srgbClr val="F5F2FA"/>
          </a:solidFill>
          <a:ln w="12700">
            <a:solidFill>
              <a:srgbClr val="E7E1F0"/>
            </a:solidFill>
            <a:prstDash val="solid"/>
          </a:ln>
        </p:spPr>
      </p:sp>
      <p:sp>
        <p:nvSpPr>
          <p:cNvPr id="13" name="Shape 11"/>
          <p:cNvSpPr/>
          <p:nvPr/>
        </p:nvSpPr>
        <p:spPr>
          <a:xfrm>
            <a:off x="6553048" y="3886200"/>
            <a:ext cx="640080" cy="640080"/>
          </a:xfrm>
          <a:prstGeom prst="ellipse">
            <a:avLst/>
          </a:prstGeom>
          <a:solidFill>
            <a:srgbClr val="3FB27F"/>
          </a:solidFill>
          <a:ln/>
        </p:spPr>
      </p:sp>
      <p:sp>
        <p:nvSpPr>
          <p:cNvPr id="14" name="Text 12"/>
          <p:cNvSpPr/>
          <p:nvPr/>
        </p:nvSpPr>
        <p:spPr>
          <a:xfrm>
            <a:off x="6553048"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5" name="Text 13"/>
          <p:cNvSpPr/>
          <p:nvPr/>
        </p:nvSpPr>
        <p:spPr>
          <a:xfrm>
            <a:off x="7376008"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CLIENTE TÍPICO</a:t>
            </a:r>
            <a:endParaRPr lang="en-US" sz="1150" dirty="0"/>
          </a:p>
        </p:txBody>
      </p:sp>
      <p:sp>
        <p:nvSpPr>
          <p:cNvPr id="16" name="Text 14"/>
          <p:cNvSpPr/>
          <p:nvPr/>
        </p:nvSpPr>
        <p:spPr>
          <a:xfrm>
            <a:off x="6598768"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Negocios que hoy pagan a alguien para 'cuadrar'.</a:t>
            </a:r>
            <a:endParaRPr lang="en-US" sz="1500" dirty="0"/>
          </a:p>
        </p:txBody>
      </p:sp>
      <p:sp>
        <p:nvSpPr>
          <p:cNvPr id="17" name="Text 1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8" name="Text 1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MÓDULO DEL PRODUCTO 5 DE 5</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Multi-sucursal y reportes</a:t>
            </a:r>
            <a:endParaRPr lang="en-US" sz="3400" dirty="0"/>
          </a:p>
        </p:txBody>
      </p:sp>
      <p:sp>
        <p:nvSpPr>
          <p:cNvPr id="4" name="Shape 2"/>
          <p:cNvSpPr/>
          <p:nvPr/>
        </p:nvSpPr>
        <p:spPr>
          <a:xfrm>
            <a:off x="640080" y="1828800"/>
            <a:ext cx="10911535" cy="1554480"/>
          </a:xfrm>
          <a:prstGeom prst="roundRect">
            <a:avLst>
              <a:gd name="adj" fmla="val 7059"/>
            </a:avLst>
          </a:prstGeom>
          <a:solidFill>
            <a:srgbClr val="2B1F3A"/>
          </a:solidFill>
          <a:ln/>
          <a:effectLst>
            <a:outerShdw sx="100000" sy="100000" kx="0" ky="0" algn="bl" rotWithShape="0" blurRad="101600" dist="38100" dir="5400000">
              <a:srgbClr val="1B1526">
                <a:alpha val="22000"/>
              </a:srgbClr>
            </a:outerShdw>
          </a:effectLst>
        </p:spPr>
      </p:sp>
      <p:sp>
        <p:nvSpPr>
          <p:cNvPr id="5" name="Text 3"/>
          <p:cNvSpPr/>
          <p:nvPr/>
        </p:nvSpPr>
        <p:spPr>
          <a:xfrm>
            <a:off x="960120" y="2029968"/>
            <a:ext cx="2743200" cy="292608"/>
          </a:xfrm>
          <a:prstGeom prst="rect">
            <a:avLst/>
          </a:prstGeom>
          <a:noFill/>
          <a:ln/>
        </p:spPr>
        <p:txBody>
          <a:bodyPr wrap="square" lIns="0" tIns="0" rIns="0" bIns="0" rtlCol="0" anchor="ctr"/>
          <a:lstStyle/>
          <a:p>
            <a:pPr algn="l" indent="0" marL="0">
              <a:buNone/>
            </a:pPr>
            <a:r>
              <a:rPr lang="en-US" sz="1100" b="1" spc="250" kern="0" dirty="0">
                <a:solidFill>
                  <a:srgbClr val="A18BCF"/>
                </a:solidFill>
                <a:latin typeface="Calibri" pitchFamily="34" charset="0"/>
                <a:ea typeface="Calibri" pitchFamily="34" charset="-122"/>
                <a:cs typeface="Calibri" pitchFamily="34" charset="-120"/>
              </a:rPr>
              <a:t>QUÉ HACE</a:t>
            </a:r>
            <a:endParaRPr lang="en-US" sz="1100" dirty="0"/>
          </a:p>
        </p:txBody>
      </p:sp>
      <p:sp>
        <p:nvSpPr>
          <p:cNvPr id="6" name="Text 4"/>
          <p:cNvSpPr/>
          <p:nvPr/>
        </p:nvSpPr>
        <p:spPr>
          <a:xfrm>
            <a:off x="960120" y="2331720"/>
            <a:ext cx="10271455" cy="960120"/>
          </a:xfrm>
          <a:prstGeom prst="rect">
            <a:avLst/>
          </a:prstGeom>
          <a:noFill/>
          <a:ln/>
        </p:spPr>
        <p:txBody>
          <a:bodyPr wrap="square" lIns="0" tIns="0" rIns="0" bIns="0" rtlCol="0" anchor="t"/>
          <a:lstStyle/>
          <a:p>
            <a:pPr algn="l" indent="0" marL="0">
              <a:lnSpc>
                <a:spcPct val="105000"/>
              </a:lnSpc>
              <a:buNone/>
            </a:pPr>
            <a:r>
              <a:rPr lang="en-US" sz="1700" b="1" dirty="0">
                <a:solidFill>
                  <a:srgbClr val="FFFFFF"/>
                </a:solidFill>
                <a:latin typeface="Century Schoolbook" pitchFamily="34" charset="0"/>
                <a:ea typeface="Century Schoolbook" pitchFamily="34" charset="-122"/>
                <a:cs typeface="Century Schoolbook" pitchFamily="34" charset="-120"/>
              </a:rPr>
              <a:t>Consolida varias tiendas y entrega reportes de ventas, rentabilidad, cuentas por cobrar y stock bajo.</a:t>
            </a:r>
            <a:endParaRPr lang="en-US" sz="1700" dirty="0"/>
          </a:p>
        </p:txBody>
      </p:sp>
      <p:sp>
        <p:nvSpPr>
          <p:cNvPr id="7" name="Shape 5"/>
          <p:cNvSpPr/>
          <p:nvPr/>
        </p:nvSpPr>
        <p:spPr>
          <a:xfrm>
            <a:off x="640080" y="3611880"/>
            <a:ext cx="5272888" cy="2286000"/>
          </a:xfrm>
          <a:prstGeom prst="roundRect">
            <a:avLst>
              <a:gd name="adj" fmla="val 4800"/>
            </a:avLst>
          </a:prstGeom>
          <a:solidFill>
            <a:srgbClr val="F5F2FA"/>
          </a:solidFill>
          <a:ln w="12700">
            <a:solidFill>
              <a:srgbClr val="E7E1F0"/>
            </a:solidFill>
            <a:prstDash val="solid"/>
          </a:ln>
        </p:spPr>
      </p:sp>
      <p:sp>
        <p:nvSpPr>
          <p:cNvPr id="8" name="Shape 6"/>
          <p:cNvSpPr/>
          <p:nvPr/>
        </p:nvSpPr>
        <p:spPr>
          <a:xfrm>
            <a:off x="914400" y="3886200"/>
            <a:ext cx="640080" cy="640080"/>
          </a:xfrm>
          <a:prstGeom prst="ellipse">
            <a:avLst/>
          </a:prstGeom>
          <a:solidFill>
            <a:srgbClr val="E2626B"/>
          </a:solidFill>
          <a:ln/>
        </p:spPr>
      </p:sp>
      <p:sp>
        <p:nvSpPr>
          <p:cNvPr id="9" name="Text 7"/>
          <p:cNvSpPr/>
          <p:nvPr/>
        </p:nvSpPr>
        <p:spPr>
          <a:xfrm>
            <a:off x="914400"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0" name="Text 8"/>
          <p:cNvSpPr/>
          <p:nvPr/>
        </p:nvSpPr>
        <p:spPr>
          <a:xfrm>
            <a:off x="1737360"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PROBLEMA QUE RESUELVE</a:t>
            </a:r>
            <a:endParaRPr lang="en-US" sz="1150" dirty="0"/>
          </a:p>
        </p:txBody>
      </p:sp>
      <p:sp>
        <p:nvSpPr>
          <p:cNvPr id="11" name="Text 9"/>
          <p:cNvSpPr/>
          <p:nvPr/>
        </p:nvSpPr>
        <p:spPr>
          <a:xfrm>
            <a:off x="960120"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No saber qué local es más rentable ni dónde se pierde dinero.</a:t>
            </a:r>
            <a:endParaRPr lang="en-US" sz="1500" dirty="0"/>
          </a:p>
        </p:txBody>
      </p:sp>
      <p:sp>
        <p:nvSpPr>
          <p:cNvPr id="12" name="Shape 10"/>
          <p:cNvSpPr/>
          <p:nvPr/>
        </p:nvSpPr>
        <p:spPr>
          <a:xfrm>
            <a:off x="6278728" y="3611880"/>
            <a:ext cx="5272888" cy="2286000"/>
          </a:xfrm>
          <a:prstGeom prst="roundRect">
            <a:avLst>
              <a:gd name="adj" fmla="val 4800"/>
            </a:avLst>
          </a:prstGeom>
          <a:solidFill>
            <a:srgbClr val="F5F2FA"/>
          </a:solidFill>
          <a:ln w="12700">
            <a:solidFill>
              <a:srgbClr val="E7E1F0"/>
            </a:solidFill>
            <a:prstDash val="solid"/>
          </a:ln>
        </p:spPr>
      </p:sp>
      <p:sp>
        <p:nvSpPr>
          <p:cNvPr id="13" name="Shape 11"/>
          <p:cNvSpPr/>
          <p:nvPr/>
        </p:nvSpPr>
        <p:spPr>
          <a:xfrm>
            <a:off x="6553048" y="3886200"/>
            <a:ext cx="640080" cy="640080"/>
          </a:xfrm>
          <a:prstGeom prst="ellipse">
            <a:avLst/>
          </a:prstGeom>
          <a:solidFill>
            <a:srgbClr val="3FB27F"/>
          </a:solidFill>
          <a:ln/>
        </p:spPr>
      </p:sp>
      <p:sp>
        <p:nvSpPr>
          <p:cNvPr id="14" name="Text 12"/>
          <p:cNvSpPr/>
          <p:nvPr/>
        </p:nvSpPr>
        <p:spPr>
          <a:xfrm>
            <a:off x="6553048" y="3886200"/>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Schoolbook" pitchFamily="34" charset="0"/>
                <a:ea typeface="Century Schoolbook" pitchFamily="34" charset="-122"/>
                <a:cs typeface="Century Schoolbook" pitchFamily="34" charset="-120"/>
              </a:rPr>
              <a:t>◎</a:t>
            </a:r>
            <a:endParaRPr lang="en-US" sz="2600" dirty="0"/>
          </a:p>
        </p:txBody>
      </p:sp>
      <p:sp>
        <p:nvSpPr>
          <p:cNvPr id="15" name="Text 13"/>
          <p:cNvSpPr/>
          <p:nvPr/>
        </p:nvSpPr>
        <p:spPr>
          <a:xfrm>
            <a:off x="7376008" y="3904488"/>
            <a:ext cx="3947008" cy="640080"/>
          </a:xfrm>
          <a:prstGeom prst="rect">
            <a:avLst/>
          </a:prstGeom>
          <a:noFill/>
          <a:ln/>
        </p:spPr>
        <p:txBody>
          <a:bodyPr wrap="square" lIns="0" tIns="0" rIns="0" bIns="0" rtlCol="0" anchor="ctr"/>
          <a:lstStyle/>
          <a:p>
            <a:pPr algn="l" indent="0" marL="0">
              <a:buNone/>
            </a:pPr>
            <a:r>
              <a:rPr lang="en-US" sz="1150" b="1" spc="150" kern="0" dirty="0">
                <a:solidFill>
                  <a:srgbClr val="5C4B75"/>
                </a:solidFill>
                <a:latin typeface="Calibri" pitchFamily="34" charset="0"/>
                <a:ea typeface="Calibri" pitchFamily="34" charset="-122"/>
                <a:cs typeface="Calibri" pitchFamily="34" charset="-120"/>
              </a:rPr>
              <a:t>CLIENTE TÍPICO</a:t>
            </a:r>
            <a:endParaRPr lang="en-US" sz="1150" dirty="0"/>
          </a:p>
        </p:txBody>
      </p:sp>
      <p:sp>
        <p:nvSpPr>
          <p:cNvPr id="16" name="Text 14"/>
          <p:cNvSpPr/>
          <p:nvPr/>
        </p:nvSpPr>
        <p:spPr>
          <a:xfrm>
            <a:off x="6598768" y="4663440"/>
            <a:ext cx="4632808" cy="109728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Negocios con dos o más sucursales, y cualquiera que quiera decidir con datos.</a:t>
            </a:r>
            <a:endParaRPr lang="en-US" sz="1500" dirty="0"/>
          </a:p>
        </p:txBody>
      </p:sp>
      <p:sp>
        <p:nvSpPr>
          <p:cNvPr id="17" name="Text 1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8" name="Text 1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LA FÓRMULA DEL VENDEDOR EXPERTO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Función → Problema → Beneficio</a:t>
            </a:r>
            <a:endParaRPr lang="en-US" sz="3400" dirty="0"/>
          </a:p>
        </p:txBody>
      </p:sp>
      <p:sp>
        <p:nvSpPr>
          <p:cNvPr id="4" name="Shape 2"/>
          <p:cNvSpPr/>
          <p:nvPr/>
        </p:nvSpPr>
        <p:spPr>
          <a:xfrm>
            <a:off x="640080" y="2011680"/>
            <a:ext cx="3271418" cy="3657600"/>
          </a:xfrm>
          <a:prstGeom prst="roundRect">
            <a:avLst>
              <a:gd name="adj" fmla="val 335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5" name="Shape 3"/>
          <p:cNvSpPr/>
          <p:nvPr/>
        </p:nvSpPr>
        <p:spPr>
          <a:xfrm>
            <a:off x="640080" y="2011680"/>
            <a:ext cx="3271418" cy="868680"/>
          </a:xfrm>
          <a:prstGeom prst="roundRect">
            <a:avLst>
              <a:gd name="adj" fmla="val 12632"/>
            </a:avLst>
          </a:prstGeom>
          <a:solidFill>
            <a:srgbClr val="5C4B75"/>
          </a:solidFill>
          <a:ln/>
        </p:spPr>
      </p:sp>
      <p:sp>
        <p:nvSpPr>
          <p:cNvPr id="6" name="Shape 4"/>
          <p:cNvSpPr/>
          <p:nvPr/>
        </p:nvSpPr>
        <p:spPr>
          <a:xfrm>
            <a:off x="640080" y="2450592"/>
            <a:ext cx="3271418" cy="429768"/>
          </a:xfrm>
          <a:prstGeom prst="rect">
            <a:avLst/>
          </a:prstGeom>
          <a:solidFill>
            <a:srgbClr val="5C4B75"/>
          </a:solidFill>
          <a:ln/>
        </p:spPr>
      </p:sp>
      <p:sp>
        <p:nvSpPr>
          <p:cNvPr id="7" name="Text 5"/>
          <p:cNvSpPr/>
          <p:nvPr/>
        </p:nvSpPr>
        <p:spPr>
          <a:xfrm>
            <a:off x="640080" y="2011680"/>
            <a:ext cx="3271418"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Función</a:t>
            </a:r>
            <a:endParaRPr lang="en-US" sz="2000" dirty="0"/>
          </a:p>
        </p:txBody>
      </p:sp>
      <p:sp>
        <p:nvSpPr>
          <p:cNvPr id="8" name="Text 6"/>
          <p:cNvSpPr/>
          <p:nvPr/>
        </p:nvSpPr>
        <p:spPr>
          <a:xfrm>
            <a:off x="914400" y="3108960"/>
            <a:ext cx="2722778" cy="914400"/>
          </a:xfrm>
          <a:prstGeom prst="rect">
            <a:avLst/>
          </a:prstGeom>
          <a:noFill/>
          <a:ln/>
        </p:spPr>
        <p:txBody>
          <a:bodyPr wrap="square" lIns="0" tIns="0" rIns="0" bIns="0" rtlCol="0" anchor="t"/>
          <a:lstStyle/>
          <a:p>
            <a:pPr algn="l" indent="0" marL="0">
              <a:lnSpc>
                <a:spcPct val="105000"/>
              </a:lnSpc>
              <a:buNone/>
            </a:pPr>
            <a:r>
              <a:rPr lang="en-US" sz="1350" dirty="0">
                <a:solidFill>
                  <a:srgbClr val="3A3348"/>
                </a:solidFill>
                <a:latin typeface="Calibri" pitchFamily="34" charset="0"/>
                <a:ea typeface="Calibri" pitchFamily="34" charset="-122"/>
                <a:cs typeface="Calibri" pitchFamily="34" charset="-120"/>
              </a:rPr>
              <a:t>Lo que la herramienta hace</a:t>
            </a:r>
            <a:endParaRPr lang="en-US" sz="1350" dirty="0"/>
          </a:p>
        </p:txBody>
      </p:sp>
      <p:sp>
        <p:nvSpPr>
          <p:cNvPr id="9" name="Shape 7"/>
          <p:cNvSpPr/>
          <p:nvPr/>
        </p:nvSpPr>
        <p:spPr>
          <a:xfrm>
            <a:off x="868680" y="4206240"/>
            <a:ext cx="2814218" cy="1234440"/>
          </a:xfrm>
          <a:prstGeom prst="roundRect">
            <a:avLst>
              <a:gd name="adj" fmla="val 7407"/>
            </a:avLst>
          </a:prstGeom>
          <a:solidFill>
            <a:srgbClr val="F5F2FA"/>
          </a:solidFill>
          <a:ln/>
        </p:spPr>
      </p:sp>
      <p:sp>
        <p:nvSpPr>
          <p:cNvPr id="10" name="Text 8"/>
          <p:cNvSpPr/>
          <p:nvPr/>
        </p:nvSpPr>
        <p:spPr>
          <a:xfrm>
            <a:off x="1024128" y="4297680"/>
            <a:ext cx="2503322" cy="1051560"/>
          </a:xfrm>
          <a:prstGeom prst="rect">
            <a:avLst/>
          </a:prstGeom>
          <a:noFill/>
          <a:ln/>
        </p:spPr>
        <p:txBody>
          <a:bodyPr wrap="square" lIns="0" tIns="0" rIns="0" bIns="0" rtlCol="0" anchor="t"/>
          <a:lstStyle/>
          <a:p>
            <a:pPr algn="l" indent="0" marL="0">
              <a:lnSpc>
                <a:spcPct val="105000"/>
              </a:lnSpc>
              <a:buNone/>
            </a:pPr>
            <a:r>
              <a:rPr lang="en-US" sz="1250" b="1" i="1" dirty="0">
                <a:solidFill>
                  <a:srgbClr val="5C4B75"/>
                </a:solidFill>
                <a:latin typeface="Calibri" pitchFamily="34" charset="0"/>
                <a:ea typeface="Calibri" pitchFamily="34" charset="-122"/>
                <a:cs typeface="Calibri" pitchFamily="34" charset="-120"/>
              </a:rPr>
              <a:t>Ej: </a:t>
            </a:r>
            <a:pPr algn="l" indent="0" marL="0">
              <a:lnSpc>
                <a:spcPct val="105000"/>
              </a:lnSpc>
              <a:buNone/>
            </a:pPr>
            <a:r>
              <a:rPr lang="en-US" sz="1250" i="1" dirty="0">
                <a:solidFill>
                  <a:srgbClr val="1B1526"/>
                </a:solidFill>
                <a:latin typeface="Calibri" pitchFamily="34" charset="0"/>
                <a:ea typeface="Calibri" pitchFamily="34" charset="-122"/>
                <a:cs typeface="Calibri" pitchFamily="34" charset="-120"/>
              </a:rPr>
              <a:t>El POS cobra mixto y sin internet</a:t>
            </a:r>
            <a:endParaRPr lang="en-US" sz="1250" dirty="0"/>
          </a:p>
        </p:txBody>
      </p:sp>
      <p:sp>
        <p:nvSpPr>
          <p:cNvPr id="11" name="Text 9"/>
          <p:cNvSpPr/>
          <p:nvPr/>
        </p:nvSpPr>
        <p:spPr>
          <a:xfrm>
            <a:off x="3865778" y="2011680"/>
            <a:ext cx="640080" cy="3657600"/>
          </a:xfrm>
          <a:prstGeom prst="rect">
            <a:avLst/>
          </a:prstGeom>
          <a:noFill/>
          <a:ln/>
        </p:spPr>
        <p:txBody>
          <a:bodyPr wrap="square" lIns="0" tIns="0" rIns="0" bIns="0" rtlCol="0" anchor="ctr"/>
          <a:lstStyle/>
          <a:p>
            <a:pPr algn="ctr" indent="0" marL="0">
              <a:buNone/>
            </a:pPr>
            <a:r>
              <a:rPr lang="en-US" sz="3000" b="1" dirty="0">
                <a:solidFill>
                  <a:srgbClr val="A18BCF"/>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4460138" y="2011680"/>
            <a:ext cx="3271418" cy="3657600"/>
          </a:xfrm>
          <a:prstGeom prst="roundRect">
            <a:avLst>
              <a:gd name="adj" fmla="val 335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3" name="Shape 11"/>
          <p:cNvSpPr/>
          <p:nvPr/>
        </p:nvSpPr>
        <p:spPr>
          <a:xfrm>
            <a:off x="4460138" y="2011680"/>
            <a:ext cx="3271418" cy="868680"/>
          </a:xfrm>
          <a:prstGeom prst="roundRect">
            <a:avLst>
              <a:gd name="adj" fmla="val 12632"/>
            </a:avLst>
          </a:prstGeom>
          <a:solidFill>
            <a:srgbClr val="7C3AED"/>
          </a:solidFill>
          <a:ln/>
        </p:spPr>
      </p:sp>
      <p:sp>
        <p:nvSpPr>
          <p:cNvPr id="14" name="Shape 12"/>
          <p:cNvSpPr/>
          <p:nvPr/>
        </p:nvSpPr>
        <p:spPr>
          <a:xfrm>
            <a:off x="4460138" y="2450592"/>
            <a:ext cx="3271418" cy="429768"/>
          </a:xfrm>
          <a:prstGeom prst="rect">
            <a:avLst/>
          </a:prstGeom>
          <a:solidFill>
            <a:srgbClr val="7C3AED"/>
          </a:solidFill>
          <a:ln/>
        </p:spPr>
      </p:sp>
      <p:sp>
        <p:nvSpPr>
          <p:cNvPr id="15" name="Text 13"/>
          <p:cNvSpPr/>
          <p:nvPr/>
        </p:nvSpPr>
        <p:spPr>
          <a:xfrm>
            <a:off x="4460138" y="2011680"/>
            <a:ext cx="3271418"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Problema</a:t>
            </a:r>
            <a:endParaRPr lang="en-US" sz="2000" dirty="0"/>
          </a:p>
        </p:txBody>
      </p:sp>
      <p:sp>
        <p:nvSpPr>
          <p:cNvPr id="16" name="Text 14"/>
          <p:cNvSpPr/>
          <p:nvPr/>
        </p:nvSpPr>
        <p:spPr>
          <a:xfrm>
            <a:off x="4734458" y="3108960"/>
            <a:ext cx="2722778" cy="914400"/>
          </a:xfrm>
          <a:prstGeom prst="rect">
            <a:avLst/>
          </a:prstGeom>
          <a:noFill/>
          <a:ln/>
        </p:spPr>
        <p:txBody>
          <a:bodyPr wrap="square" lIns="0" tIns="0" rIns="0" bIns="0" rtlCol="0" anchor="t"/>
          <a:lstStyle/>
          <a:p>
            <a:pPr algn="l" indent="0" marL="0">
              <a:lnSpc>
                <a:spcPct val="105000"/>
              </a:lnSpc>
              <a:buNone/>
            </a:pPr>
            <a:r>
              <a:rPr lang="en-US" sz="1350" dirty="0">
                <a:solidFill>
                  <a:srgbClr val="3A3348"/>
                </a:solidFill>
                <a:latin typeface="Calibri" pitchFamily="34" charset="0"/>
                <a:ea typeface="Calibri" pitchFamily="34" charset="-122"/>
                <a:cs typeface="Calibri" pitchFamily="34" charset="-120"/>
              </a:rPr>
              <a:t>El dolor real del cliente</a:t>
            </a:r>
            <a:endParaRPr lang="en-US" sz="1350" dirty="0"/>
          </a:p>
        </p:txBody>
      </p:sp>
      <p:sp>
        <p:nvSpPr>
          <p:cNvPr id="17" name="Shape 15"/>
          <p:cNvSpPr/>
          <p:nvPr/>
        </p:nvSpPr>
        <p:spPr>
          <a:xfrm>
            <a:off x="4688738" y="4206240"/>
            <a:ext cx="2814218" cy="1234440"/>
          </a:xfrm>
          <a:prstGeom prst="roundRect">
            <a:avLst>
              <a:gd name="adj" fmla="val 7407"/>
            </a:avLst>
          </a:prstGeom>
          <a:solidFill>
            <a:srgbClr val="F5F2FA"/>
          </a:solidFill>
          <a:ln/>
        </p:spPr>
      </p:sp>
      <p:sp>
        <p:nvSpPr>
          <p:cNvPr id="18" name="Text 16"/>
          <p:cNvSpPr/>
          <p:nvPr/>
        </p:nvSpPr>
        <p:spPr>
          <a:xfrm>
            <a:off x="4844186" y="4297680"/>
            <a:ext cx="2503322" cy="1051560"/>
          </a:xfrm>
          <a:prstGeom prst="rect">
            <a:avLst/>
          </a:prstGeom>
          <a:noFill/>
          <a:ln/>
        </p:spPr>
        <p:txBody>
          <a:bodyPr wrap="square" lIns="0" tIns="0" rIns="0" bIns="0" rtlCol="0" anchor="t"/>
          <a:lstStyle/>
          <a:p>
            <a:pPr algn="l" indent="0" marL="0">
              <a:lnSpc>
                <a:spcPct val="105000"/>
              </a:lnSpc>
              <a:buNone/>
            </a:pPr>
            <a:r>
              <a:rPr lang="en-US" sz="1250" b="1" i="1" dirty="0">
                <a:solidFill>
                  <a:srgbClr val="5C4B75"/>
                </a:solidFill>
                <a:latin typeface="Calibri" pitchFamily="34" charset="0"/>
                <a:ea typeface="Calibri" pitchFamily="34" charset="-122"/>
                <a:cs typeface="Calibri" pitchFamily="34" charset="-120"/>
              </a:rPr>
              <a:t>Ej: </a:t>
            </a:r>
            <a:pPr algn="l" indent="0" marL="0">
              <a:lnSpc>
                <a:spcPct val="105000"/>
              </a:lnSpc>
              <a:buNone/>
            </a:pPr>
            <a:r>
              <a:rPr lang="en-US" sz="1250" i="1" dirty="0">
                <a:solidFill>
                  <a:srgbClr val="1B1526"/>
                </a:solidFill>
                <a:latin typeface="Calibri" pitchFamily="34" charset="0"/>
                <a:ea typeface="Calibri" pitchFamily="34" charset="-122"/>
                <a:cs typeface="Calibri" pitchFamily="34" charset="-120"/>
              </a:rPr>
              <a:t>Pierde ventas cuando se cae la red</a:t>
            </a:r>
            <a:endParaRPr lang="en-US" sz="1250" dirty="0"/>
          </a:p>
        </p:txBody>
      </p:sp>
      <p:sp>
        <p:nvSpPr>
          <p:cNvPr id="19" name="Text 17"/>
          <p:cNvSpPr/>
          <p:nvPr/>
        </p:nvSpPr>
        <p:spPr>
          <a:xfrm>
            <a:off x="7685837" y="2011680"/>
            <a:ext cx="640080" cy="3657600"/>
          </a:xfrm>
          <a:prstGeom prst="rect">
            <a:avLst/>
          </a:prstGeom>
          <a:noFill/>
          <a:ln/>
        </p:spPr>
        <p:txBody>
          <a:bodyPr wrap="square" lIns="0" tIns="0" rIns="0" bIns="0" rtlCol="0" anchor="ctr"/>
          <a:lstStyle/>
          <a:p>
            <a:pPr algn="ctr" indent="0" marL="0">
              <a:buNone/>
            </a:pPr>
            <a:r>
              <a:rPr lang="en-US" sz="3000" b="1" dirty="0">
                <a:solidFill>
                  <a:srgbClr val="A18BCF"/>
                </a:solidFill>
                <a:latin typeface="Calibri" pitchFamily="34" charset="0"/>
                <a:ea typeface="Calibri" pitchFamily="34" charset="-122"/>
                <a:cs typeface="Calibri" pitchFamily="34" charset="-120"/>
              </a:rPr>
              <a:t>→</a:t>
            </a:r>
            <a:endParaRPr lang="en-US" sz="3000" dirty="0"/>
          </a:p>
        </p:txBody>
      </p:sp>
      <p:sp>
        <p:nvSpPr>
          <p:cNvPr id="20" name="Shape 18"/>
          <p:cNvSpPr/>
          <p:nvPr/>
        </p:nvSpPr>
        <p:spPr>
          <a:xfrm>
            <a:off x="8280197" y="2011680"/>
            <a:ext cx="3271418" cy="3657600"/>
          </a:xfrm>
          <a:prstGeom prst="roundRect">
            <a:avLst>
              <a:gd name="adj" fmla="val 335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21" name="Shape 19"/>
          <p:cNvSpPr/>
          <p:nvPr/>
        </p:nvSpPr>
        <p:spPr>
          <a:xfrm>
            <a:off x="8280197" y="2011680"/>
            <a:ext cx="3271418" cy="868680"/>
          </a:xfrm>
          <a:prstGeom prst="roundRect">
            <a:avLst>
              <a:gd name="adj" fmla="val 12632"/>
            </a:avLst>
          </a:prstGeom>
          <a:solidFill>
            <a:srgbClr val="2563EB"/>
          </a:solidFill>
          <a:ln/>
        </p:spPr>
      </p:sp>
      <p:sp>
        <p:nvSpPr>
          <p:cNvPr id="22" name="Shape 20"/>
          <p:cNvSpPr/>
          <p:nvPr/>
        </p:nvSpPr>
        <p:spPr>
          <a:xfrm>
            <a:off x="8280197" y="2450592"/>
            <a:ext cx="3271418" cy="429768"/>
          </a:xfrm>
          <a:prstGeom prst="rect">
            <a:avLst/>
          </a:prstGeom>
          <a:solidFill>
            <a:srgbClr val="2563EB"/>
          </a:solidFill>
          <a:ln/>
        </p:spPr>
      </p:sp>
      <p:sp>
        <p:nvSpPr>
          <p:cNvPr id="23" name="Text 21"/>
          <p:cNvSpPr/>
          <p:nvPr/>
        </p:nvSpPr>
        <p:spPr>
          <a:xfrm>
            <a:off x="8280197" y="2011680"/>
            <a:ext cx="3271418"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Beneficio</a:t>
            </a:r>
            <a:endParaRPr lang="en-US" sz="2000" dirty="0"/>
          </a:p>
        </p:txBody>
      </p:sp>
      <p:sp>
        <p:nvSpPr>
          <p:cNvPr id="24" name="Text 22"/>
          <p:cNvSpPr/>
          <p:nvPr/>
        </p:nvSpPr>
        <p:spPr>
          <a:xfrm>
            <a:off x="8554517" y="3108960"/>
            <a:ext cx="2722778" cy="914400"/>
          </a:xfrm>
          <a:prstGeom prst="rect">
            <a:avLst/>
          </a:prstGeom>
          <a:noFill/>
          <a:ln/>
        </p:spPr>
        <p:txBody>
          <a:bodyPr wrap="square" lIns="0" tIns="0" rIns="0" bIns="0" rtlCol="0" anchor="t"/>
          <a:lstStyle/>
          <a:p>
            <a:pPr algn="l" indent="0" marL="0">
              <a:lnSpc>
                <a:spcPct val="105000"/>
              </a:lnSpc>
              <a:buNone/>
            </a:pPr>
            <a:r>
              <a:rPr lang="en-US" sz="1350" dirty="0">
                <a:solidFill>
                  <a:srgbClr val="3A3348"/>
                </a:solidFill>
                <a:latin typeface="Calibri" pitchFamily="34" charset="0"/>
                <a:ea typeface="Calibri" pitchFamily="34" charset="-122"/>
                <a:cs typeface="Calibri" pitchFamily="34" charset="-120"/>
              </a:rPr>
              <a:t>Lo que el cliente gana</a:t>
            </a:r>
            <a:endParaRPr lang="en-US" sz="1350" dirty="0"/>
          </a:p>
        </p:txBody>
      </p:sp>
      <p:sp>
        <p:nvSpPr>
          <p:cNvPr id="25" name="Shape 23"/>
          <p:cNvSpPr/>
          <p:nvPr/>
        </p:nvSpPr>
        <p:spPr>
          <a:xfrm>
            <a:off x="8508797" y="4206240"/>
            <a:ext cx="2814218" cy="1234440"/>
          </a:xfrm>
          <a:prstGeom prst="roundRect">
            <a:avLst>
              <a:gd name="adj" fmla="val 7407"/>
            </a:avLst>
          </a:prstGeom>
          <a:solidFill>
            <a:srgbClr val="F5F2FA"/>
          </a:solidFill>
          <a:ln/>
        </p:spPr>
      </p:sp>
      <p:sp>
        <p:nvSpPr>
          <p:cNvPr id="26" name="Text 24"/>
          <p:cNvSpPr/>
          <p:nvPr/>
        </p:nvSpPr>
        <p:spPr>
          <a:xfrm>
            <a:off x="8664245" y="4297680"/>
            <a:ext cx="2503322" cy="1051560"/>
          </a:xfrm>
          <a:prstGeom prst="rect">
            <a:avLst/>
          </a:prstGeom>
          <a:noFill/>
          <a:ln/>
        </p:spPr>
        <p:txBody>
          <a:bodyPr wrap="square" lIns="0" tIns="0" rIns="0" bIns="0" rtlCol="0" anchor="t"/>
          <a:lstStyle/>
          <a:p>
            <a:pPr algn="l" indent="0" marL="0">
              <a:lnSpc>
                <a:spcPct val="105000"/>
              </a:lnSpc>
              <a:buNone/>
            </a:pPr>
            <a:r>
              <a:rPr lang="en-US" sz="1250" b="1" i="1" dirty="0">
                <a:solidFill>
                  <a:srgbClr val="5C4B75"/>
                </a:solidFill>
                <a:latin typeface="Calibri" pitchFamily="34" charset="0"/>
                <a:ea typeface="Calibri" pitchFamily="34" charset="-122"/>
                <a:cs typeface="Calibri" pitchFamily="34" charset="-120"/>
              </a:rPr>
              <a:t>Ej: </a:t>
            </a:r>
            <a:pPr algn="l" indent="0" marL="0">
              <a:lnSpc>
                <a:spcPct val="105000"/>
              </a:lnSpc>
              <a:buNone/>
            </a:pPr>
            <a:r>
              <a:rPr lang="en-US" sz="1250" i="1" dirty="0">
                <a:solidFill>
                  <a:srgbClr val="1B1526"/>
                </a:solidFill>
                <a:latin typeface="Calibri" pitchFamily="34" charset="0"/>
                <a:ea typeface="Calibri" pitchFamily="34" charset="-122"/>
                <a:cs typeface="Calibri" pitchFamily="34" charset="-120"/>
              </a:rPr>
              <a:t>Nunca deja de vender ni de cobrar</a:t>
            </a:r>
            <a:endParaRPr lang="en-US" sz="1250" dirty="0"/>
          </a:p>
        </p:txBody>
      </p:sp>
      <p:sp>
        <p:nvSpPr>
          <p:cNvPr id="27" name="Text 25"/>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28" name="Text 26"/>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FUNCIÓN Y PROBLEMA EN LA VIDA REAL</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Tres casos para practicar</a:t>
            </a:r>
            <a:endParaRPr lang="en-US" sz="3400" dirty="0"/>
          </a:p>
        </p:txBody>
      </p:sp>
      <p:sp>
        <p:nvSpPr>
          <p:cNvPr id="4" name="Shape 2"/>
          <p:cNvSpPr/>
          <p:nvPr/>
        </p:nvSpPr>
        <p:spPr>
          <a:xfrm>
            <a:off x="640080"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5" name="Shape 3"/>
          <p:cNvSpPr/>
          <p:nvPr/>
        </p:nvSpPr>
        <p:spPr>
          <a:xfrm>
            <a:off x="914400" y="2167128"/>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6" name="Text 4"/>
          <p:cNvSpPr/>
          <p:nvPr/>
        </p:nvSpPr>
        <p:spPr>
          <a:xfrm>
            <a:off x="914400" y="2167128"/>
            <a:ext cx="640080" cy="640080"/>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1</a:t>
            </a:r>
            <a:endParaRPr lang="en-US" sz="2200" dirty="0"/>
          </a:p>
        </p:txBody>
      </p:sp>
      <p:sp>
        <p:nvSpPr>
          <p:cNvPr id="7" name="Text 5"/>
          <p:cNvSpPr/>
          <p:nvPr/>
        </p:nvSpPr>
        <p:spPr>
          <a:xfrm>
            <a:off x="1691640" y="2148840"/>
            <a:ext cx="2113178" cy="685800"/>
          </a:xfrm>
          <a:prstGeom prst="rect">
            <a:avLst/>
          </a:prstGeom>
          <a:noFill/>
          <a:ln/>
        </p:spPr>
        <p:txBody>
          <a:bodyPr wrap="square" lIns="0" tIns="0" rIns="0" bIns="0" rtlCol="0" anchor="ctr"/>
          <a:lstStyle/>
          <a:p>
            <a:pPr algn="l" indent="0" marL="0">
              <a:lnSpc>
                <a:spcPct val="98000"/>
              </a:lnSpc>
              <a:buNone/>
            </a:pPr>
            <a:r>
              <a:rPr lang="en-US" sz="1600" b="1" dirty="0">
                <a:solidFill>
                  <a:srgbClr val="2B1F3A"/>
                </a:solidFill>
                <a:latin typeface="Century Schoolbook" pitchFamily="34" charset="0"/>
                <a:ea typeface="Century Schoolbook" pitchFamily="34" charset="-122"/>
                <a:cs typeface="Century Schoolbook" pitchFamily="34" charset="-120"/>
              </a:rPr>
              <a:t>Ferretería con dos locales</a:t>
            </a:r>
            <a:endParaRPr lang="en-US" sz="1600" dirty="0"/>
          </a:p>
        </p:txBody>
      </p:sp>
      <p:sp>
        <p:nvSpPr>
          <p:cNvPr id="8" name="Text 6"/>
          <p:cNvSpPr/>
          <p:nvPr/>
        </p:nvSpPr>
        <p:spPr>
          <a:xfrm>
            <a:off x="932688" y="3108960"/>
            <a:ext cx="2844698" cy="274320"/>
          </a:xfrm>
          <a:prstGeom prst="rect">
            <a:avLst/>
          </a:prstGeom>
          <a:noFill/>
          <a:ln/>
        </p:spPr>
        <p:txBody>
          <a:bodyPr wrap="square" lIns="0" tIns="0" rIns="0" bIns="0" rtlCol="0" anchor="ctr"/>
          <a:lstStyle/>
          <a:p>
            <a:pPr algn="l" indent="0" marL="0">
              <a:buNone/>
            </a:pPr>
            <a:r>
              <a:rPr lang="en-US" sz="1050" b="1" spc="150" kern="0" dirty="0">
                <a:solidFill>
                  <a:srgbClr val="E2626B"/>
                </a:solidFill>
                <a:latin typeface="Calibri" pitchFamily="34" charset="0"/>
                <a:ea typeface="Calibri" pitchFamily="34" charset="-122"/>
                <a:cs typeface="Calibri" pitchFamily="34" charset="-120"/>
              </a:rPr>
              <a:t>PROBLEMA</a:t>
            </a:r>
            <a:endParaRPr lang="en-US" sz="1050" dirty="0"/>
          </a:p>
        </p:txBody>
      </p:sp>
      <p:sp>
        <p:nvSpPr>
          <p:cNvPr id="9" name="Text 7"/>
          <p:cNvSpPr/>
          <p:nvPr/>
        </p:nvSpPr>
        <p:spPr>
          <a:xfrm>
            <a:off x="932688" y="3383280"/>
            <a:ext cx="2808122" cy="1051560"/>
          </a:xfrm>
          <a:prstGeom prst="rect">
            <a:avLst/>
          </a:prstGeom>
          <a:noFill/>
          <a:ln/>
        </p:spPr>
        <p:txBody>
          <a:bodyPr wrap="square" lIns="0" tIns="0" rIns="0" bIns="0" rtlCol="0" anchor="t"/>
          <a:lstStyle/>
          <a:p>
            <a:pPr algn="l" indent="0" marL="0">
              <a:lnSpc>
                <a:spcPct val="103000"/>
              </a:lnSpc>
              <a:buNone/>
            </a:pPr>
            <a:r>
              <a:rPr lang="en-US" sz="1300" dirty="0">
                <a:solidFill>
                  <a:srgbClr val="3A3348"/>
                </a:solidFill>
                <a:latin typeface="Calibri" pitchFamily="34" charset="0"/>
                <a:ea typeface="Calibri" pitchFamily="34" charset="-122"/>
                <a:cs typeface="Calibri" pitchFamily="34" charset="-120"/>
              </a:rPr>
              <a:t>No sabe cuál es más rentable.</a:t>
            </a:r>
            <a:endParaRPr lang="en-US" sz="1300" dirty="0"/>
          </a:p>
        </p:txBody>
      </p:sp>
      <p:sp>
        <p:nvSpPr>
          <p:cNvPr id="10" name="Shape 8"/>
          <p:cNvSpPr/>
          <p:nvPr/>
        </p:nvSpPr>
        <p:spPr>
          <a:xfrm>
            <a:off x="868680" y="4480560"/>
            <a:ext cx="2936138" cy="1280160"/>
          </a:xfrm>
          <a:prstGeom prst="roundRect">
            <a:avLst>
              <a:gd name="adj" fmla="val 7143"/>
            </a:avLst>
          </a:prstGeom>
          <a:solidFill>
            <a:srgbClr val="F5F2FA"/>
          </a:solidFill>
          <a:ln/>
        </p:spPr>
      </p:sp>
      <p:sp>
        <p:nvSpPr>
          <p:cNvPr id="11" name="Text 9"/>
          <p:cNvSpPr/>
          <p:nvPr/>
        </p:nvSpPr>
        <p:spPr>
          <a:xfrm>
            <a:off x="1024128" y="4599432"/>
            <a:ext cx="2661818" cy="274320"/>
          </a:xfrm>
          <a:prstGeom prst="rect">
            <a:avLst/>
          </a:prstGeom>
          <a:noFill/>
          <a:ln/>
        </p:spPr>
        <p:txBody>
          <a:bodyPr wrap="square" lIns="0" tIns="0" rIns="0" bIns="0" rtlCol="0" anchor="ctr"/>
          <a:lstStyle/>
          <a:p>
            <a:pPr algn="l" indent="0" marL="0">
              <a:buNone/>
            </a:pPr>
            <a:r>
              <a:rPr lang="en-US" sz="1050" b="1" spc="120" kern="0" dirty="0">
                <a:solidFill>
                  <a:srgbClr val="3FB27F"/>
                </a:solidFill>
                <a:latin typeface="Calibri" pitchFamily="34" charset="0"/>
                <a:ea typeface="Calibri" pitchFamily="34" charset="-122"/>
                <a:cs typeface="Calibri" pitchFamily="34" charset="-120"/>
              </a:rPr>
              <a:t>SOLUCIÓN ATRIA</a:t>
            </a:r>
            <a:endParaRPr lang="en-US" sz="1050" dirty="0"/>
          </a:p>
        </p:txBody>
      </p:sp>
      <p:sp>
        <p:nvSpPr>
          <p:cNvPr id="12" name="Text 10"/>
          <p:cNvSpPr/>
          <p:nvPr/>
        </p:nvSpPr>
        <p:spPr>
          <a:xfrm>
            <a:off x="1024128" y="4873752"/>
            <a:ext cx="2661818" cy="822960"/>
          </a:xfrm>
          <a:prstGeom prst="rect">
            <a:avLst/>
          </a:prstGeom>
          <a:noFill/>
          <a:ln/>
        </p:spPr>
        <p:txBody>
          <a:bodyPr wrap="square" lIns="0" tIns="0" rIns="0" bIns="0" rtlCol="0" anchor="t"/>
          <a:lstStyle/>
          <a:p>
            <a:pPr algn="l" indent="0" marL="0">
              <a:lnSpc>
                <a:spcPct val="103000"/>
              </a:lnSpc>
              <a:buNone/>
            </a:pPr>
            <a:r>
              <a:rPr lang="en-US" sz="1300" b="1" dirty="0">
                <a:solidFill>
                  <a:srgbClr val="1B1526"/>
                </a:solidFill>
                <a:latin typeface="Century Schoolbook" pitchFamily="34" charset="0"/>
                <a:ea typeface="Century Schoolbook" pitchFamily="34" charset="-122"/>
                <a:cs typeface="Century Schoolbook" pitchFamily="34" charset="-120"/>
              </a:rPr>
              <a:t>ATRIA multi-sucursal + reportes.</a:t>
            </a:r>
            <a:endParaRPr lang="en-US" sz="1300" dirty="0"/>
          </a:p>
        </p:txBody>
      </p:sp>
      <p:sp>
        <p:nvSpPr>
          <p:cNvPr id="13" name="Shape 11"/>
          <p:cNvSpPr/>
          <p:nvPr/>
        </p:nvSpPr>
        <p:spPr>
          <a:xfrm>
            <a:off x="4399178"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4" name="Shape 12"/>
          <p:cNvSpPr/>
          <p:nvPr/>
        </p:nvSpPr>
        <p:spPr>
          <a:xfrm>
            <a:off x="4673498" y="2167128"/>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5" name="Text 13"/>
          <p:cNvSpPr/>
          <p:nvPr/>
        </p:nvSpPr>
        <p:spPr>
          <a:xfrm>
            <a:off x="4673498" y="2167128"/>
            <a:ext cx="640080" cy="640080"/>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2</a:t>
            </a:r>
            <a:endParaRPr lang="en-US" sz="2200" dirty="0"/>
          </a:p>
        </p:txBody>
      </p:sp>
      <p:sp>
        <p:nvSpPr>
          <p:cNvPr id="16" name="Text 14"/>
          <p:cNvSpPr/>
          <p:nvPr/>
        </p:nvSpPr>
        <p:spPr>
          <a:xfrm>
            <a:off x="5450738" y="2148840"/>
            <a:ext cx="2113178" cy="685800"/>
          </a:xfrm>
          <a:prstGeom prst="rect">
            <a:avLst/>
          </a:prstGeom>
          <a:noFill/>
          <a:ln/>
        </p:spPr>
        <p:txBody>
          <a:bodyPr wrap="square" lIns="0" tIns="0" rIns="0" bIns="0" rtlCol="0" anchor="ctr"/>
          <a:lstStyle/>
          <a:p>
            <a:pPr algn="l" indent="0" marL="0">
              <a:lnSpc>
                <a:spcPct val="98000"/>
              </a:lnSpc>
              <a:buNone/>
            </a:pPr>
            <a:r>
              <a:rPr lang="en-US" sz="1600" b="1" dirty="0">
                <a:solidFill>
                  <a:srgbClr val="2B1F3A"/>
                </a:solidFill>
                <a:latin typeface="Century Schoolbook" pitchFamily="34" charset="0"/>
                <a:ea typeface="Century Schoolbook" pitchFamily="34" charset="-122"/>
                <a:cs typeface="Century Schoolbook" pitchFamily="34" charset="-120"/>
              </a:rPr>
              <a:t>Farmacia</a:t>
            </a:r>
            <a:endParaRPr lang="en-US" sz="1600" dirty="0"/>
          </a:p>
        </p:txBody>
      </p:sp>
      <p:sp>
        <p:nvSpPr>
          <p:cNvPr id="17" name="Text 15"/>
          <p:cNvSpPr/>
          <p:nvPr/>
        </p:nvSpPr>
        <p:spPr>
          <a:xfrm>
            <a:off x="4691786" y="3108960"/>
            <a:ext cx="2844698" cy="274320"/>
          </a:xfrm>
          <a:prstGeom prst="rect">
            <a:avLst/>
          </a:prstGeom>
          <a:noFill/>
          <a:ln/>
        </p:spPr>
        <p:txBody>
          <a:bodyPr wrap="square" lIns="0" tIns="0" rIns="0" bIns="0" rtlCol="0" anchor="ctr"/>
          <a:lstStyle/>
          <a:p>
            <a:pPr algn="l" indent="0" marL="0">
              <a:buNone/>
            </a:pPr>
            <a:r>
              <a:rPr lang="en-US" sz="1050" b="1" spc="150" kern="0" dirty="0">
                <a:solidFill>
                  <a:srgbClr val="E2626B"/>
                </a:solidFill>
                <a:latin typeface="Calibri" pitchFamily="34" charset="0"/>
                <a:ea typeface="Calibri" pitchFamily="34" charset="-122"/>
                <a:cs typeface="Calibri" pitchFamily="34" charset="-120"/>
              </a:rPr>
              <a:t>PROBLEMA</a:t>
            </a:r>
            <a:endParaRPr lang="en-US" sz="1050" dirty="0"/>
          </a:p>
        </p:txBody>
      </p:sp>
      <p:sp>
        <p:nvSpPr>
          <p:cNvPr id="18" name="Text 16"/>
          <p:cNvSpPr/>
          <p:nvPr/>
        </p:nvSpPr>
        <p:spPr>
          <a:xfrm>
            <a:off x="4691786" y="3383280"/>
            <a:ext cx="2808122" cy="1051560"/>
          </a:xfrm>
          <a:prstGeom prst="rect">
            <a:avLst/>
          </a:prstGeom>
          <a:noFill/>
          <a:ln/>
        </p:spPr>
        <p:txBody>
          <a:bodyPr wrap="square" lIns="0" tIns="0" rIns="0" bIns="0" rtlCol="0" anchor="t"/>
          <a:lstStyle/>
          <a:p>
            <a:pPr algn="l" indent="0" marL="0">
              <a:lnSpc>
                <a:spcPct val="103000"/>
              </a:lnSpc>
              <a:buNone/>
            </a:pPr>
            <a:r>
              <a:rPr lang="en-US" sz="1300" dirty="0">
                <a:solidFill>
                  <a:srgbClr val="3A3348"/>
                </a:solidFill>
                <a:latin typeface="Calibri" pitchFamily="34" charset="0"/>
                <a:ea typeface="Calibri" pitchFamily="34" charset="-122"/>
                <a:cs typeface="Calibri" pitchFamily="34" charset="-120"/>
              </a:rPr>
              <a:t>Pierde productos vencidos.</a:t>
            </a:r>
            <a:endParaRPr lang="en-US" sz="1300" dirty="0"/>
          </a:p>
        </p:txBody>
      </p:sp>
      <p:sp>
        <p:nvSpPr>
          <p:cNvPr id="19" name="Shape 17"/>
          <p:cNvSpPr/>
          <p:nvPr/>
        </p:nvSpPr>
        <p:spPr>
          <a:xfrm>
            <a:off x="4627778" y="4480560"/>
            <a:ext cx="2936138" cy="1280160"/>
          </a:xfrm>
          <a:prstGeom prst="roundRect">
            <a:avLst>
              <a:gd name="adj" fmla="val 7143"/>
            </a:avLst>
          </a:prstGeom>
          <a:solidFill>
            <a:srgbClr val="F5F2FA"/>
          </a:solidFill>
          <a:ln/>
        </p:spPr>
      </p:sp>
      <p:sp>
        <p:nvSpPr>
          <p:cNvPr id="20" name="Text 18"/>
          <p:cNvSpPr/>
          <p:nvPr/>
        </p:nvSpPr>
        <p:spPr>
          <a:xfrm>
            <a:off x="4783226" y="4599432"/>
            <a:ext cx="2661818" cy="274320"/>
          </a:xfrm>
          <a:prstGeom prst="rect">
            <a:avLst/>
          </a:prstGeom>
          <a:noFill/>
          <a:ln/>
        </p:spPr>
        <p:txBody>
          <a:bodyPr wrap="square" lIns="0" tIns="0" rIns="0" bIns="0" rtlCol="0" anchor="ctr"/>
          <a:lstStyle/>
          <a:p>
            <a:pPr algn="l" indent="0" marL="0">
              <a:buNone/>
            </a:pPr>
            <a:r>
              <a:rPr lang="en-US" sz="1050" b="1" spc="120" kern="0" dirty="0">
                <a:solidFill>
                  <a:srgbClr val="3FB27F"/>
                </a:solidFill>
                <a:latin typeface="Calibri" pitchFamily="34" charset="0"/>
                <a:ea typeface="Calibri" pitchFamily="34" charset="-122"/>
                <a:cs typeface="Calibri" pitchFamily="34" charset="-120"/>
              </a:rPr>
              <a:t>SOLUCIÓN ATRIA</a:t>
            </a:r>
            <a:endParaRPr lang="en-US" sz="1050" dirty="0"/>
          </a:p>
        </p:txBody>
      </p:sp>
      <p:sp>
        <p:nvSpPr>
          <p:cNvPr id="21" name="Text 19"/>
          <p:cNvSpPr/>
          <p:nvPr/>
        </p:nvSpPr>
        <p:spPr>
          <a:xfrm>
            <a:off x="4783226" y="4873752"/>
            <a:ext cx="2661818" cy="822960"/>
          </a:xfrm>
          <a:prstGeom prst="rect">
            <a:avLst/>
          </a:prstGeom>
          <a:noFill/>
          <a:ln/>
        </p:spPr>
        <p:txBody>
          <a:bodyPr wrap="square" lIns="0" tIns="0" rIns="0" bIns="0" rtlCol="0" anchor="t"/>
          <a:lstStyle/>
          <a:p>
            <a:pPr algn="l" indent="0" marL="0">
              <a:lnSpc>
                <a:spcPct val="103000"/>
              </a:lnSpc>
              <a:buNone/>
            </a:pPr>
            <a:r>
              <a:rPr lang="en-US" sz="1300" b="1" dirty="0">
                <a:solidFill>
                  <a:srgbClr val="1B1526"/>
                </a:solidFill>
                <a:latin typeface="Century Schoolbook" pitchFamily="34" charset="0"/>
                <a:ea typeface="Century Schoolbook" pitchFamily="34" charset="-122"/>
                <a:cs typeface="Century Schoolbook" pitchFamily="34" charset="-120"/>
              </a:rPr>
              <a:t>Control de lotes y vencimientos del inventario.</a:t>
            </a:r>
            <a:endParaRPr lang="en-US" sz="1300" dirty="0"/>
          </a:p>
        </p:txBody>
      </p:sp>
      <p:sp>
        <p:nvSpPr>
          <p:cNvPr id="22" name="Shape 20"/>
          <p:cNvSpPr/>
          <p:nvPr/>
        </p:nvSpPr>
        <p:spPr>
          <a:xfrm>
            <a:off x="8158277"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23" name="Shape 21"/>
          <p:cNvSpPr/>
          <p:nvPr/>
        </p:nvSpPr>
        <p:spPr>
          <a:xfrm>
            <a:off x="8432597" y="2167128"/>
            <a:ext cx="640080" cy="640080"/>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4" name="Text 22"/>
          <p:cNvSpPr/>
          <p:nvPr/>
        </p:nvSpPr>
        <p:spPr>
          <a:xfrm>
            <a:off x="8432597" y="2167128"/>
            <a:ext cx="640080" cy="640080"/>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3</a:t>
            </a:r>
            <a:endParaRPr lang="en-US" sz="2200" dirty="0"/>
          </a:p>
        </p:txBody>
      </p:sp>
      <p:sp>
        <p:nvSpPr>
          <p:cNvPr id="25" name="Text 23"/>
          <p:cNvSpPr/>
          <p:nvPr/>
        </p:nvSpPr>
        <p:spPr>
          <a:xfrm>
            <a:off x="9209837" y="2148840"/>
            <a:ext cx="2113178" cy="685800"/>
          </a:xfrm>
          <a:prstGeom prst="rect">
            <a:avLst/>
          </a:prstGeom>
          <a:noFill/>
          <a:ln/>
        </p:spPr>
        <p:txBody>
          <a:bodyPr wrap="square" lIns="0" tIns="0" rIns="0" bIns="0" rtlCol="0" anchor="ctr"/>
          <a:lstStyle/>
          <a:p>
            <a:pPr algn="l" indent="0" marL="0">
              <a:lnSpc>
                <a:spcPct val="98000"/>
              </a:lnSpc>
              <a:buNone/>
            </a:pPr>
            <a:r>
              <a:rPr lang="en-US" sz="1600" b="1" dirty="0">
                <a:solidFill>
                  <a:srgbClr val="2B1F3A"/>
                </a:solidFill>
                <a:latin typeface="Century Schoolbook" pitchFamily="34" charset="0"/>
                <a:ea typeface="Century Schoolbook" pitchFamily="34" charset="-122"/>
                <a:cs typeface="Century Schoolbook" pitchFamily="34" charset="-120"/>
              </a:rPr>
              <a:t>Restaurante</a:t>
            </a:r>
            <a:endParaRPr lang="en-US" sz="1600" dirty="0"/>
          </a:p>
        </p:txBody>
      </p:sp>
      <p:sp>
        <p:nvSpPr>
          <p:cNvPr id="26" name="Text 24"/>
          <p:cNvSpPr/>
          <p:nvPr/>
        </p:nvSpPr>
        <p:spPr>
          <a:xfrm>
            <a:off x="8450885" y="3108960"/>
            <a:ext cx="2844698" cy="274320"/>
          </a:xfrm>
          <a:prstGeom prst="rect">
            <a:avLst/>
          </a:prstGeom>
          <a:noFill/>
          <a:ln/>
        </p:spPr>
        <p:txBody>
          <a:bodyPr wrap="square" lIns="0" tIns="0" rIns="0" bIns="0" rtlCol="0" anchor="ctr"/>
          <a:lstStyle/>
          <a:p>
            <a:pPr algn="l" indent="0" marL="0">
              <a:buNone/>
            </a:pPr>
            <a:r>
              <a:rPr lang="en-US" sz="1050" b="1" spc="150" kern="0" dirty="0">
                <a:solidFill>
                  <a:srgbClr val="E2626B"/>
                </a:solidFill>
                <a:latin typeface="Calibri" pitchFamily="34" charset="0"/>
                <a:ea typeface="Calibri" pitchFamily="34" charset="-122"/>
                <a:cs typeface="Calibri" pitchFamily="34" charset="-120"/>
              </a:rPr>
              <a:t>PROBLEMA</a:t>
            </a:r>
            <a:endParaRPr lang="en-US" sz="1050" dirty="0"/>
          </a:p>
        </p:txBody>
      </p:sp>
      <p:sp>
        <p:nvSpPr>
          <p:cNvPr id="27" name="Text 25"/>
          <p:cNvSpPr/>
          <p:nvPr/>
        </p:nvSpPr>
        <p:spPr>
          <a:xfrm>
            <a:off x="8450885" y="3383280"/>
            <a:ext cx="2808122" cy="1051560"/>
          </a:xfrm>
          <a:prstGeom prst="rect">
            <a:avLst/>
          </a:prstGeom>
          <a:noFill/>
          <a:ln/>
        </p:spPr>
        <p:txBody>
          <a:bodyPr wrap="square" lIns="0" tIns="0" rIns="0" bIns="0" rtlCol="0" anchor="t"/>
          <a:lstStyle/>
          <a:p>
            <a:pPr algn="l" indent="0" marL="0">
              <a:lnSpc>
                <a:spcPct val="103000"/>
              </a:lnSpc>
              <a:buNone/>
            </a:pPr>
            <a:r>
              <a:rPr lang="en-US" sz="1300" dirty="0">
                <a:solidFill>
                  <a:srgbClr val="3A3348"/>
                </a:solidFill>
                <a:latin typeface="Calibri" pitchFamily="34" charset="0"/>
                <a:ea typeface="Calibri" pitchFamily="34" charset="-122"/>
                <a:cs typeface="Calibri" pitchFamily="34" charset="-120"/>
              </a:rPr>
              <a:t>Pierde control entre pedidos, caja e insumos.</a:t>
            </a:r>
            <a:endParaRPr lang="en-US" sz="1300" dirty="0"/>
          </a:p>
        </p:txBody>
      </p:sp>
      <p:sp>
        <p:nvSpPr>
          <p:cNvPr id="28" name="Shape 26"/>
          <p:cNvSpPr/>
          <p:nvPr/>
        </p:nvSpPr>
        <p:spPr>
          <a:xfrm>
            <a:off x="8386877" y="4480560"/>
            <a:ext cx="2936138" cy="1280160"/>
          </a:xfrm>
          <a:prstGeom prst="roundRect">
            <a:avLst>
              <a:gd name="adj" fmla="val 7143"/>
            </a:avLst>
          </a:prstGeom>
          <a:solidFill>
            <a:srgbClr val="F5F2FA"/>
          </a:solidFill>
          <a:ln/>
        </p:spPr>
      </p:sp>
      <p:sp>
        <p:nvSpPr>
          <p:cNvPr id="29" name="Text 27"/>
          <p:cNvSpPr/>
          <p:nvPr/>
        </p:nvSpPr>
        <p:spPr>
          <a:xfrm>
            <a:off x="8542325" y="4599432"/>
            <a:ext cx="2661818" cy="274320"/>
          </a:xfrm>
          <a:prstGeom prst="rect">
            <a:avLst/>
          </a:prstGeom>
          <a:noFill/>
          <a:ln/>
        </p:spPr>
        <p:txBody>
          <a:bodyPr wrap="square" lIns="0" tIns="0" rIns="0" bIns="0" rtlCol="0" anchor="ctr"/>
          <a:lstStyle/>
          <a:p>
            <a:pPr algn="l" indent="0" marL="0">
              <a:buNone/>
            </a:pPr>
            <a:r>
              <a:rPr lang="en-US" sz="1050" b="1" spc="120" kern="0" dirty="0">
                <a:solidFill>
                  <a:srgbClr val="3FB27F"/>
                </a:solidFill>
                <a:latin typeface="Calibri" pitchFamily="34" charset="0"/>
                <a:ea typeface="Calibri" pitchFamily="34" charset="-122"/>
                <a:cs typeface="Calibri" pitchFamily="34" charset="-120"/>
              </a:rPr>
              <a:t>SOLUCIÓN ATRIA</a:t>
            </a:r>
            <a:endParaRPr lang="en-US" sz="1050" dirty="0"/>
          </a:p>
        </p:txBody>
      </p:sp>
      <p:sp>
        <p:nvSpPr>
          <p:cNvPr id="30" name="Text 28"/>
          <p:cNvSpPr/>
          <p:nvPr/>
        </p:nvSpPr>
        <p:spPr>
          <a:xfrm>
            <a:off x="8542325" y="4873752"/>
            <a:ext cx="2661818" cy="822960"/>
          </a:xfrm>
          <a:prstGeom prst="rect">
            <a:avLst/>
          </a:prstGeom>
          <a:noFill/>
          <a:ln/>
        </p:spPr>
        <p:txBody>
          <a:bodyPr wrap="square" lIns="0" tIns="0" rIns="0" bIns="0" rtlCol="0" anchor="t"/>
          <a:lstStyle/>
          <a:p>
            <a:pPr algn="l" indent="0" marL="0">
              <a:lnSpc>
                <a:spcPct val="103000"/>
              </a:lnSpc>
              <a:buNone/>
            </a:pPr>
            <a:r>
              <a:rPr lang="en-US" sz="1300" b="1" dirty="0">
                <a:solidFill>
                  <a:srgbClr val="1B1526"/>
                </a:solidFill>
                <a:latin typeface="Century Schoolbook" pitchFamily="34" charset="0"/>
                <a:ea typeface="Century Schoolbook" pitchFamily="34" charset="-122"/>
                <a:cs typeface="Century Schoolbook" pitchFamily="34" charset="-120"/>
              </a:rPr>
              <a:t>Pedidos y menú conectados con inventario y reportes.</a:t>
            </a:r>
            <a:endParaRPr lang="en-US" sz="1300" dirty="0"/>
          </a:p>
        </p:txBody>
      </p:sp>
      <p:sp>
        <p:nvSpPr>
          <p:cNvPr id="31" name="Text 29"/>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32" name="Text 30"/>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E2626B"/>
                </a:solidFill>
                <a:latin typeface="Calibri" pitchFamily="34" charset="0"/>
                <a:ea typeface="Calibri" pitchFamily="34" charset="-122"/>
                <a:cs typeface="Calibri" pitchFamily="34" charset="-120"/>
              </a:rPr>
              <a:t>CUIDADO CON ESTO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Errores comunes que debes evitar</a:t>
            </a:r>
            <a:endParaRPr lang="en-US" sz="3400" dirty="0"/>
          </a:p>
        </p:txBody>
      </p:sp>
      <p:sp>
        <p:nvSpPr>
          <p:cNvPr id="4" name="Shape 2"/>
          <p:cNvSpPr/>
          <p:nvPr/>
        </p:nvSpPr>
        <p:spPr>
          <a:xfrm>
            <a:off x="640080" y="2011680"/>
            <a:ext cx="10911535" cy="1897380"/>
          </a:xfrm>
          <a:prstGeom prst="roundRect">
            <a:avLst>
              <a:gd name="adj" fmla="val 5783"/>
            </a:avLst>
          </a:prstGeom>
          <a:solidFill>
            <a:srgbClr val="F5F2FA"/>
          </a:solidFill>
          <a:ln w="12700">
            <a:solidFill>
              <a:srgbClr val="E7E1F0"/>
            </a:solidFill>
            <a:prstDash val="solid"/>
          </a:ln>
        </p:spPr>
      </p:sp>
      <p:sp>
        <p:nvSpPr>
          <p:cNvPr id="5" name="Shape 3"/>
          <p:cNvSpPr/>
          <p:nvPr/>
        </p:nvSpPr>
        <p:spPr>
          <a:xfrm>
            <a:off x="960120" y="2594610"/>
            <a:ext cx="731520" cy="731520"/>
          </a:xfrm>
          <a:prstGeom prst="ellipse">
            <a:avLst/>
          </a:prstGeom>
          <a:solidFill>
            <a:srgbClr val="E2626B"/>
          </a:solidFill>
          <a:ln/>
        </p:spPr>
      </p:sp>
      <p:sp>
        <p:nvSpPr>
          <p:cNvPr id="6" name="Text 4"/>
          <p:cNvSpPr/>
          <p:nvPr/>
        </p:nvSpPr>
        <p:spPr>
          <a:xfrm>
            <a:off x="960120" y="259461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965960" y="2240280"/>
            <a:ext cx="9265615" cy="502920"/>
          </a:xfrm>
          <a:prstGeom prst="rect">
            <a:avLst/>
          </a:prstGeom>
          <a:noFill/>
          <a:ln/>
        </p:spPr>
        <p:txBody>
          <a:bodyPr wrap="square" lIns="0" tIns="0" rIns="0" bIns="0" rtlCol="0" anchor="ctr"/>
          <a:lstStyle/>
          <a:p>
            <a:pPr algn="l" indent="0" marL="0">
              <a:buNone/>
            </a:pPr>
            <a:r>
              <a:rPr lang="en-US" sz="1800" b="1" dirty="0">
                <a:solidFill>
                  <a:srgbClr val="2B1F3A"/>
                </a:solidFill>
                <a:latin typeface="Century Schoolbook" pitchFamily="34" charset="0"/>
                <a:ea typeface="Century Schoolbook" pitchFamily="34" charset="-122"/>
                <a:cs typeface="Century Schoolbook" pitchFamily="34" charset="-120"/>
              </a:rPr>
              <a:t>Mostrar TODOS los módulos</a:t>
            </a:r>
            <a:endParaRPr lang="en-US" sz="1800" dirty="0"/>
          </a:p>
        </p:txBody>
      </p:sp>
      <p:sp>
        <p:nvSpPr>
          <p:cNvPr id="8" name="Text 6"/>
          <p:cNvSpPr/>
          <p:nvPr/>
        </p:nvSpPr>
        <p:spPr>
          <a:xfrm>
            <a:off x="1965960" y="2960370"/>
            <a:ext cx="9265615" cy="811530"/>
          </a:xfrm>
          <a:prstGeom prst="rect">
            <a:avLst/>
          </a:prstGeom>
          <a:noFill/>
          <a:ln/>
        </p:spPr>
        <p:txBody>
          <a:bodyPr wrap="square" lIns="0" tIns="0" rIns="0" bIns="0" rtlCol="0" anchor="t"/>
          <a:lstStyle/>
          <a:p>
            <a:pPr algn="l" indent="0" marL="0">
              <a:lnSpc>
                <a:spcPct val="103000"/>
              </a:lnSpc>
              <a:buNone/>
            </a:pPr>
            <a:r>
              <a:rPr lang="en-US" sz="1350" dirty="0">
                <a:solidFill>
                  <a:srgbClr val="3A3348"/>
                </a:solidFill>
                <a:latin typeface="Calibri" pitchFamily="34" charset="0"/>
                <a:ea typeface="Calibri" pitchFamily="34" charset="-122"/>
                <a:cs typeface="Calibri" pitchFamily="34" charset="-120"/>
              </a:rPr>
              <a:t>Aunque el cliente solo necesite dos. Abrumas y confundes.</a:t>
            </a:r>
            <a:endParaRPr lang="en-US" sz="1350" dirty="0"/>
          </a:p>
        </p:txBody>
      </p:sp>
      <p:sp>
        <p:nvSpPr>
          <p:cNvPr id="9" name="Shape 7"/>
          <p:cNvSpPr/>
          <p:nvPr/>
        </p:nvSpPr>
        <p:spPr>
          <a:xfrm>
            <a:off x="640080" y="4274820"/>
            <a:ext cx="10911535" cy="1897380"/>
          </a:xfrm>
          <a:prstGeom prst="roundRect">
            <a:avLst>
              <a:gd name="adj" fmla="val 5783"/>
            </a:avLst>
          </a:prstGeom>
          <a:solidFill>
            <a:srgbClr val="F5F2FA"/>
          </a:solidFill>
          <a:ln w="12700">
            <a:solidFill>
              <a:srgbClr val="E7E1F0"/>
            </a:solidFill>
            <a:prstDash val="solid"/>
          </a:ln>
        </p:spPr>
      </p:sp>
      <p:sp>
        <p:nvSpPr>
          <p:cNvPr id="10" name="Shape 8"/>
          <p:cNvSpPr/>
          <p:nvPr/>
        </p:nvSpPr>
        <p:spPr>
          <a:xfrm>
            <a:off x="960120" y="4857750"/>
            <a:ext cx="731520" cy="731520"/>
          </a:xfrm>
          <a:prstGeom prst="ellipse">
            <a:avLst/>
          </a:prstGeom>
          <a:solidFill>
            <a:srgbClr val="E2626B"/>
          </a:solidFill>
          <a:ln/>
        </p:spPr>
      </p:sp>
      <p:sp>
        <p:nvSpPr>
          <p:cNvPr id="11" name="Text 9"/>
          <p:cNvSpPr/>
          <p:nvPr/>
        </p:nvSpPr>
        <p:spPr>
          <a:xfrm>
            <a:off x="960120" y="485775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1965960" y="4503420"/>
            <a:ext cx="9265615" cy="502920"/>
          </a:xfrm>
          <a:prstGeom prst="rect">
            <a:avLst/>
          </a:prstGeom>
          <a:noFill/>
          <a:ln/>
        </p:spPr>
        <p:txBody>
          <a:bodyPr wrap="square" lIns="0" tIns="0" rIns="0" bIns="0" rtlCol="0" anchor="ctr"/>
          <a:lstStyle/>
          <a:p>
            <a:pPr algn="l" indent="0" marL="0">
              <a:buNone/>
            </a:pPr>
            <a:r>
              <a:rPr lang="en-US" sz="1800" b="1" dirty="0">
                <a:solidFill>
                  <a:srgbClr val="2B1F3A"/>
                </a:solidFill>
                <a:latin typeface="Century Schoolbook" pitchFamily="34" charset="0"/>
                <a:ea typeface="Century Schoolbook" pitchFamily="34" charset="-122"/>
                <a:cs typeface="Century Schoolbook" pitchFamily="34" charset="-120"/>
              </a:rPr>
              <a:t>Hablar de funciones sin problema</a:t>
            </a:r>
            <a:endParaRPr lang="en-US" sz="1800" dirty="0"/>
          </a:p>
        </p:txBody>
      </p:sp>
      <p:sp>
        <p:nvSpPr>
          <p:cNvPr id="13" name="Text 11"/>
          <p:cNvSpPr/>
          <p:nvPr/>
        </p:nvSpPr>
        <p:spPr>
          <a:xfrm>
            <a:off x="1965960" y="5223510"/>
            <a:ext cx="9265615" cy="811530"/>
          </a:xfrm>
          <a:prstGeom prst="rect">
            <a:avLst/>
          </a:prstGeom>
          <a:noFill/>
          <a:ln/>
        </p:spPr>
        <p:txBody>
          <a:bodyPr wrap="square" lIns="0" tIns="0" rIns="0" bIns="0" rtlCol="0" anchor="t"/>
          <a:lstStyle/>
          <a:p>
            <a:pPr algn="l" indent="0" marL="0">
              <a:lnSpc>
                <a:spcPct val="103000"/>
              </a:lnSpc>
              <a:buNone/>
            </a:pPr>
            <a:r>
              <a:rPr lang="en-US" sz="1350" dirty="0">
                <a:solidFill>
                  <a:srgbClr val="3A3348"/>
                </a:solidFill>
                <a:latin typeface="Calibri" pitchFamily="34" charset="0"/>
                <a:ea typeface="Calibri" pitchFamily="34" charset="-122"/>
                <a:cs typeface="Calibri" pitchFamily="34" charset="-120"/>
              </a:rPr>
              <a:t>Listar características sin conectarlas a un dolor real no vende.</a:t>
            </a:r>
            <a:endParaRPr lang="en-US" sz="1350" dirty="0"/>
          </a:p>
        </p:txBody>
      </p:sp>
      <p:sp>
        <p:nvSpPr>
          <p:cNvPr id="14" name="Text 12"/>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02</a:t>
            </a:r>
            <a:endParaRPr lang="en-US" sz="900" dirty="0"/>
          </a:p>
        </p:txBody>
      </p:sp>
      <p:sp>
        <p:nvSpPr>
          <p:cNvPr id="15" name="Text 13"/>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35 min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64008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PARA RECORDAR</a:t>
            </a:r>
            <a:endParaRPr lang="en-US" sz="1150" dirty="0"/>
          </a:p>
        </p:txBody>
      </p:sp>
      <p:sp>
        <p:nvSpPr>
          <p:cNvPr id="4" name="Text 1"/>
          <p:cNvSpPr/>
          <p:nvPr/>
        </p:nvSpPr>
        <p:spPr>
          <a:xfrm>
            <a:off x="640080" y="1005840"/>
            <a:ext cx="10911535" cy="914400"/>
          </a:xfrm>
          <a:prstGeom prst="rect">
            <a:avLst/>
          </a:prstGeom>
          <a:noFill/>
          <a:ln/>
        </p:spPr>
        <p:txBody>
          <a:bodyPr wrap="square" lIns="0" tIns="0" rIns="0" bIns="0" rtlCol="0" anchor="t"/>
          <a:lstStyle/>
          <a:p>
            <a:pPr algn="l" indent="0" marL="0">
              <a:buNone/>
            </a:pPr>
            <a:r>
              <a:rPr lang="en-US" sz="3600" b="1" dirty="0">
                <a:solidFill>
                  <a:srgbClr val="FFFFFF"/>
                </a:solidFill>
                <a:latin typeface="Century Schoolbook" pitchFamily="34" charset="0"/>
                <a:ea typeface="Century Schoolbook" pitchFamily="34" charset="-122"/>
                <a:cs typeface="Century Schoolbook" pitchFamily="34" charset="-120"/>
              </a:rPr>
              <a:t>Lo que te llevas de este módulo</a:t>
            </a:r>
            <a:endParaRPr lang="en-US" sz="3600" dirty="0"/>
          </a:p>
        </p:txBody>
      </p:sp>
      <p:sp>
        <p:nvSpPr>
          <p:cNvPr id="5" name="Shape 2"/>
          <p:cNvSpPr/>
          <p:nvPr/>
        </p:nvSpPr>
        <p:spPr>
          <a:xfrm>
            <a:off x="640080" y="233172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6" name="Shape 3"/>
          <p:cNvSpPr/>
          <p:nvPr/>
        </p:nvSpPr>
        <p:spPr>
          <a:xfrm>
            <a:off x="896112" y="258622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7" name="Text 4"/>
          <p:cNvSpPr/>
          <p:nvPr/>
        </p:nvSpPr>
        <p:spPr>
          <a:xfrm>
            <a:off x="896112" y="258622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1</a:t>
            </a:r>
            <a:endParaRPr lang="en-US" sz="2200" dirty="0"/>
          </a:p>
        </p:txBody>
      </p:sp>
      <p:sp>
        <p:nvSpPr>
          <p:cNvPr id="8" name="Text 5"/>
          <p:cNvSpPr/>
          <p:nvPr/>
        </p:nvSpPr>
        <p:spPr>
          <a:xfrm>
            <a:off x="1691640" y="233172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Cada módulo de ATRIA resuelve un problema concreto.</a:t>
            </a:r>
            <a:endParaRPr lang="en-US" sz="1600" dirty="0"/>
          </a:p>
        </p:txBody>
      </p:sp>
      <p:sp>
        <p:nvSpPr>
          <p:cNvPr id="9" name="Shape 6"/>
          <p:cNvSpPr/>
          <p:nvPr/>
        </p:nvSpPr>
        <p:spPr>
          <a:xfrm>
            <a:off x="640080" y="371856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0" name="Shape 7"/>
          <p:cNvSpPr/>
          <p:nvPr/>
        </p:nvSpPr>
        <p:spPr>
          <a:xfrm>
            <a:off x="896112" y="397306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8"/>
          <p:cNvSpPr/>
          <p:nvPr/>
        </p:nvSpPr>
        <p:spPr>
          <a:xfrm>
            <a:off x="896112" y="397306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2</a:t>
            </a:r>
            <a:endParaRPr lang="en-US" sz="2200" dirty="0"/>
          </a:p>
        </p:txBody>
      </p:sp>
      <p:sp>
        <p:nvSpPr>
          <p:cNvPr id="12" name="Text 9"/>
          <p:cNvSpPr/>
          <p:nvPr/>
        </p:nvSpPr>
        <p:spPr>
          <a:xfrm>
            <a:off x="1691640" y="371856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Conecta siempre: función → problema → beneficio.</a:t>
            </a:r>
            <a:endParaRPr lang="en-US" sz="1600" dirty="0"/>
          </a:p>
        </p:txBody>
      </p:sp>
      <p:sp>
        <p:nvSpPr>
          <p:cNvPr id="13" name="Shape 10"/>
          <p:cNvSpPr/>
          <p:nvPr/>
        </p:nvSpPr>
        <p:spPr>
          <a:xfrm>
            <a:off x="640080" y="510540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4" name="Shape 11"/>
          <p:cNvSpPr/>
          <p:nvPr/>
        </p:nvSpPr>
        <p:spPr>
          <a:xfrm>
            <a:off x="896112" y="535990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5" name="Text 12"/>
          <p:cNvSpPr/>
          <p:nvPr/>
        </p:nvSpPr>
        <p:spPr>
          <a:xfrm>
            <a:off x="896112" y="535990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3</a:t>
            </a:r>
            <a:endParaRPr lang="en-US" sz="2200" dirty="0"/>
          </a:p>
        </p:txBody>
      </p:sp>
      <p:sp>
        <p:nvSpPr>
          <p:cNvPr id="16" name="Text 13"/>
          <p:cNvSpPr/>
          <p:nvPr/>
        </p:nvSpPr>
        <p:spPr>
          <a:xfrm>
            <a:off x="1691640" y="510540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No todos los clientes necesitan todo. Elige lo relevante.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10048" y="1005840"/>
            <a:ext cx="1371600" cy="1371600"/>
          </a:xfrm>
          <a:prstGeom prst="rect">
            <a:avLst/>
          </a:prstGeom>
          <a:noFill/>
          <a:ln/>
        </p:spPr>
        <p:txBody>
          <a:bodyPr wrap="square" lIns="0" tIns="0" rIns="0" bIns="0" rtlCol="0" anchor="ctr"/>
          <a:lstStyle/>
          <a:p>
            <a:pPr algn="ctr" indent="0" marL="0">
              <a:buNone/>
            </a:pPr>
            <a:r>
              <a:rPr lang="en-US" sz="6000" b="1" dirty="0">
                <a:solidFill>
                  <a:srgbClr val="A18BCF"/>
                </a:solidFill>
                <a:latin typeface="Calibri" pitchFamily="34" charset="0"/>
                <a:ea typeface="Calibri" pitchFamily="34" charset="-122"/>
                <a:cs typeface="Calibri" pitchFamily="34" charset="-120"/>
              </a:rPr>
              <a:t>✓</a:t>
            </a:r>
            <a:endParaRPr lang="en-US" sz="6000" dirty="0"/>
          </a:p>
        </p:txBody>
      </p:sp>
      <p:sp>
        <p:nvSpPr>
          <p:cNvPr id="4" name="Text 1"/>
          <p:cNvSpPr/>
          <p:nvPr/>
        </p:nvSpPr>
        <p:spPr>
          <a:xfrm>
            <a:off x="640080" y="2331720"/>
            <a:ext cx="10911535" cy="292608"/>
          </a:xfrm>
          <a:prstGeom prst="rect">
            <a:avLst/>
          </a:prstGeom>
          <a:noFill/>
          <a:ln/>
        </p:spPr>
        <p:txBody>
          <a:bodyPr wrap="square" lIns="0" tIns="0" rIns="0" bIns="0" rtlCol="0" anchor="ctr"/>
          <a:lstStyle/>
          <a:p>
            <a:pPr algn="ctr" indent="0" marL="0">
              <a:buNone/>
            </a:pPr>
            <a:r>
              <a:rPr lang="en-US" sz="1200" b="1" spc="300" kern="0" dirty="0">
                <a:solidFill>
                  <a:srgbClr val="C9B8F0"/>
                </a:solidFill>
                <a:latin typeface="Calibri" pitchFamily="34" charset="0"/>
                <a:ea typeface="Calibri" pitchFamily="34" charset="-122"/>
                <a:cs typeface="Calibri" pitchFamily="34" charset="-120"/>
              </a:rPr>
              <a:t>CIERRE DEL MÓDULO 02</a:t>
            </a:r>
            <a:endParaRPr lang="en-US" sz="1200" dirty="0"/>
          </a:p>
        </p:txBody>
      </p:sp>
      <p:sp>
        <p:nvSpPr>
          <p:cNvPr id="5" name="Text 2"/>
          <p:cNvSpPr/>
          <p:nvPr/>
        </p:nvSpPr>
        <p:spPr>
          <a:xfrm>
            <a:off x="640080" y="2651760"/>
            <a:ext cx="10911535" cy="914400"/>
          </a:xfrm>
          <a:prstGeom prst="rect">
            <a:avLst/>
          </a:prstGeom>
          <a:noFill/>
          <a:ln/>
        </p:spPr>
        <p:txBody>
          <a:bodyPr wrap="square" lIns="0" tIns="0" rIns="0" bIns="0" rtlCol="0" anchor="t"/>
          <a:lstStyle/>
          <a:p>
            <a:pPr algn="ctr" indent="0" marL="0">
              <a:buNone/>
            </a:pPr>
            <a:r>
              <a:rPr lang="en-US" sz="4200" b="1" dirty="0">
                <a:solidFill>
                  <a:srgbClr val="FFFFFF"/>
                </a:solidFill>
                <a:latin typeface="Century Schoolbook" pitchFamily="34" charset="0"/>
                <a:ea typeface="Century Schoolbook" pitchFamily="34" charset="-122"/>
                <a:cs typeface="Century Schoolbook" pitchFamily="34" charset="-120"/>
              </a:rPr>
              <a:t>Ya dominas el producto</a:t>
            </a:r>
            <a:endParaRPr lang="en-US" sz="4200" dirty="0"/>
          </a:p>
        </p:txBody>
      </p:sp>
      <p:sp>
        <p:nvSpPr>
          <p:cNvPr id="6" name="Text 3"/>
          <p:cNvSpPr/>
          <p:nvPr/>
        </p:nvSpPr>
        <p:spPr>
          <a:xfrm>
            <a:off x="1645920" y="3611880"/>
            <a:ext cx="8899855" cy="1097280"/>
          </a:xfrm>
          <a:prstGeom prst="rect">
            <a:avLst/>
          </a:prstGeom>
          <a:noFill/>
          <a:ln/>
        </p:spPr>
        <p:txBody>
          <a:bodyPr wrap="square" lIns="0" tIns="0" rIns="0" bIns="0" rtlCol="0" anchor="t"/>
          <a:lstStyle/>
          <a:p>
            <a:pPr algn="ctr" indent="0" marL="0">
              <a:lnSpc>
                <a:spcPct val="110000"/>
              </a:lnSpc>
              <a:buNone/>
            </a:pPr>
            <a:r>
              <a:rPr lang="en-US" sz="1800" i="1" dirty="0">
                <a:solidFill>
                  <a:srgbClr val="E7DEF7"/>
                </a:solidFill>
                <a:latin typeface="Calibri" pitchFamily="34" charset="0"/>
                <a:ea typeface="Calibri" pitchFamily="34" charset="-122"/>
                <a:cs typeface="Calibri" pitchFamily="34" charset="-120"/>
              </a:rPr>
              <a:t>Conoces cada módulo de ATRIA y sabes conectarlo con un problema real. Ese es el conocimiento que da seguridad.</a:t>
            </a:r>
            <a:endParaRPr lang="en-US" sz="1800" dirty="0"/>
          </a:p>
        </p:txBody>
      </p:sp>
      <p:sp>
        <p:nvSpPr>
          <p:cNvPr id="7" name="Shape 4"/>
          <p:cNvSpPr/>
          <p:nvPr/>
        </p:nvSpPr>
        <p:spPr>
          <a:xfrm>
            <a:off x="1645920" y="4892040"/>
            <a:ext cx="8899855" cy="1005840"/>
          </a:xfrm>
          <a:prstGeom prst="roundRect">
            <a:avLst>
              <a:gd name="adj" fmla="val 12727"/>
            </a:avLst>
          </a:prstGeom>
          <a:solidFill>
            <a:srgbClr val="FFFFFF">
              <a:alpha val="12000"/>
            </a:srgbClr>
          </a:solidFill>
          <a:ln w="9525">
            <a:solidFill>
              <a:srgbClr val="FFFFFF">
                <a:alpha val="45000"/>
              </a:srgbClr>
            </a:solidFill>
            <a:prstDash val="solid"/>
          </a:ln>
        </p:spPr>
      </p:sp>
      <p:sp>
        <p:nvSpPr>
          <p:cNvPr id="8" name="Text 5"/>
          <p:cNvSpPr/>
          <p:nvPr/>
        </p:nvSpPr>
        <p:spPr>
          <a:xfrm>
            <a:off x="2011680" y="4892040"/>
            <a:ext cx="8168335" cy="100584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Siguiente paso: presenta el examen del Módulo 02 y continúa con el Módulo 03 — Cliente ideal.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ATRIA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ATRIA · Módulo 02 · Dominio del producto</dc:title>
  <dc:subject>Dominio del producto</dc:subject>
  <dc:creator>Academia Comercial ATRIA</dc:creator>
  <cp:lastModifiedBy>Academia Comercial ATRIA</cp:lastModifiedBy>
  <cp:revision>1</cp:revision>
  <dcterms:created xsi:type="dcterms:W3CDTF">2026-08-03T02:46:46Z</dcterms:created>
  <dcterms:modified xsi:type="dcterms:W3CDTF">2026-08-03T02:46:46Z</dcterms:modified>
</cp:coreProperties>
</file>