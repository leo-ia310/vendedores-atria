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 al Módulo 7 de la Academia Comercial ATRIA: presentación y demostración. Si llegaste hasta aquí, quiero que te des cuenta de todo lo que ya recorriste, porque no es poco. Ya sabes qué es ATRIA, ya dominas el producto módulo por módulo, ya sabes identificar al cliente ideal, ya sabes prospectar para conseguir reuniones y ya sabes diagnosticar para entender al cliente. Con todo eso en tu mochila, llega ahora uno de los momentos más emocionantes y más decisivos de toda la venta: la demostración. La demo es el momento de la verdad, donde el cliente por fin ve ATRIA funcionando con sus propios ojos, donde deja de imaginarse cómo será y empieza a creer que esto es real y que es para él. Es donde las palabras se vuelven hechos. Pero quiero advertirte algo desde el primer minuto, porque es el error que arruina más demostraciones y hace que vendedores con buen producto pierdan ventas que tenían ganadas. Escúchalo bien: una buena demostración no muestra todo el producto. Una buena demostración muestra exactamente lo que le importa al cliente que tienes enfrente, y nada más. En los próximos treinta y cinco minutos vas a aprender, paso a paso, a preparar una demo con inteligencia, a estructurarla con un método claro, a adaptarla a quince, treinta o cuarenta y cinco minutos según el caso y el tiempo que tengas, a manejar el caso especial de los restaurantes, y a evitar los errores que hacen que una demo, por buena que parezca, se caiga al final. Cuando termines, vas a poder tomar todo lo que descubriste en el diagnóstico y convertirlo en una demostración que conecta, que emociona y que cierra. Este es un módulo muy práctico, así que presta mucha atención. Empecemos.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plan de vuelo completo del módulo, para que sepas hacia dónde vamos. Vamos a empezar por la preparación, y no es casualidad que sea lo primero, porque una demostración se gana o se pierde antes de empezar, en la decisión silenciosa de qué vas a mostrar y qué vas a dejar fuera. La mayoría de los vendedores subestima esta parte, y ahí pierden. Luego veremos la estructura en cuatro pasos, que es el esqueleto que te va a servir para cualquier demo, con cualquier cliente, de cualquier rubro; un método que puedes repetir siempre. Después aprenderemos a adaptar la duración de la demo: veremos formatos de quince, de treinta y de cuarenta y cinco minutos, porque en la realidad no siempre tienes el mismo tiempo disponible ni el cliente necesita ver lo mismo. Saber ajustar el formato es señal de profesionalismo. Enseguida le dedicaremos un espacio especial y merecido al caso del restaurante, que tiene un flujo mínimo que siempre, sin excepción, debe mostrarse completo. Y cerraremos con los errores que hunden una demostración, esos que debes conocer bien para no cometerlos nunca. Como ves, cada bloque de este módulo te entrega una herramienta concreta y aplicable. Así que vamos a arrancar con la base de todo: la preparación.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la técnica y en los pasos concretos, necesito que interiorices el principio que gobierna absolutamente todo este módulo. Si entiendes esta sola idea de verdad, en el fondo, todo lo demás va a caer por su propio peso y te va a parecer obvio. Aquí va: una demo no muestra todo el producto; muestra solo lo que le importa al cliente que tienes enfrente. Repítelo en tu mente, porque va en contra del instinto natural del vendedor. El instinto te dice que mientras más funciones muestres, más valor entregas, ¿verdad? Pues es exactamente al revés. Mientras más funciones irrelevantes le muestras a un cliente, más diluyes tu mensaje central, más lo aburres y más lo confundes. Cada pantalla que abres y que no tiene que ver con su problema es una pantalla que le resta fuerza y claridad a tu demostración. Quiero que cambies la imagen mental que tienes de lo que es una demo. No la pienses como una exhibición del producto, como un desfile donde muestras todo lo bonito que tiene ATRIA. Piénsala, en cambio, como lo que realmente es: una prueba en vivo de que el problema específico del cliente tiene solución. El cliente, en el fondo, no quiere ver un software; no le interesa el software en sí. Lo que quiere ver es su propio dolor resuelto en la pantalla, su propia operación funcionando ordenada. Esa es toda la diferencia entre una demo que simplemente impresiona por un rato y luego se olvida, y una demo que de verdad vende y mueve al cliente a decidir. Con este principio bien clavado en la cabeza, ahora sí, vamos a la preparación.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preparación es donde de verdad se gana la demostración, y sin embargo es la parte a la que casi nadie le da la importancia que merece. Los vendedores flojos improvisan; los buenos preparan. Aquí va la regla concreta que quiero que apliques siempre: con todo lo que descubriste en el diagnóstico, esa conversación previa donde entendiste cómo trabaja el negocio y cuáles son sus dolores, elige solamente dos o tres módulos relevantes para mostrar. No más de tres. Y no muestres funciones irrelevantes, por muy impresionantes o llamativas que te parezcan a ti como vendedor. Fíjate en la conexión profunda que existe entre el módulo de diagnóstico y este de demostración, porque es fundamental: sin diagnóstico, no hay demo posible. Lo que aprendiste del cliente en el diagnóstico es, literalmente, el guion de lo que vas a mostrar en la demo. No es una frase bonita, es así de directo. Si diagnosticaste bien, entonces ya sabes cuáles son los dos o tres dolores principales de ese negocio, y esos dolores te están diciendo, casi que te están dictando, exactamente qué pantallas debes abrir y cuáles debes dejar cerradas. Te doy un ejemplo para que quede clarísimo. Supón que en el diagnóstico el cliente te dijo dos cosas: que se le pierden productos constantemente y que su contabilidad va siempre atrasada. Bien, entonces tu demo tiene que girar en torno a dos módulos, y solo dos: inventario y contabilidad automática. Punto. No abras el módulo de restaurantes si estás con una ferretería. No te pongas a mostrar el multi-sucursal si tiene un solo local. Cada minuto que gastes en algo que no es su dolor es un minuto que le robas a lo que sí le importa. Mi consejo práctico: prepara tu demo la noche anterior, o al menos un rato antes, con el diagnóstico en la mano, decidiendo con calma qué vas a mostrar, en qué orden, y con qué ejemplos. Un asesor que llega preparado transmite una seguridad y un profesionalismo que el cliente percibe de inmediato, incluso antes de que abras la primera pantalla. La preparación se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te voy a dar el esqueleto que sirve para toda demostración, sin importar el cliente, el rubro ni la duración. Es un método de cuatro pasos, y van siempre en este orden. Te los presento primero de corrido y luego los profundizamos uno por uno. Paso uno: recap del dolor. Antes de mostrar una sola pantalla, dedica alrededor de un minuto a recordarle al cliente el problema que él mismo te contó en el diagnóstico. Algo como: «Usted me dijo que se le pierden productos y que nunca sabe con certeza cuánto ganó realmente en el mes». Esto logra dos cosas poderosas al mismo tiempo: le demuestra que lo escuchaste con atención, y prepara su mente para valorar la solución que viene. Paso dos: la solución en vivo, enfocada. Este es el núcleo de la demo, el grueso de tu tiempo y de tu energía. Aquí muestras ATRIA resolviendo exactamente ese dolor, en vivo, con datos que se parezcan a los de su propio negocio. No navegues por menús que no vienen al caso, no te distraigas; ve directo a resolver el problema que él te planteó. Paso tres: el beneficio en dinero o en tiempo. Después de que el cliente vio la solución funcionando, no des por hecho que él solito sacó la cuenta del valor. Tradúcesela tú: «Mire, esto que acaba de ver le ahorra alrededor de diez horas al mes de cuadres, o le evita esas pérdidas de mercadería vencida que me contaba». Los números convencen mucho más que los adjetivos. Y paso cuatro: cierre más próximo paso. Nunca, nunca termines una demo sin dos cosas: confirmar el interés del cliente y definir claramente qué sigue, con fecha. Puede ser una propuesta, una segunda reunión, el registro. Estos cuatro pasos, recap, solución, beneficio y cierre, son tu mapa para cualquier demostración. Ahora vamos a verlos uno por uno, con más detalle, porque cada uno tiene su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profundizar en el paso uno, el recap del dolor, porque es, paradójicamente, el que más gente se salta y a la vez el que más impacto tiene en toda la demostración. Es un minuto que vale oro. La técnica es simple: antes de mostrar absolutamente nada en la pantalla, antes de tocar el teclado, le repites al cliente su propio problema, con sus propias palabras si es posible, tal como te lo contó en el diagnóstico. Por ejemplo, a un dueño de restaurante le dirías: «Usted me dijo que los pedidos se confunden entre el salón y la cocina, y que no sabe cuáles de sus platos le dejan más margen y cuáles casi nada». ¿Por qué es tan poderoso arrancar así, en lugar de ir directo a mostrar el sistema? Por tres razones muy concretas. La primera razón: le demuestras, sin decírselo, que de verdad lo escuchaste durante el diagnóstico. No eres un vendedor genérico que repite el mismo discurso a todo el mundo; eres alguien que entendió su negocio en particular, y eso genera una confianza enorme. La segunda razón: enfocas su mente en su propio problema. Al recordarle su dolor, haces que reviva por un momento la molestia, la frustración; y así, cuando aparezca la solución en la pantalla, él va a estar mentalmente listo, incluso ansioso, por valorarla. Y la tercera razón, quizás la más importante: creas un contraste perfecto, casi cinematográfico. Primero el dolor, la incomodidad; e inmediatamente después, el alivio, la solución. Ese contraste entre el antes y el después es justamente lo que hace que la solución se sienta valiosa y deseable. Un producto sin un problema al lado no vale nada; un producto que llega justo después de recordar el dolor, vale muchísimo. Así que grábate esto: un minuto bien invertido aquí, en el recap del dolor, rinde más que diez minutos de demo a las carreras. Nunca, jamás, te lo saltes por querer llegar rápido al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dos es el corazón de la demostración, es donde pasas la mayor parte del tiempo, y por eso merece que le dediquemos atención especial. Aquí es donde muestras ATRIA resolviendo el dolor, en vivo y en directo. Pero hay una técnica concreta que separa una demo profesional de una demo torpe y amateur, y te la voy a dar. La técnica es esta: antes de abrir cada pantalla, di en voz alta qué problema vas a resolver con ella. Repito, porque es sutil pero poderoso: no abras la pantalla y luego expliques qué es; primero anuncia qué vas a resolver, y después muestra. Es la diferencia entre «mire, este es el módulo de pedidos» y «usted me contó que los pedidos se le confunden; le voy a mostrar cómo con ATRIA se toma un pedido, se cobra y queda registrado, todo en un solo flujo, sin confusión». ¿Sientes cómo la segunda forma crea expectativa y le da sentido a lo que va a ver? Anuncia, y luego demuestra. El segundo consejo para este paso: usa datos que se parezcan a los del negocio del cliente. Si estás con una ferretería, mete en el sistema tornillos, pinturas, herramientas, cosas que él vende. Si es un restaurante, usa platos reales de su menú si los conoces, con sus nombres. ¿Por qué? Porque mientras más se reconozca el cliente en la pantalla, mientras más sienta que eso es su negocio y no un ejemplo genérico de laboratorio, más lo va a hacer suyo emocionalmente. Un dato genérico distancia; un dato familiar acerca. Y el tercer consejo, que es el más importante de este paso y de todo el módulo: enseña lo suficiente para que el cliente vea su operación más ordenada, no para que vea todo ATRIA. Una demo excelente no enseña el producto completo, con todos sus botones y menús; enseña justo lo necesario para que el cliente diga, en su cabeza: «así se vería mi negocio, por fin ordenado». Resiste la tentación, que va a ser fuerte, de mostrar de más, de lucirte con esa función extra tan bonita. Cada clic que no resuelve su dolor específico es un clic que le resta fuerza, foco y claridad a tu demostración. Menos, pero al blanco.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tres es donde muchísimas demos se quedan cortas y pierden la venta en la línea de meta. El vendedor muestra la solución con orgullo, el cliente asiente y dice «qué bien», y ahí, justo ahí, el vendedor se detiene, creyendo que ya terminó. Pero falta el paso que convierte el simple interés en una decisión de compra: traducir todo lo que el cliente vio a un beneficio concreto, medido en dinero y en tiempo. Recuerda siempre un principio de fondo que rige toda venta: el cliente no compra funciones, el cliente compra resultados. A nadie, en el fondo, le emociona un asiento contable que se genera automáticamente; eso es una función. Lo que sí emociona a cualquier dueño de negocio es ahorrarse diez horas al mes de trabajo tedioso y dejar de pagarle a alguien por cuadres atrasados; eso es un resultado. Así que después de mostrar cada solución en la pantalla, tradúcela tú mismo, no esperes a que el cliente haga la cuenta solo, porque muchas veces no la hace. Por ejemplo, le dirías: «Esto que acaba de ver, la contabilidad que se arma sola con cada venta que usted hace, le ahorra alrededor de diez horas de cuadres al mes, y además le evita las pérdidas por productos vencidos que me comentaba». Fíjate en la mecánica de lo que hice: convertí cada función en una de tres monedas que todo dueño entiende: dinero ahorrado, tiempo ganado o riesgo evitado. Esos son los tres idiomas universales del comercio, y debes hablar al menos uno en cada beneficio. Y un detalle técnico que hace toda la diferencia: usa números siempre que puedas, aunque sean estimados razonables y honestos. ¿Por qué? Porque los números hacen tangible, concreto, agarrable, lo que los adjetivos solo prometen en el aire. Decir «esto es muy útil, muy bueno» no vende nada, porque es vago. Decir «esto le ahorra diez horas al mes» sí vende, porque el cliente puede imaginarse esas diez horas, puede tocarlas. Traduce siempre a valor, y traduce con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llegamos al paso cuatro, el cierre de la demo, que es donde se pierden una cantidad increíble de ventas por un error tan simple como no pedir el siguiente paso. El vendedor hace todo bien y al final se despide con un tibio «cualquier cosa me avisa», y ahí muere la oportunidad. No dejes que te pase. Nunca, nunca termines una demostración sin hacer dos cosas concretas. La primera: confirma el interés del cliente con una pregunta directa, sin miedo y sin rodeos. Pregúntale abiertamente: «¿Cómo ve lo que le mostré?», «¿Esto resolvería lo que hablábamos al principio?», «¿Le hace sentido para su negocio?». Y luego cállate y deja que el cliente se pronuncie. Su respuesta te va a decir exactamente en qué punto está y qué le falta para decidir. No adivines: pregunta. La segunda cosa: define siempre un siguiente paso concreto y con fecha. No lo dejes flotando en un vago «yo le aviso» o «ahí estamos en contacto», porque eso es la muerte lenta de la venta. Di algo específico y con compromiso, como: «¿Le parece si preparo la propuesta con el plan que cubre justo este flujo que le mostré, y la vemos juntos el jueves a esta misma hora?». Fíjate que ahí hay una acción concreta, la propuesta, y una fecha concreta, el jueves. Entiende bien esto: una demo sin próximo paso definido es una conversación que se enfría, y una conversación fría es una venta que se muere despacio, sin que te des cuenta, mientras el cliente se distrae con los mil asuntos de su día a día. El próximo paso puede ser muchas cosas según el caso: una propuesta formal, una segunda reunión ahora con el dueño o con el socio, una prueba del sistema, o directamente el registro si el cliente ya está convencido y listo. Lo importante, lo innegociable, es que salgas de esa demostración con una fecha y una acción claramente acordadas entre los dos. Así mantienes vivo el impulso que generaste y demuestras un profesionalismo que el cliente valora y respeta.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todas las demostraciones duran lo mismo ni deben durar lo mismo, y saber adaptar la duración con criterio es una marca clara de profesionalismo que te diferencia. Te voy a dar tres formatos que puedes usar según el tiempo que tengas disponible y según el nivel de interés y de avance del cliente. Empecemos por la demo de quince minutos. Aquí vas directo al dolor principal del cliente, el número uno, y lo resuelves en vivo, sin rodeos ni preámbulos largos. Este formato es ideal para un primer acercamiento, cuando el cliente tiene poco tiempo, o cuando tu objetivo es abrir la puerta para conseguir una segunda reunión más larga después. Y no lo subestimes: un solo dolor, resuelto con claridad y contundencia, deja mucho mejor sabor de boca que diez funciones mostradas a las carreras y a medias. En quince minutos, calidad y foco por encima de cantidad. Sigamos con la demo de treinta minutos. En este formato resuelves el dolor principal del cliente y, además, le sumas la contabilidad automática. Y quizás te preguntes: ¿por qué siempre la contabilidad, incluso si no la pidió? Por una razón muy comercial: porque la contabilidad automática casi siempre suma valor y sorprende, incluso a clientes que ni sabían que la necesitaban. Es nuestro as bajo la manga, ese «ah, ¿y también hace esto?» que eleva la percepción de valor de todo el producto. Por eso, si tienes treinta minutos, casi siempre vale la pena incluirla. Y finalmente, la demo de cuarenta y cinco minutos, que es el recorrido más completo. Aquí muestras el dolor principal, la contabilidad y también los reportes. ¿Para quién es este formato largo? Es para clientes que ya tienen una decisión avanzada y quieren ver todo antes de dar el sí, o para cuando hay varias personas en la sala, como el dueño junto con su contador o su socio, y cada uno necesita ver la parte que le toca y le preocupa. La clave de todo esto, y con esto cierro, está en no confundir los formatos ni equivocarte de talla: no le des una demo maratónica de cuarenta y cinco minutos a alguien que solo tiene quince y va a estar mirando el reloj, ni tampoco despaches en quince minutos apurados a un cliente que ya está listo para decidir y que quería ver todo con calma. Lee el momento, lee al cliente, y elige el formato adecuado. Esa lectura es parte del arte de vender.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dedicarle un espacio propio y detallado al caso del restaurante, porque tiene una particularidad que no puedes pasar por alto si quieres vender en el sector de la comida, que es enorme. En un restaurante, por corta que sea la demo, aunque solo tengas quince minutos, hay un flujo mínimo que siempre, sin excepción, debe verse completo. Ese flujo tiene cuatro pasos encadenados: menú, pedido, cobro y efecto en el inventario de insumos. Déjame explicarte por qué los cuatro pasos son obligatorios y por qué mostrarlos completos es lo que cierra ventas en restaurantes. Empiezas mostrando el menú cargado en el sistema, con sus platos, sus categorías y sus precios; que el dueño vea su carta ahí, digital y ordenada. Luego tomas un pedido, tal como lo haría un mesero capturándolo en una mesa real; eliges los platos, las cantidades, y el pedido queda registrado y viaja hacia la cocina sin papelitos de por medio. Después, ese mismo pedido pasa directo al cobro, y aquí el cliente ve algo que le encanta: cómo la caja cobra exactamente lo que se pidió, ni un plato de más ni uno de menos, sin errores ni «se me olvidó cobrar el postre». Y finalmente, y este es el paso que sella la demostración y que muchos vendedores olvidan mostrar, enseñas el efecto en el inventario: cómo, al vender ese plato, ATRIA descontó automáticamente los insumos y los ingredientes que se usaron para prepararlo. ¿Por qué es tan importante mostrar el flujo completo, los cuatro pasos, y no solo la caja bonita? Porque eso, precisamente eso, es lo que le prueba al dueño que ATRIA entiende su operación de verdad, de principio a fin, y que no es solamente una caja registradora más vestida de moderna. Cuando el dueño de un restaurante ve con sus propios ojos que un solo plato vendido mueve al mismo tiempo la caja y el inventario de insumos, hace clic en su cabeza: entiende que por fin va a tener control real sobre su negocio, sobre su dinero y sobre sus ingredientes. Ese momento de comprensión es exactamente el que cierra restaurantes. Así que grábate esos cuatro pasos como una secuencia sagrada: menú, pedido, cobro, inventario. Son el corazón de toda demostración gastronómica, y mostrarlos completos es tu mejor argumento de venta en ese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cerrar el módulo, vamos a hablar de los dos errores que hunden una demostración, para que los tengas siempre presentes y los evites de manera consciente. Son los dos más letales, y curiosamente son fáciles de cometer si no estás atento. El primer error es la demo genérica sin diagnóstico. Es el vendedor que muestra exactamente lo mismo a todos los clientes, con las mismas pantallas, en el mismo orden y con el mismo discurso memorizado, sin haberse tomado el tiempo de entender ese negocio en particular. El cliente lo detecta de inmediato, casi por instinto: se da cuenta de que está viendo una presentación enlatada, de molde, una que le sirve igual a él que al negocio de al lado, y en ese momento desconecta emocionalmente. Siente que no le estás hablando a él, sino a un cliente genérico que no existe. Recuérdalo siempre: sin diagnóstico previo, no hay demo que conecte ni que valga. La personalización es todo. El segundo error, que ya lo mencionamos en el paso cuatro pero que repito aquí porque es sencillamente letal, es no definir el siguiente paso al terminar. Es el drama del vendedor que hace una demostración brillante, técnicamente perfecta, el cliente queda encantado y sonriente, y luego se despiden con un «bueno, cualquier cosa me avisa». Esa venta, aunque el vendedor no lo sepa todavía, ya está muerta. La conversación se va a enfriar en cuestión de horas, el cliente se va a distraer con los mil asuntos de su día a día, el entusiasmo se va a evaporar, y la oportunidad se va a perder sola, sin que nadie la mate activamente. Simplemente se desvanece. Por eso, cierra siempre con una fecha y una acción concreta. Si logras evitar estos dos errores, si siempre personalizas con base en el diagnóstico y siempre cierras con un próximo paso claro, tus demostraciones van a estar, sin exagerar, muy por encima del promedio de cualquier vendedor del mercado. Son dos cosas simples, pero marcan toda la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resumir este módulo tan práctico y tan importante, quedándonos con las ideas que debes aplicar en cada demostración que hagas de aquí en adelante. Primera idea: personaliza la demo según el diagnóstico. Antes de mostrar absolutamente nada, elige con criterio dos o tres módulos relevantes, y muestra solamente lo que le importa a ese cliente en particular. La demo se prepara, no se improvisa. Segunda idea: en cada pantalla que abras, sigue la cadena de oro que aprendiste en el módulo de producto, función, problema, beneficio. Anuncia el problema que vas a resolver, muestra en vivo la función que lo resuelve, y traduce el resultado a dinero ahorrado o a tiempo ganado. Esa cadena aplica también aquí, en la demostración. Tercera idea: cierra siempre, sin excepción, con un próximo paso concreto y con fecha. Una demo sin próximo paso definido es una venta que se enfría y se pierde sola. Y como bonus, para el caso de los restaurantes, no olvides nunca el flujo mínimo completo: menú, pedido, cobro e inventario, los cuatro pasos siempre. Con estas ideas bien aplicadas, dominas el arte de la demostración, que es una de las habilidades que más venden.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con esto cerramos el Módulo 7, uno de los más decisivos de toda la academia. Diste un paso enorme, y quiero que lo valores, porque la demostración es justamente donde muchísimas ventas se ganan o se pierden, y ahora tú tienes un método claro y repetible para ganarlas. Repasemos todo lo que te llevas: ya sabes preparar la demo con base en el diagnóstico, eligiendo qué mostrar y qué callar; ya sabes estructurarla en cuatro pasos, recap del dolor, solución en vivo, beneficio y cierre; ya sabes adaptarla a quince, treinta o cuarenta y cinco minutos según el caso; ya sabes manejar el flujo especial y completo del restaurante; y ya sabes cerrar siempre con un próximo paso concreto y con fecha. Es un arsenal completo. Tienes además, como recurso de apoyo, el guion de demo de quince, treinta y cuarenta y cinco minutos; te recomiendo mucho que lo revises y lo uses para practicar. Y ese es justamente mi último y más importante consejo para ti: practica antes de tu primera demo real con un cliente. No estrenes tu demostración con alguien que puede convertirse en una venta. Usa el Simulador de la plataforma para ensayar una y otra vez, equivócate ahí, en el entorno seguro donde no hay nada en juego, corrige, y llega a tu cliente real con la seguridad y la soltura de quien ya lo ha hecho muchas veces. El cliente lo va a notar. Así que ya sabes: presenta el examen de este módulo para afianzar lo aprendido, y luego ve directo al Simulador a practicar. Nos vemos en el próximo video, y de corazón, mucho éxito en tus demostraciones. Vas a hacerlo muy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19695" y="2468880"/>
            <a:ext cx="4572000" cy="4572000"/>
          </a:xfrm>
          <a:prstGeom prst="rect">
            <a:avLst/>
          </a:prstGeom>
          <a:noFill/>
          <a:ln/>
        </p:spPr>
        <p:txBody>
          <a:bodyPr wrap="square" lIns="0" tIns="0" rIns="0" bIns="0" rtlCol="0" anchor="b"/>
          <a:lstStyle/>
          <a:p>
            <a:pPr algn="r" indent="0" marL="0">
              <a:buNone/>
            </a:pPr>
            <a:r>
              <a:rPr lang="en-US" sz="23000" b="1" dirty="0">
                <a:solidFill>
                  <a:srgbClr val="FFFFFF">
                    <a:alpha val="10000"/>
                  </a:srgbClr>
                </a:solidFill>
                <a:latin typeface="Century Schoolbook" pitchFamily="34" charset="0"/>
                <a:ea typeface="Century Schoolbook" pitchFamily="34" charset="-122"/>
                <a:cs typeface="Century Schoolbook" pitchFamily="34" charset="-120"/>
              </a:rPr>
              <a:t>07</a:t>
            </a:r>
            <a:endParaRPr lang="en-US" sz="23000" dirty="0"/>
          </a:p>
        </p:txBody>
      </p:sp>
      <p:sp>
        <p:nvSpPr>
          <p:cNvPr id="4" name="Text 1"/>
          <p:cNvSpPr/>
          <p:nvPr/>
        </p:nvSpPr>
        <p:spPr>
          <a:xfrm>
            <a:off x="640080" y="1371600"/>
            <a:ext cx="10911535" cy="292608"/>
          </a:xfrm>
          <a:prstGeom prst="rect">
            <a:avLst/>
          </a:prstGeom>
          <a:noFill/>
          <a:ln/>
        </p:spPr>
        <p:txBody>
          <a:bodyPr wrap="square" lIns="0" tIns="0" rIns="0" bIns="0" rtlCol="0" anchor="ctr"/>
          <a:lstStyle/>
          <a:p>
            <a:pPr algn="l" indent="0" marL="0">
              <a:buNone/>
            </a:pPr>
            <a:r>
              <a:rPr lang="en-US" sz="1150" b="1" spc="300" kern="0" dirty="0">
                <a:solidFill>
                  <a:srgbClr val="C9B8F0"/>
                </a:solidFill>
                <a:latin typeface="Calibri" pitchFamily="34" charset="0"/>
                <a:ea typeface="Calibri" pitchFamily="34" charset="-122"/>
                <a:cs typeface="Calibri" pitchFamily="34" charset="-120"/>
              </a:rPr>
              <a:t>ACADEMIA COMERCIAL ATRIA · MÓDULO 07</a:t>
            </a:r>
            <a:endParaRPr lang="en-US" sz="1150" dirty="0"/>
          </a:p>
        </p:txBody>
      </p:sp>
      <p:sp>
        <p:nvSpPr>
          <p:cNvPr id="5" name="Text 2"/>
          <p:cNvSpPr/>
          <p:nvPr/>
        </p:nvSpPr>
        <p:spPr>
          <a:xfrm>
            <a:off x="640080" y="1920240"/>
            <a:ext cx="10911535" cy="1828800"/>
          </a:xfrm>
          <a:prstGeom prst="rect">
            <a:avLst/>
          </a:prstGeom>
          <a:noFill/>
          <a:ln/>
        </p:spPr>
        <p:txBody>
          <a:bodyPr wrap="square" lIns="0" tIns="0" rIns="0" bIns="0" rtlCol="0" anchor="t"/>
          <a:lstStyle/>
          <a:p>
            <a:pPr algn="l" indent="0" marL="0">
              <a:lnSpc>
                <a:spcPct val="95000"/>
              </a:lnSpc>
              <a:buNone/>
            </a:pPr>
            <a:r>
              <a:rPr lang="en-US" sz="5800" b="1" dirty="0">
                <a:solidFill>
                  <a:srgbClr val="FFFFFF"/>
                </a:solidFill>
                <a:latin typeface="Century Schoolbook" pitchFamily="34" charset="0"/>
                <a:ea typeface="Century Schoolbook" pitchFamily="34" charset="-122"/>
                <a:cs typeface="Century Schoolbook" pitchFamily="34" charset="-120"/>
              </a:rPr>
              <a:t>Presentación y demostración</a:t>
            </a:r>
            <a:endParaRPr lang="en-US" sz="5800" dirty="0"/>
          </a:p>
        </p:txBody>
      </p:sp>
      <p:sp>
        <p:nvSpPr>
          <p:cNvPr id="6" name="Text 3"/>
          <p:cNvSpPr/>
          <p:nvPr/>
        </p:nvSpPr>
        <p:spPr>
          <a:xfrm>
            <a:off x="640080" y="3886200"/>
            <a:ext cx="9997135" cy="822960"/>
          </a:xfrm>
          <a:prstGeom prst="rect">
            <a:avLst/>
          </a:prstGeom>
          <a:noFill/>
          <a:ln/>
        </p:spPr>
        <p:txBody>
          <a:bodyPr wrap="square" lIns="0" tIns="0" rIns="0" bIns="0" rtlCol="0" anchor="t"/>
          <a:lstStyle/>
          <a:p>
            <a:pPr algn="l" indent="0" marL="0">
              <a:buNone/>
            </a:pPr>
            <a:r>
              <a:rPr lang="en-US" sz="2200" i="1" dirty="0">
                <a:solidFill>
                  <a:srgbClr val="E7DEF7"/>
                </a:solidFill>
                <a:latin typeface="Calibri" pitchFamily="34" charset="0"/>
                <a:ea typeface="Calibri" pitchFamily="34" charset="-122"/>
                <a:cs typeface="Calibri" pitchFamily="34" charset="-120"/>
              </a:rPr>
              <a:t>Demos que conectan cada función con un problema</a:t>
            </a:r>
            <a:endParaRPr lang="en-US" sz="2200" dirty="0"/>
          </a:p>
        </p:txBody>
      </p:sp>
      <p:sp>
        <p:nvSpPr>
          <p:cNvPr id="7" name="Shape 4"/>
          <p:cNvSpPr/>
          <p:nvPr/>
        </p:nvSpPr>
        <p:spPr>
          <a:xfrm>
            <a:off x="640080" y="5669280"/>
            <a:ext cx="5120640" cy="566928"/>
          </a:xfrm>
          <a:prstGeom prst="roundRect">
            <a:avLst>
              <a:gd name="adj" fmla="val 50000"/>
            </a:avLst>
          </a:prstGeom>
          <a:solidFill>
            <a:srgbClr val="FFFFFF">
              <a:alpha val="14000"/>
            </a:srgbClr>
          </a:solidFill>
          <a:ln w="9525">
            <a:solidFill>
              <a:srgbClr val="FFFFFF">
                <a:alpha val="40000"/>
              </a:srgbClr>
            </a:solidFill>
            <a:prstDash val="solid"/>
          </a:ln>
        </p:spPr>
      </p:sp>
      <p:sp>
        <p:nvSpPr>
          <p:cNvPr id="8" name="Text 5"/>
          <p:cNvSpPr/>
          <p:nvPr/>
        </p:nvSpPr>
        <p:spPr>
          <a:xfrm>
            <a:off x="640080" y="5669280"/>
            <a:ext cx="51206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Nivel Intermedio · Duración 35 minutos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LO QUE DOMINARÁS EN ESTE MÓDULO</a:t>
            </a:r>
            <a:endParaRPr lang="en-US" sz="1150" dirty="0"/>
          </a:p>
        </p:txBody>
      </p:sp>
      <p:sp>
        <p:nvSpPr>
          <p:cNvPr id="3" name="Text 1"/>
          <p:cNvSpPr/>
          <p:nvPr/>
        </p:nvSpPr>
        <p:spPr>
          <a:xfrm>
            <a:off x="640080" y="822960"/>
            <a:ext cx="10911535" cy="86868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El arte de la demostración</a:t>
            </a:r>
            <a:endParaRPr lang="en-US" sz="3400" dirty="0"/>
          </a:p>
        </p:txBody>
      </p:sp>
      <p:sp>
        <p:nvSpPr>
          <p:cNvPr id="4" name="Shape 2"/>
          <p:cNvSpPr/>
          <p:nvPr/>
        </p:nvSpPr>
        <p:spPr>
          <a:xfrm>
            <a:off x="640080" y="1874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5" name="Shape 3"/>
          <p:cNvSpPr/>
          <p:nvPr/>
        </p:nvSpPr>
        <p:spPr>
          <a:xfrm>
            <a:off x="896112" y="2170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6" name="Text 4"/>
          <p:cNvSpPr/>
          <p:nvPr/>
        </p:nvSpPr>
        <p:spPr>
          <a:xfrm>
            <a:off x="896112" y="2170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1</a:t>
            </a:r>
            <a:endParaRPr lang="en-US" sz="2400" dirty="0"/>
          </a:p>
        </p:txBody>
      </p:sp>
      <p:sp>
        <p:nvSpPr>
          <p:cNvPr id="7" name="Text 5"/>
          <p:cNvSpPr/>
          <p:nvPr/>
        </p:nvSpPr>
        <p:spPr>
          <a:xfrm>
            <a:off x="1737360" y="2075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Preparar y personalizar</a:t>
            </a:r>
            <a:endParaRPr lang="en-US" sz="1700" dirty="0"/>
          </a:p>
        </p:txBody>
      </p:sp>
      <p:sp>
        <p:nvSpPr>
          <p:cNvPr id="8" name="Text 6"/>
          <p:cNvSpPr/>
          <p:nvPr/>
        </p:nvSpPr>
        <p:spPr>
          <a:xfrm>
            <a:off x="1737360" y="2484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Elegir qué mostrar, y qué no</a:t>
            </a:r>
            <a:endParaRPr lang="en-US" sz="1250" dirty="0"/>
          </a:p>
        </p:txBody>
      </p:sp>
      <p:sp>
        <p:nvSpPr>
          <p:cNvPr id="9" name="Shape 7"/>
          <p:cNvSpPr/>
          <p:nvPr/>
        </p:nvSpPr>
        <p:spPr>
          <a:xfrm>
            <a:off x="6255868" y="1874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10" name="Shape 8"/>
          <p:cNvSpPr/>
          <p:nvPr/>
        </p:nvSpPr>
        <p:spPr>
          <a:xfrm>
            <a:off x="6511900" y="2170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1" name="Text 9"/>
          <p:cNvSpPr/>
          <p:nvPr/>
        </p:nvSpPr>
        <p:spPr>
          <a:xfrm>
            <a:off x="6511900" y="2170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2</a:t>
            </a:r>
            <a:endParaRPr lang="en-US" sz="2400" dirty="0"/>
          </a:p>
        </p:txBody>
      </p:sp>
      <p:sp>
        <p:nvSpPr>
          <p:cNvPr id="12" name="Text 10"/>
          <p:cNvSpPr/>
          <p:nvPr/>
        </p:nvSpPr>
        <p:spPr>
          <a:xfrm>
            <a:off x="7353148" y="2075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La estructura en 4 pasos</a:t>
            </a:r>
            <a:endParaRPr lang="en-US" sz="1700" dirty="0"/>
          </a:p>
        </p:txBody>
      </p:sp>
      <p:sp>
        <p:nvSpPr>
          <p:cNvPr id="13" name="Text 11"/>
          <p:cNvSpPr/>
          <p:nvPr/>
        </p:nvSpPr>
        <p:spPr>
          <a:xfrm>
            <a:off x="7353148" y="2484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El esqueleto de toda demo</a:t>
            </a:r>
            <a:endParaRPr lang="en-US" sz="1250" dirty="0"/>
          </a:p>
        </p:txBody>
      </p:sp>
      <p:sp>
        <p:nvSpPr>
          <p:cNvPr id="14" name="Shape 12"/>
          <p:cNvSpPr/>
          <p:nvPr/>
        </p:nvSpPr>
        <p:spPr>
          <a:xfrm>
            <a:off x="640080" y="3398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15" name="Shape 13"/>
          <p:cNvSpPr/>
          <p:nvPr/>
        </p:nvSpPr>
        <p:spPr>
          <a:xfrm>
            <a:off x="896112" y="3694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6" name="Text 14"/>
          <p:cNvSpPr/>
          <p:nvPr/>
        </p:nvSpPr>
        <p:spPr>
          <a:xfrm>
            <a:off x="896112" y="3694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3</a:t>
            </a:r>
            <a:endParaRPr lang="en-US" sz="2400" dirty="0"/>
          </a:p>
        </p:txBody>
      </p:sp>
      <p:sp>
        <p:nvSpPr>
          <p:cNvPr id="17" name="Text 15"/>
          <p:cNvSpPr/>
          <p:nvPr/>
        </p:nvSpPr>
        <p:spPr>
          <a:xfrm>
            <a:off x="1737360" y="3599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Demos de 15, 30 y 45 min</a:t>
            </a:r>
            <a:endParaRPr lang="en-US" sz="1700" dirty="0"/>
          </a:p>
        </p:txBody>
      </p:sp>
      <p:sp>
        <p:nvSpPr>
          <p:cNvPr id="18" name="Text 16"/>
          <p:cNvSpPr/>
          <p:nvPr/>
        </p:nvSpPr>
        <p:spPr>
          <a:xfrm>
            <a:off x="1737360" y="4008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Adaptar según el caso</a:t>
            </a:r>
            <a:endParaRPr lang="en-US" sz="1250" dirty="0"/>
          </a:p>
        </p:txBody>
      </p:sp>
      <p:sp>
        <p:nvSpPr>
          <p:cNvPr id="19" name="Shape 17"/>
          <p:cNvSpPr/>
          <p:nvPr/>
        </p:nvSpPr>
        <p:spPr>
          <a:xfrm>
            <a:off x="6255868" y="3398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20" name="Shape 18"/>
          <p:cNvSpPr/>
          <p:nvPr/>
        </p:nvSpPr>
        <p:spPr>
          <a:xfrm>
            <a:off x="6511900" y="3694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1" name="Text 19"/>
          <p:cNvSpPr/>
          <p:nvPr/>
        </p:nvSpPr>
        <p:spPr>
          <a:xfrm>
            <a:off x="6511900" y="3694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4</a:t>
            </a:r>
            <a:endParaRPr lang="en-US" sz="2400" dirty="0"/>
          </a:p>
        </p:txBody>
      </p:sp>
      <p:sp>
        <p:nvSpPr>
          <p:cNvPr id="22" name="Text 20"/>
          <p:cNvSpPr/>
          <p:nvPr/>
        </p:nvSpPr>
        <p:spPr>
          <a:xfrm>
            <a:off x="7353148" y="3599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El caso restaurante</a:t>
            </a:r>
            <a:endParaRPr lang="en-US" sz="1700" dirty="0"/>
          </a:p>
        </p:txBody>
      </p:sp>
      <p:sp>
        <p:nvSpPr>
          <p:cNvPr id="23" name="Text 21"/>
          <p:cNvSpPr/>
          <p:nvPr/>
        </p:nvSpPr>
        <p:spPr>
          <a:xfrm>
            <a:off x="7353148" y="4008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El flujo mínimo que debe verse</a:t>
            </a:r>
            <a:endParaRPr lang="en-US" sz="1250" dirty="0"/>
          </a:p>
        </p:txBody>
      </p:sp>
      <p:sp>
        <p:nvSpPr>
          <p:cNvPr id="24" name="Shape 22"/>
          <p:cNvSpPr/>
          <p:nvPr/>
        </p:nvSpPr>
        <p:spPr>
          <a:xfrm>
            <a:off x="640080" y="4922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25" name="Shape 23"/>
          <p:cNvSpPr/>
          <p:nvPr/>
        </p:nvSpPr>
        <p:spPr>
          <a:xfrm>
            <a:off x="896112" y="5218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6" name="Text 24"/>
          <p:cNvSpPr/>
          <p:nvPr/>
        </p:nvSpPr>
        <p:spPr>
          <a:xfrm>
            <a:off x="896112" y="5218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5</a:t>
            </a:r>
            <a:endParaRPr lang="en-US" sz="2400" dirty="0"/>
          </a:p>
        </p:txBody>
      </p:sp>
      <p:sp>
        <p:nvSpPr>
          <p:cNvPr id="27" name="Text 25"/>
          <p:cNvSpPr/>
          <p:nvPr/>
        </p:nvSpPr>
        <p:spPr>
          <a:xfrm>
            <a:off x="1737360" y="5123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Errores que la hunden</a:t>
            </a:r>
            <a:endParaRPr lang="en-US" sz="1700" dirty="0"/>
          </a:p>
        </p:txBody>
      </p:sp>
      <p:sp>
        <p:nvSpPr>
          <p:cNvPr id="28" name="Text 26"/>
          <p:cNvSpPr/>
          <p:nvPr/>
        </p:nvSpPr>
        <p:spPr>
          <a:xfrm>
            <a:off x="1737360" y="5532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Y cómo evitarlos</a:t>
            </a:r>
            <a:endParaRPr lang="en-US" sz="1250" dirty="0"/>
          </a:p>
        </p:txBody>
      </p:sp>
      <p:sp>
        <p:nvSpPr>
          <p:cNvPr id="29" name="Text 2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30" name="Text 2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8580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EL PRINCIPIO RECTOR</a:t>
            </a:r>
            <a:endParaRPr lang="en-US" sz="1150" dirty="0"/>
          </a:p>
        </p:txBody>
      </p:sp>
      <p:sp>
        <p:nvSpPr>
          <p:cNvPr id="3" name="Text 1"/>
          <p:cNvSpPr/>
          <p:nvPr/>
        </p:nvSpPr>
        <p:spPr>
          <a:xfrm>
            <a:off x="640080" y="1051560"/>
            <a:ext cx="5760720" cy="1645920"/>
          </a:xfrm>
          <a:prstGeom prst="rect">
            <a:avLst/>
          </a:prstGeom>
          <a:noFill/>
          <a:ln/>
        </p:spPr>
        <p:txBody>
          <a:bodyPr wrap="square" lIns="0" tIns="0" rIns="0" bIns="0" rtlCol="0" anchor="t"/>
          <a:lstStyle/>
          <a:p>
            <a:pPr algn="l" indent="0" marL="0">
              <a:lnSpc>
                <a:spcPct val="100000"/>
              </a:lnSpc>
              <a:buNone/>
            </a:pPr>
            <a:r>
              <a:rPr lang="en-US" sz="3400" b="1" dirty="0">
                <a:solidFill>
                  <a:srgbClr val="1B1526"/>
                </a:solidFill>
                <a:latin typeface="Century Schoolbook" pitchFamily="34" charset="0"/>
                <a:ea typeface="Century Schoolbook" pitchFamily="34" charset="-122"/>
                <a:cs typeface="Century Schoolbook" pitchFamily="34" charset="-120"/>
              </a:rPr>
              <a:t>Una demo no muestra todo</a:t>
            </a:r>
            <a:endParaRPr lang="en-US" sz="3400" dirty="0"/>
          </a:p>
        </p:txBody>
      </p:sp>
      <p:sp>
        <p:nvSpPr>
          <p:cNvPr id="4" name="Shape 2"/>
          <p:cNvSpPr/>
          <p:nvPr/>
        </p:nvSpPr>
        <p:spPr>
          <a:xfrm>
            <a:off x="6720840" y="914400"/>
            <a:ext cx="4830775" cy="4663440"/>
          </a:xfrm>
          <a:prstGeom prst="roundRect">
            <a:avLst>
              <a:gd name="adj" fmla="val 2745"/>
            </a:avLst>
          </a:prstGeom>
          <a:solidFill>
            <a:srgbClr val="2B1F3A"/>
          </a:solidFill>
          <a:ln/>
          <a:effectLst>
            <a:outerShdw sx="100000" sy="100000" kx="0" ky="0" algn="bl" rotWithShape="0" blurRad="101600" dist="38100" dir="5400000">
              <a:srgbClr val="1B1526">
                <a:alpha val="25000"/>
              </a:srgbClr>
            </a:outerShdw>
          </a:effectLst>
        </p:spPr>
      </p:sp>
      <p:sp>
        <p:nvSpPr>
          <p:cNvPr id="5" name="Text 3"/>
          <p:cNvSpPr/>
          <p:nvPr/>
        </p:nvSpPr>
        <p:spPr>
          <a:xfrm>
            <a:off x="6949440" y="914400"/>
            <a:ext cx="1371600" cy="1280160"/>
          </a:xfrm>
          <a:prstGeom prst="rect">
            <a:avLst/>
          </a:prstGeom>
          <a:noFill/>
          <a:ln/>
        </p:spPr>
        <p:txBody>
          <a:bodyPr wrap="square" lIns="0" tIns="0" rIns="0" bIns="0" rtlCol="0" anchor="t"/>
          <a:lstStyle/>
          <a:p>
            <a:pPr algn="l" indent="0" marL="0">
              <a:buNone/>
            </a:pPr>
            <a:r>
              <a:rPr lang="en-US" sz="9000" b="1" dirty="0">
                <a:solidFill>
                  <a:srgbClr val="A18BCF"/>
                </a:solidFill>
                <a:latin typeface="Century Schoolbook" pitchFamily="34" charset="0"/>
                <a:ea typeface="Century Schoolbook" pitchFamily="34" charset="-122"/>
                <a:cs typeface="Century Schoolbook" pitchFamily="34" charset="-120"/>
              </a:rPr>
              <a:t>“</a:t>
            </a:r>
            <a:endParaRPr lang="en-US" sz="9000" dirty="0"/>
          </a:p>
        </p:txBody>
      </p:sp>
      <p:sp>
        <p:nvSpPr>
          <p:cNvPr id="6" name="Text 4"/>
          <p:cNvSpPr/>
          <p:nvPr/>
        </p:nvSpPr>
        <p:spPr>
          <a:xfrm>
            <a:off x="7178040" y="1965960"/>
            <a:ext cx="3916375" cy="2011680"/>
          </a:xfrm>
          <a:prstGeom prst="rect">
            <a:avLst/>
          </a:prstGeom>
          <a:noFill/>
          <a:ln/>
        </p:spPr>
        <p:txBody>
          <a:bodyPr wrap="square" lIns="0" tIns="0" rIns="0" bIns="0" rtlCol="0" anchor="t"/>
          <a:lstStyle/>
          <a:p>
            <a:pPr algn="l" indent="0" marL="0">
              <a:lnSpc>
                <a:spcPct val="108000"/>
              </a:lnSpc>
              <a:buNone/>
            </a:pPr>
            <a:r>
              <a:rPr lang="en-US" sz="2100" b="1" dirty="0">
                <a:solidFill>
                  <a:srgbClr val="FFFFFF"/>
                </a:solidFill>
                <a:latin typeface="Century Schoolbook" pitchFamily="34" charset="0"/>
                <a:ea typeface="Century Schoolbook" pitchFamily="34" charset="-122"/>
                <a:cs typeface="Century Schoolbook" pitchFamily="34" charset="-120"/>
              </a:rPr>
              <a:t>Muestra solo lo que le importa al cliente que tienes enfrente.</a:t>
            </a:r>
            <a:endParaRPr lang="en-US" sz="2100" dirty="0"/>
          </a:p>
        </p:txBody>
      </p:sp>
      <p:sp>
        <p:nvSpPr>
          <p:cNvPr id="7" name="Text 5"/>
          <p:cNvSpPr/>
          <p:nvPr/>
        </p:nvSpPr>
        <p:spPr>
          <a:xfrm>
            <a:off x="7178040" y="4114800"/>
            <a:ext cx="3916375" cy="1280160"/>
          </a:xfrm>
          <a:prstGeom prst="rect">
            <a:avLst/>
          </a:prstGeom>
          <a:noFill/>
          <a:ln/>
        </p:spPr>
        <p:txBody>
          <a:bodyPr wrap="square" lIns="0" tIns="0" rIns="0" bIns="0" rtlCol="0" anchor="t"/>
          <a:lstStyle/>
          <a:p>
            <a:pPr algn="l" indent="0" marL="0">
              <a:lnSpc>
                <a:spcPct val="105000"/>
              </a:lnSpc>
              <a:buNone/>
            </a:pPr>
            <a:r>
              <a:rPr lang="en-US" sz="1400" i="1" dirty="0">
                <a:solidFill>
                  <a:srgbClr val="D9CEEF"/>
                </a:solidFill>
                <a:latin typeface="Calibri" pitchFamily="34" charset="0"/>
                <a:ea typeface="Calibri" pitchFamily="34" charset="-122"/>
                <a:cs typeface="Calibri" pitchFamily="34" charset="-120"/>
              </a:rPr>
              <a:t>La demo no es una exhibición del producto. Es la prueba, en vivo, de que su problema tiene solución.</a:t>
            </a:r>
            <a:endParaRPr lang="en-US" sz="1400" dirty="0"/>
          </a:p>
        </p:txBody>
      </p:sp>
      <p:sp>
        <p:nvSpPr>
          <p:cNvPr id="8" name="Text 6"/>
          <p:cNvSpPr/>
          <p:nvPr/>
        </p:nvSpPr>
        <p:spPr>
          <a:xfrm>
            <a:off x="640080" y="4297680"/>
            <a:ext cx="5760720" cy="1280160"/>
          </a:xfrm>
          <a:prstGeom prst="rect">
            <a:avLst/>
          </a:prstGeom>
          <a:noFill/>
          <a:ln/>
        </p:spPr>
        <p:txBody>
          <a:bodyPr wrap="square" lIns="0" tIns="0" rIns="0" bIns="0" rtlCol="0" anchor="t"/>
          <a:lstStyle/>
          <a:p>
            <a:pPr algn="l" indent="0" marL="0">
              <a:buNone/>
            </a:pPr>
            <a:r>
              <a:rPr lang="en-US" sz="1300" i="1" dirty="0">
                <a:solidFill>
                  <a:srgbClr val="8B8397"/>
                </a:solidFill>
                <a:latin typeface="Calibri" pitchFamily="34" charset="0"/>
                <a:ea typeface="Calibri" pitchFamily="34" charset="-122"/>
                <a:cs typeface="Calibri" pitchFamily="34" charset="-120"/>
              </a:rPr>
              <a:t>Preparar y ejecutar demos que conectan cada función con un problema.</a:t>
            </a:r>
            <a:endParaRPr lang="en-US" sz="1300" dirty="0"/>
          </a:p>
        </p:txBody>
      </p:sp>
      <p:sp>
        <p:nvSpPr>
          <p:cNvPr id="9" name="Text 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10" name="Text 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8580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PASO PREVIO · PREPARACIÓN</a:t>
            </a:r>
            <a:endParaRPr lang="en-US" sz="1150" dirty="0"/>
          </a:p>
        </p:txBody>
      </p:sp>
      <p:sp>
        <p:nvSpPr>
          <p:cNvPr id="3" name="Text 1"/>
          <p:cNvSpPr/>
          <p:nvPr/>
        </p:nvSpPr>
        <p:spPr>
          <a:xfrm>
            <a:off x="640080" y="1051560"/>
            <a:ext cx="5760720" cy="1645920"/>
          </a:xfrm>
          <a:prstGeom prst="rect">
            <a:avLst/>
          </a:prstGeom>
          <a:noFill/>
          <a:ln/>
        </p:spPr>
        <p:txBody>
          <a:bodyPr wrap="square" lIns="0" tIns="0" rIns="0" bIns="0" rtlCol="0" anchor="t"/>
          <a:lstStyle/>
          <a:p>
            <a:pPr algn="l" indent="0" marL="0">
              <a:lnSpc>
                <a:spcPct val="100000"/>
              </a:lnSpc>
              <a:buNone/>
            </a:pPr>
            <a:r>
              <a:rPr lang="en-US" sz="3400" b="1" dirty="0">
                <a:solidFill>
                  <a:srgbClr val="1B1526"/>
                </a:solidFill>
                <a:latin typeface="Century Schoolbook" pitchFamily="34" charset="0"/>
                <a:ea typeface="Century Schoolbook" pitchFamily="34" charset="-122"/>
                <a:cs typeface="Century Schoolbook" pitchFamily="34" charset="-120"/>
              </a:rPr>
              <a:t>Preparar y personalizar la demo</a:t>
            </a:r>
            <a:endParaRPr lang="en-US" sz="3400" dirty="0"/>
          </a:p>
        </p:txBody>
      </p:sp>
      <p:sp>
        <p:nvSpPr>
          <p:cNvPr id="4" name="Shape 2"/>
          <p:cNvSpPr/>
          <p:nvPr/>
        </p:nvSpPr>
        <p:spPr>
          <a:xfrm>
            <a:off x="6720840" y="914400"/>
            <a:ext cx="4830775" cy="4663440"/>
          </a:xfrm>
          <a:prstGeom prst="roundRect">
            <a:avLst>
              <a:gd name="adj" fmla="val 2745"/>
            </a:avLst>
          </a:prstGeom>
          <a:solidFill>
            <a:srgbClr val="2B1F3A"/>
          </a:solidFill>
          <a:ln/>
          <a:effectLst>
            <a:outerShdw sx="100000" sy="100000" kx="0" ky="0" algn="bl" rotWithShape="0" blurRad="101600" dist="38100" dir="5400000">
              <a:srgbClr val="1B1526">
                <a:alpha val="25000"/>
              </a:srgbClr>
            </a:outerShdw>
          </a:effectLst>
        </p:spPr>
      </p:sp>
      <p:sp>
        <p:nvSpPr>
          <p:cNvPr id="5" name="Text 3"/>
          <p:cNvSpPr/>
          <p:nvPr/>
        </p:nvSpPr>
        <p:spPr>
          <a:xfrm>
            <a:off x="6949440" y="914400"/>
            <a:ext cx="1371600" cy="1280160"/>
          </a:xfrm>
          <a:prstGeom prst="rect">
            <a:avLst/>
          </a:prstGeom>
          <a:noFill/>
          <a:ln/>
        </p:spPr>
        <p:txBody>
          <a:bodyPr wrap="square" lIns="0" tIns="0" rIns="0" bIns="0" rtlCol="0" anchor="t"/>
          <a:lstStyle/>
          <a:p>
            <a:pPr algn="l" indent="0" marL="0">
              <a:buNone/>
            </a:pPr>
            <a:r>
              <a:rPr lang="en-US" sz="9000" b="1" dirty="0">
                <a:solidFill>
                  <a:srgbClr val="A18BCF"/>
                </a:solidFill>
                <a:latin typeface="Century Schoolbook" pitchFamily="34" charset="0"/>
                <a:ea typeface="Century Schoolbook" pitchFamily="34" charset="-122"/>
                <a:cs typeface="Century Schoolbook" pitchFamily="34" charset="-120"/>
              </a:rPr>
              <a:t>“</a:t>
            </a:r>
            <a:endParaRPr lang="en-US" sz="9000" dirty="0"/>
          </a:p>
        </p:txBody>
      </p:sp>
      <p:sp>
        <p:nvSpPr>
          <p:cNvPr id="6" name="Text 4"/>
          <p:cNvSpPr/>
          <p:nvPr/>
        </p:nvSpPr>
        <p:spPr>
          <a:xfrm>
            <a:off x="7178040" y="1965960"/>
            <a:ext cx="3916375" cy="2011680"/>
          </a:xfrm>
          <a:prstGeom prst="rect">
            <a:avLst/>
          </a:prstGeom>
          <a:noFill/>
          <a:ln/>
        </p:spPr>
        <p:txBody>
          <a:bodyPr wrap="square" lIns="0" tIns="0" rIns="0" bIns="0" rtlCol="0" anchor="t"/>
          <a:lstStyle/>
          <a:p>
            <a:pPr algn="l" indent="0" marL="0">
              <a:lnSpc>
                <a:spcPct val="108000"/>
              </a:lnSpc>
              <a:buNone/>
            </a:pPr>
            <a:r>
              <a:rPr lang="en-US" sz="2100" b="1" dirty="0">
                <a:solidFill>
                  <a:srgbClr val="FFFFFF"/>
                </a:solidFill>
                <a:latin typeface="Century Schoolbook" pitchFamily="34" charset="0"/>
                <a:ea typeface="Century Schoolbook" pitchFamily="34" charset="-122"/>
                <a:cs typeface="Century Schoolbook" pitchFamily="34" charset="-120"/>
              </a:rPr>
              <a:t>Con lo que descubriste en el diagnóstico, elige 2 o 3 módulos relevantes. No muestres funciones irrelevantes.</a:t>
            </a:r>
            <a:endParaRPr lang="en-US" sz="2100" dirty="0"/>
          </a:p>
        </p:txBody>
      </p:sp>
      <p:sp>
        <p:nvSpPr>
          <p:cNvPr id="7" name="Text 5"/>
          <p:cNvSpPr/>
          <p:nvPr/>
        </p:nvSpPr>
        <p:spPr>
          <a:xfrm>
            <a:off x="7178040" y="4114800"/>
            <a:ext cx="3916375" cy="1280160"/>
          </a:xfrm>
          <a:prstGeom prst="rect">
            <a:avLst/>
          </a:prstGeom>
          <a:noFill/>
          <a:ln/>
        </p:spPr>
        <p:txBody>
          <a:bodyPr wrap="square" lIns="0" tIns="0" rIns="0" bIns="0" rtlCol="0" anchor="t"/>
          <a:lstStyle/>
          <a:p>
            <a:pPr algn="l" indent="0" marL="0">
              <a:lnSpc>
                <a:spcPct val="105000"/>
              </a:lnSpc>
              <a:buNone/>
            </a:pPr>
            <a:r>
              <a:rPr lang="en-US" sz="1400" i="1" dirty="0">
                <a:solidFill>
                  <a:srgbClr val="D9CEEF"/>
                </a:solidFill>
                <a:latin typeface="Calibri" pitchFamily="34" charset="0"/>
                <a:ea typeface="Calibri" pitchFamily="34" charset="-122"/>
                <a:cs typeface="Calibri" pitchFamily="34" charset="-120"/>
              </a:rPr>
              <a:t>Sin diagnóstico no hay demo. Lo que aprendiste del cliente es el guion de lo que vas a mostrar.</a:t>
            </a:r>
            <a:endParaRPr lang="en-US" sz="1400" dirty="0"/>
          </a:p>
        </p:txBody>
      </p:sp>
      <p:sp>
        <p:nvSpPr>
          <p:cNvPr id="8" name="Text 6"/>
          <p:cNvSpPr/>
          <p:nvPr/>
        </p:nvSpPr>
        <p:spPr>
          <a:xfrm>
            <a:off x="640080" y="4297680"/>
            <a:ext cx="5760720" cy="1280160"/>
          </a:xfrm>
          <a:prstGeom prst="rect">
            <a:avLst/>
          </a:prstGeom>
          <a:noFill/>
          <a:ln/>
        </p:spPr>
        <p:txBody>
          <a:bodyPr wrap="square" lIns="0" tIns="0" rIns="0" bIns="0" rtlCol="0" anchor="t"/>
          <a:lstStyle/>
          <a:p>
            <a:pPr algn="l" indent="0" marL="0">
              <a:buNone/>
            </a:pPr>
            <a:r>
              <a:rPr lang="en-US" sz="1300" i="1" dirty="0">
                <a:solidFill>
                  <a:srgbClr val="8B8397"/>
                </a:solidFill>
                <a:latin typeface="Calibri" pitchFamily="34" charset="0"/>
                <a:ea typeface="Calibri" pitchFamily="34" charset="-122"/>
                <a:cs typeface="Calibri" pitchFamily="34" charset="-120"/>
              </a:rPr>
              <a:t>Preparar y ejecutar demos que conectan cada función con un problema.</a:t>
            </a:r>
            <a:endParaRPr lang="en-US" sz="1300" dirty="0"/>
          </a:p>
        </p:txBody>
      </p:sp>
      <p:sp>
        <p:nvSpPr>
          <p:cNvPr id="9" name="Text 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10" name="Text 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EL ESQUELETO DE TODA DEMO</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La estructura en 4 pasos</a:t>
            </a:r>
            <a:endParaRPr lang="en-US" sz="3400" dirty="0"/>
          </a:p>
        </p:txBody>
      </p:sp>
      <p:sp>
        <p:nvSpPr>
          <p:cNvPr id="4" name="Shape 2"/>
          <p:cNvSpPr/>
          <p:nvPr/>
        </p:nvSpPr>
        <p:spPr>
          <a:xfrm>
            <a:off x="640080" y="1874520"/>
            <a:ext cx="10911535" cy="923544"/>
          </a:xfrm>
          <a:prstGeom prst="roundRect">
            <a:avLst>
              <a:gd name="adj" fmla="val 9901"/>
            </a:avLst>
          </a:prstGeom>
          <a:solidFill>
            <a:srgbClr val="F5F2FA"/>
          </a:solidFill>
          <a:ln w="12700">
            <a:solidFill>
              <a:srgbClr val="E7E1F0"/>
            </a:solidFill>
            <a:prstDash val="solid"/>
          </a:ln>
        </p:spPr>
      </p:sp>
      <p:sp>
        <p:nvSpPr>
          <p:cNvPr id="5" name="Shape 3"/>
          <p:cNvSpPr/>
          <p:nvPr/>
        </p:nvSpPr>
        <p:spPr>
          <a:xfrm>
            <a:off x="868680" y="2016252"/>
            <a:ext cx="640080" cy="640080"/>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6" name="Text 4"/>
          <p:cNvSpPr/>
          <p:nvPr/>
        </p:nvSpPr>
        <p:spPr>
          <a:xfrm>
            <a:off x="868680" y="2016252"/>
            <a:ext cx="640080" cy="640080"/>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1</a:t>
            </a:r>
            <a:endParaRPr lang="en-US" sz="2400" dirty="0"/>
          </a:p>
        </p:txBody>
      </p:sp>
      <p:sp>
        <p:nvSpPr>
          <p:cNvPr id="7" name="Text 5"/>
          <p:cNvSpPr/>
          <p:nvPr/>
        </p:nvSpPr>
        <p:spPr>
          <a:xfrm>
            <a:off x="1691640" y="1874520"/>
            <a:ext cx="3383280" cy="923544"/>
          </a:xfrm>
          <a:prstGeom prst="rect">
            <a:avLst/>
          </a:prstGeom>
          <a:noFill/>
          <a:ln/>
        </p:spPr>
        <p:txBody>
          <a:bodyPr wrap="square" lIns="0" tIns="0" rIns="0" bIns="0" rtlCol="0" anchor="ctr"/>
          <a:lstStyle/>
          <a:p>
            <a:pPr algn="l" indent="0" marL="0">
              <a:buNone/>
            </a:pPr>
            <a:r>
              <a:rPr lang="en-US" sz="1650" b="1" dirty="0">
                <a:solidFill>
                  <a:srgbClr val="2B1F3A"/>
                </a:solidFill>
                <a:latin typeface="Century Schoolbook" pitchFamily="34" charset="0"/>
                <a:ea typeface="Century Schoolbook" pitchFamily="34" charset="-122"/>
                <a:cs typeface="Century Schoolbook" pitchFamily="34" charset="-120"/>
              </a:rPr>
              <a:t>Recap del dolor</a:t>
            </a:r>
            <a:endParaRPr lang="en-US" sz="1650" dirty="0"/>
          </a:p>
        </p:txBody>
      </p:sp>
      <p:sp>
        <p:nvSpPr>
          <p:cNvPr id="8" name="Text 6"/>
          <p:cNvSpPr/>
          <p:nvPr/>
        </p:nvSpPr>
        <p:spPr>
          <a:xfrm>
            <a:off x="5166360" y="1874520"/>
            <a:ext cx="4922215" cy="923544"/>
          </a:xfrm>
          <a:prstGeom prst="rect">
            <a:avLst/>
          </a:prstGeom>
          <a:noFill/>
          <a:ln/>
        </p:spPr>
        <p:txBody>
          <a:bodyPr wrap="square" lIns="0" tIns="0" rIns="0" bIns="0" rtlCol="0" anchor="ctr"/>
          <a:lstStyle/>
          <a:p>
            <a:pPr algn="l" indent="0" marL="0">
              <a:lnSpc>
                <a:spcPct val="102000"/>
              </a:lnSpc>
              <a:buNone/>
            </a:pPr>
            <a:r>
              <a:rPr lang="en-US" sz="1300" dirty="0">
                <a:solidFill>
                  <a:srgbClr val="3A3348"/>
                </a:solidFill>
                <a:latin typeface="Calibri" pitchFamily="34" charset="0"/>
                <a:ea typeface="Calibri" pitchFamily="34" charset="-122"/>
                <a:cs typeface="Calibri" pitchFamily="34" charset="-120"/>
              </a:rPr>
              <a:t>Recuerda en un minuto el problema que él mismo te contó.</a:t>
            </a:r>
            <a:endParaRPr lang="en-US" sz="1300" dirty="0"/>
          </a:p>
        </p:txBody>
      </p:sp>
      <p:sp>
        <p:nvSpPr>
          <p:cNvPr id="9" name="Shape 7"/>
          <p:cNvSpPr/>
          <p:nvPr/>
        </p:nvSpPr>
        <p:spPr>
          <a:xfrm>
            <a:off x="10134295" y="2107692"/>
            <a:ext cx="1188720" cy="457200"/>
          </a:xfrm>
          <a:prstGeom prst="roundRect">
            <a:avLst>
              <a:gd name="adj" fmla="val 50000"/>
            </a:avLst>
          </a:prstGeom>
          <a:solidFill>
            <a:srgbClr val="2B1F3A"/>
          </a:solidFill>
          <a:ln/>
        </p:spPr>
      </p:sp>
      <p:sp>
        <p:nvSpPr>
          <p:cNvPr id="10" name="Text 8"/>
          <p:cNvSpPr/>
          <p:nvPr/>
        </p:nvSpPr>
        <p:spPr>
          <a:xfrm>
            <a:off x="10134295" y="2107692"/>
            <a:ext cx="11887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1 min</a:t>
            </a:r>
            <a:endParaRPr lang="en-US" sz="1100" dirty="0"/>
          </a:p>
        </p:txBody>
      </p:sp>
      <p:sp>
        <p:nvSpPr>
          <p:cNvPr id="11" name="Shape 9"/>
          <p:cNvSpPr/>
          <p:nvPr/>
        </p:nvSpPr>
        <p:spPr>
          <a:xfrm>
            <a:off x="640080" y="2999232"/>
            <a:ext cx="10911535" cy="923544"/>
          </a:xfrm>
          <a:prstGeom prst="roundRect">
            <a:avLst>
              <a:gd name="adj" fmla="val 9901"/>
            </a:avLst>
          </a:prstGeom>
          <a:solidFill>
            <a:srgbClr val="F5F2FA"/>
          </a:solidFill>
          <a:ln w="12700">
            <a:solidFill>
              <a:srgbClr val="E7E1F0"/>
            </a:solidFill>
            <a:prstDash val="solid"/>
          </a:ln>
        </p:spPr>
      </p:sp>
      <p:sp>
        <p:nvSpPr>
          <p:cNvPr id="12" name="Shape 10"/>
          <p:cNvSpPr/>
          <p:nvPr/>
        </p:nvSpPr>
        <p:spPr>
          <a:xfrm>
            <a:off x="868680" y="3140964"/>
            <a:ext cx="640080" cy="640080"/>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3" name="Text 11"/>
          <p:cNvSpPr/>
          <p:nvPr/>
        </p:nvSpPr>
        <p:spPr>
          <a:xfrm>
            <a:off x="868680" y="3140964"/>
            <a:ext cx="640080" cy="640080"/>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2</a:t>
            </a:r>
            <a:endParaRPr lang="en-US" sz="2400" dirty="0"/>
          </a:p>
        </p:txBody>
      </p:sp>
      <p:sp>
        <p:nvSpPr>
          <p:cNvPr id="14" name="Text 12"/>
          <p:cNvSpPr/>
          <p:nvPr/>
        </p:nvSpPr>
        <p:spPr>
          <a:xfrm>
            <a:off x="1691640" y="2999232"/>
            <a:ext cx="3383280" cy="923544"/>
          </a:xfrm>
          <a:prstGeom prst="rect">
            <a:avLst/>
          </a:prstGeom>
          <a:noFill/>
          <a:ln/>
        </p:spPr>
        <p:txBody>
          <a:bodyPr wrap="square" lIns="0" tIns="0" rIns="0" bIns="0" rtlCol="0" anchor="ctr"/>
          <a:lstStyle/>
          <a:p>
            <a:pPr algn="l" indent="0" marL="0">
              <a:buNone/>
            </a:pPr>
            <a:r>
              <a:rPr lang="en-US" sz="1650" b="1" dirty="0">
                <a:solidFill>
                  <a:srgbClr val="2B1F3A"/>
                </a:solidFill>
                <a:latin typeface="Century Schoolbook" pitchFamily="34" charset="0"/>
                <a:ea typeface="Century Schoolbook" pitchFamily="34" charset="-122"/>
                <a:cs typeface="Century Schoolbook" pitchFamily="34" charset="-120"/>
              </a:rPr>
              <a:t>Solución en vivo enfocada</a:t>
            </a:r>
            <a:endParaRPr lang="en-US" sz="1650" dirty="0"/>
          </a:p>
        </p:txBody>
      </p:sp>
      <p:sp>
        <p:nvSpPr>
          <p:cNvPr id="15" name="Text 13"/>
          <p:cNvSpPr/>
          <p:nvPr/>
        </p:nvSpPr>
        <p:spPr>
          <a:xfrm>
            <a:off x="5166360" y="2999232"/>
            <a:ext cx="4922215" cy="923544"/>
          </a:xfrm>
          <a:prstGeom prst="rect">
            <a:avLst/>
          </a:prstGeom>
          <a:noFill/>
          <a:ln/>
        </p:spPr>
        <p:txBody>
          <a:bodyPr wrap="square" lIns="0" tIns="0" rIns="0" bIns="0" rtlCol="0" anchor="ctr"/>
          <a:lstStyle/>
          <a:p>
            <a:pPr algn="l" indent="0" marL="0">
              <a:lnSpc>
                <a:spcPct val="102000"/>
              </a:lnSpc>
              <a:buNone/>
            </a:pPr>
            <a:r>
              <a:rPr lang="en-US" sz="1300" dirty="0">
                <a:solidFill>
                  <a:srgbClr val="3A3348"/>
                </a:solidFill>
                <a:latin typeface="Calibri" pitchFamily="34" charset="0"/>
                <a:ea typeface="Calibri" pitchFamily="34" charset="-122"/>
                <a:cs typeface="Calibri" pitchFamily="34" charset="-120"/>
              </a:rPr>
              <a:t>Muestra ATRIA resolviendo justo ese dolor. Es el núcleo.</a:t>
            </a:r>
            <a:endParaRPr lang="en-US" sz="1300" dirty="0"/>
          </a:p>
        </p:txBody>
      </p:sp>
      <p:sp>
        <p:nvSpPr>
          <p:cNvPr id="16" name="Shape 14"/>
          <p:cNvSpPr/>
          <p:nvPr/>
        </p:nvSpPr>
        <p:spPr>
          <a:xfrm>
            <a:off x="10134295" y="3232404"/>
            <a:ext cx="1188720" cy="457200"/>
          </a:xfrm>
          <a:prstGeom prst="roundRect">
            <a:avLst>
              <a:gd name="adj" fmla="val 50000"/>
            </a:avLst>
          </a:prstGeom>
          <a:solidFill>
            <a:srgbClr val="2B1F3A"/>
          </a:solidFill>
          <a:ln/>
        </p:spPr>
      </p:sp>
      <p:sp>
        <p:nvSpPr>
          <p:cNvPr id="17" name="Text 15"/>
          <p:cNvSpPr/>
          <p:nvPr/>
        </p:nvSpPr>
        <p:spPr>
          <a:xfrm>
            <a:off x="10134295" y="3232404"/>
            <a:ext cx="11887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 grueso</a:t>
            </a:r>
            <a:endParaRPr lang="en-US" sz="1100" dirty="0"/>
          </a:p>
        </p:txBody>
      </p:sp>
      <p:sp>
        <p:nvSpPr>
          <p:cNvPr id="18" name="Shape 16"/>
          <p:cNvSpPr/>
          <p:nvPr/>
        </p:nvSpPr>
        <p:spPr>
          <a:xfrm>
            <a:off x="640080" y="4123944"/>
            <a:ext cx="10911535" cy="923544"/>
          </a:xfrm>
          <a:prstGeom prst="roundRect">
            <a:avLst>
              <a:gd name="adj" fmla="val 9901"/>
            </a:avLst>
          </a:prstGeom>
          <a:solidFill>
            <a:srgbClr val="F5F2FA"/>
          </a:solidFill>
          <a:ln w="12700">
            <a:solidFill>
              <a:srgbClr val="E7E1F0"/>
            </a:solidFill>
            <a:prstDash val="solid"/>
          </a:ln>
        </p:spPr>
      </p:sp>
      <p:sp>
        <p:nvSpPr>
          <p:cNvPr id="19" name="Shape 17"/>
          <p:cNvSpPr/>
          <p:nvPr/>
        </p:nvSpPr>
        <p:spPr>
          <a:xfrm>
            <a:off x="868680" y="4265676"/>
            <a:ext cx="640080" cy="640080"/>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0" name="Text 18"/>
          <p:cNvSpPr/>
          <p:nvPr/>
        </p:nvSpPr>
        <p:spPr>
          <a:xfrm>
            <a:off x="868680" y="4265676"/>
            <a:ext cx="640080" cy="640080"/>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3</a:t>
            </a:r>
            <a:endParaRPr lang="en-US" sz="2400" dirty="0"/>
          </a:p>
        </p:txBody>
      </p:sp>
      <p:sp>
        <p:nvSpPr>
          <p:cNvPr id="21" name="Text 19"/>
          <p:cNvSpPr/>
          <p:nvPr/>
        </p:nvSpPr>
        <p:spPr>
          <a:xfrm>
            <a:off x="1691640" y="4123944"/>
            <a:ext cx="3383280" cy="923544"/>
          </a:xfrm>
          <a:prstGeom prst="rect">
            <a:avLst/>
          </a:prstGeom>
          <a:noFill/>
          <a:ln/>
        </p:spPr>
        <p:txBody>
          <a:bodyPr wrap="square" lIns="0" tIns="0" rIns="0" bIns="0" rtlCol="0" anchor="ctr"/>
          <a:lstStyle/>
          <a:p>
            <a:pPr algn="l" indent="0" marL="0">
              <a:buNone/>
            </a:pPr>
            <a:r>
              <a:rPr lang="en-US" sz="1650" b="1" dirty="0">
                <a:solidFill>
                  <a:srgbClr val="2B1F3A"/>
                </a:solidFill>
                <a:latin typeface="Century Schoolbook" pitchFamily="34" charset="0"/>
                <a:ea typeface="Century Schoolbook" pitchFamily="34" charset="-122"/>
                <a:cs typeface="Century Schoolbook" pitchFamily="34" charset="-120"/>
              </a:rPr>
              <a:t>Beneficio en dinero/tiempo</a:t>
            </a:r>
            <a:endParaRPr lang="en-US" sz="1650" dirty="0"/>
          </a:p>
        </p:txBody>
      </p:sp>
      <p:sp>
        <p:nvSpPr>
          <p:cNvPr id="22" name="Text 20"/>
          <p:cNvSpPr/>
          <p:nvPr/>
        </p:nvSpPr>
        <p:spPr>
          <a:xfrm>
            <a:off x="5166360" y="4123944"/>
            <a:ext cx="4922215" cy="923544"/>
          </a:xfrm>
          <a:prstGeom prst="rect">
            <a:avLst/>
          </a:prstGeom>
          <a:noFill/>
          <a:ln/>
        </p:spPr>
        <p:txBody>
          <a:bodyPr wrap="square" lIns="0" tIns="0" rIns="0" bIns="0" rtlCol="0" anchor="ctr"/>
          <a:lstStyle/>
          <a:p>
            <a:pPr algn="l" indent="0" marL="0">
              <a:lnSpc>
                <a:spcPct val="102000"/>
              </a:lnSpc>
              <a:buNone/>
            </a:pPr>
            <a:r>
              <a:rPr lang="en-US" sz="1300" dirty="0">
                <a:solidFill>
                  <a:srgbClr val="3A3348"/>
                </a:solidFill>
                <a:latin typeface="Calibri" pitchFamily="34" charset="0"/>
                <a:ea typeface="Calibri" pitchFamily="34" charset="-122"/>
                <a:cs typeface="Calibri" pitchFamily="34" charset="-120"/>
              </a:rPr>
              <a:t>Traduce lo que vio a plata ahorrada u horas ganadas.</a:t>
            </a:r>
            <a:endParaRPr lang="en-US" sz="1300" dirty="0"/>
          </a:p>
        </p:txBody>
      </p:sp>
      <p:sp>
        <p:nvSpPr>
          <p:cNvPr id="23" name="Shape 21"/>
          <p:cNvSpPr/>
          <p:nvPr/>
        </p:nvSpPr>
        <p:spPr>
          <a:xfrm>
            <a:off x="10134295" y="4357116"/>
            <a:ext cx="1188720" cy="457200"/>
          </a:xfrm>
          <a:prstGeom prst="roundRect">
            <a:avLst>
              <a:gd name="adj" fmla="val 50000"/>
            </a:avLst>
          </a:prstGeom>
          <a:solidFill>
            <a:srgbClr val="2B1F3A"/>
          </a:solidFill>
          <a:ln/>
        </p:spPr>
      </p:sp>
      <p:sp>
        <p:nvSpPr>
          <p:cNvPr id="24" name="Text 22"/>
          <p:cNvSpPr/>
          <p:nvPr/>
        </p:nvSpPr>
        <p:spPr>
          <a:xfrm>
            <a:off x="10134295" y="4357116"/>
            <a:ext cx="11887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2 min</a:t>
            </a:r>
            <a:endParaRPr lang="en-US" sz="1100" dirty="0"/>
          </a:p>
        </p:txBody>
      </p:sp>
      <p:sp>
        <p:nvSpPr>
          <p:cNvPr id="25" name="Shape 23"/>
          <p:cNvSpPr/>
          <p:nvPr/>
        </p:nvSpPr>
        <p:spPr>
          <a:xfrm>
            <a:off x="640080" y="5248656"/>
            <a:ext cx="10911535" cy="923544"/>
          </a:xfrm>
          <a:prstGeom prst="roundRect">
            <a:avLst>
              <a:gd name="adj" fmla="val 9901"/>
            </a:avLst>
          </a:prstGeom>
          <a:solidFill>
            <a:srgbClr val="F5F2FA"/>
          </a:solidFill>
          <a:ln w="12700">
            <a:solidFill>
              <a:srgbClr val="E7E1F0"/>
            </a:solidFill>
            <a:prstDash val="solid"/>
          </a:ln>
        </p:spPr>
      </p:sp>
      <p:sp>
        <p:nvSpPr>
          <p:cNvPr id="26" name="Shape 24"/>
          <p:cNvSpPr/>
          <p:nvPr/>
        </p:nvSpPr>
        <p:spPr>
          <a:xfrm>
            <a:off x="868680" y="5390388"/>
            <a:ext cx="640080" cy="640080"/>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7" name="Text 25"/>
          <p:cNvSpPr/>
          <p:nvPr/>
        </p:nvSpPr>
        <p:spPr>
          <a:xfrm>
            <a:off x="868680" y="5390388"/>
            <a:ext cx="640080" cy="640080"/>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4</a:t>
            </a:r>
            <a:endParaRPr lang="en-US" sz="2400" dirty="0"/>
          </a:p>
        </p:txBody>
      </p:sp>
      <p:sp>
        <p:nvSpPr>
          <p:cNvPr id="28" name="Text 26"/>
          <p:cNvSpPr/>
          <p:nvPr/>
        </p:nvSpPr>
        <p:spPr>
          <a:xfrm>
            <a:off x="1691640" y="5248656"/>
            <a:ext cx="3383280" cy="923544"/>
          </a:xfrm>
          <a:prstGeom prst="rect">
            <a:avLst/>
          </a:prstGeom>
          <a:noFill/>
          <a:ln/>
        </p:spPr>
        <p:txBody>
          <a:bodyPr wrap="square" lIns="0" tIns="0" rIns="0" bIns="0" rtlCol="0" anchor="ctr"/>
          <a:lstStyle/>
          <a:p>
            <a:pPr algn="l" indent="0" marL="0">
              <a:buNone/>
            </a:pPr>
            <a:r>
              <a:rPr lang="en-US" sz="1650" b="1" dirty="0">
                <a:solidFill>
                  <a:srgbClr val="2B1F3A"/>
                </a:solidFill>
                <a:latin typeface="Century Schoolbook" pitchFamily="34" charset="0"/>
                <a:ea typeface="Century Schoolbook" pitchFamily="34" charset="-122"/>
                <a:cs typeface="Century Schoolbook" pitchFamily="34" charset="-120"/>
              </a:rPr>
              <a:t>Cierre + próximo paso</a:t>
            </a:r>
            <a:endParaRPr lang="en-US" sz="1650" dirty="0"/>
          </a:p>
        </p:txBody>
      </p:sp>
      <p:sp>
        <p:nvSpPr>
          <p:cNvPr id="29" name="Text 27"/>
          <p:cNvSpPr/>
          <p:nvPr/>
        </p:nvSpPr>
        <p:spPr>
          <a:xfrm>
            <a:off x="5166360" y="5248656"/>
            <a:ext cx="4922215" cy="923544"/>
          </a:xfrm>
          <a:prstGeom prst="rect">
            <a:avLst/>
          </a:prstGeom>
          <a:noFill/>
          <a:ln/>
        </p:spPr>
        <p:txBody>
          <a:bodyPr wrap="square" lIns="0" tIns="0" rIns="0" bIns="0" rtlCol="0" anchor="ctr"/>
          <a:lstStyle/>
          <a:p>
            <a:pPr algn="l" indent="0" marL="0">
              <a:lnSpc>
                <a:spcPct val="102000"/>
              </a:lnSpc>
              <a:buNone/>
            </a:pPr>
            <a:r>
              <a:rPr lang="en-US" sz="1300" dirty="0">
                <a:solidFill>
                  <a:srgbClr val="3A3348"/>
                </a:solidFill>
                <a:latin typeface="Calibri" pitchFamily="34" charset="0"/>
                <a:ea typeface="Calibri" pitchFamily="34" charset="-122"/>
                <a:cs typeface="Calibri" pitchFamily="34" charset="-120"/>
              </a:rPr>
              <a:t>Confirma interés y define qué sigue.</a:t>
            </a:r>
            <a:endParaRPr lang="en-US" sz="1300" dirty="0"/>
          </a:p>
        </p:txBody>
      </p:sp>
      <p:sp>
        <p:nvSpPr>
          <p:cNvPr id="30" name="Shape 28"/>
          <p:cNvSpPr/>
          <p:nvPr/>
        </p:nvSpPr>
        <p:spPr>
          <a:xfrm>
            <a:off x="10134295" y="5481828"/>
            <a:ext cx="1188720" cy="457200"/>
          </a:xfrm>
          <a:prstGeom prst="roundRect">
            <a:avLst>
              <a:gd name="adj" fmla="val 50000"/>
            </a:avLst>
          </a:prstGeom>
          <a:solidFill>
            <a:srgbClr val="2B1F3A"/>
          </a:solidFill>
          <a:ln/>
        </p:spPr>
      </p:sp>
      <p:sp>
        <p:nvSpPr>
          <p:cNvPr id="31" name="Text 29"/>
          <p:cNvSpPr/>
          <p:nvPr/>
        </p:nvSpPr>
        <p:spPr>
          <a:xfrm>
            <a:off x="10134295" y="5481828"/>
            <a:ext cx="11887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2 min</a:t>
            </a:r>
            <a:endParaRPr lang="en-US" sz="1100" dirty="0"/>
          </a:p>
        </p:txBody>
      </p:sp>
      <p:sp>
        <p:nvSpPr>
          <p:cNvPr id="32" name="Text 30"/>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33" name="Text 31"/>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PASO 1 · ANTES DE MOSTRAR NADA</a:t>
            </a:r>
            <a:endParaRPr lang="en-US" sz="1150" dirty="0"/>
          </a:p>
        </p:txBody>
      </p:sp>
      <p:sp>
        <p:nvSpPr>
          <p:cNvPr id="3" name="Text 1"/>
          <p:cNvSpPr/>
          <p:nvPr/>
        </p:nvSpPr>
        <p:spPr>
          <a:xfrm>
            <a:off x="640080" y="91440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Recap del dolor</a:t>
            </a:r>
            <a:endParaRPr lang="en-US" sz="3400" dirty="0"/>
          </a:p>
        </p:txBody>
      </p:sp>
      <p:sp>
        <p:nvSpPr>
          <p:cNvPr id="4" name="Shape 2"/>
          <p:cNvSpPr/>
          <p:nvPr/>
        </p:nvSpPr>
        <p:spPr>
          <a:xfrm>
            <a:off x="640080" y="1828800"/>
            <a:ext cx="10911535" cy="1417320"/>
          </a:xfrm>
          <a:prstGeom prst="roundRect">
            <a:avLst>
              <a:gd name="adj" fmla="val 9032"/>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822960" y="1691640"/>
            <a:ext cx="1097280" cy="914400"/>
          </a:xfrm>
          <a:prstGeom prst="rect">
            <a:avLst/>
          </a:prstGeom>
          <a:noFill/>
          <a:ln/>
        </p:spPr>
        <p:txBody>
          <a:bodyPr wrap="square" lIns="0" tIns="0" rIns="0" bIns="0" rtlCol="0" anchor="t"/>
          <a:lstStyle/>
          <a:p>
            <a:pPr algn="l" indent="0" marL="0">
              <a:buNone/>
            </a:pPr>
            <a:r>
              <a:rPr lang="en-US" sz="7000" b="1" dirty="0">
                <a:solidFill>
                  <a:srgbClr val="A18BCF"/>
                </a:solidFill>
                <a:latin typeface="Century Schoolbook" pitchFamily="34" charset="0"/>
                <a:ea typeface="Century Schoolbook" pitchFamily="34" charset="-122"/>
                <a:cs typeface="Century Schoolbook" pitchFamily="34" charset="-120"/>
              </a:rPr>
              <a:t>“</a:t>
            </a:r>
            <a:endParaRPr lang="en-US" sz="7000" dirty="0"/>
          </a:p>
        </p:txBody>
      </p:sp>
      <p:sp>
        <p:nvSpPr>
          <p:cNvPr id="6" name="Text 4"/>
          <p:cNvSpPr/>
          <p:nvPr/>
        </p:nvSpPr>
        <p:spPr>
          <a:xfrm>
            <a:off x="1691640" y="1965960"/>
            <a:ext cx="9539935" cy="1143000"/>
          </a:xfrm>
          <a:prstGeom prst="rect">
            <a:avLst/>
          </a:prstGeom>
          <a:noFill/>
          <a:ln/>
        </p:spPr>
        <p:txBody>
          <a:bodyPr wrap="square" lIns="0" tIns="0" rIns="0" bIns="0" rtlCol="0" anchor="ctr"/>
          <a:lstStyle/>
          <a:p>
            <a:pPr algn="l" indent="0" marL="0">
              <a:lnSpc>
                <a:spcPct val="105000"/>
              </a:lnSpc>
              <a:buNone/>
            </a:pPr>
            <a:r>
              <a:rPr lang="en-US" sz="1850" b="1" i="1" dirty="0">
                <a:solidFill>
                  <a:srgbClr val="FFFFFF"/>
                </a:solidFill>
                <a:latin typeface="Century Schoolbook" pitchFamily="34" charset="0"/>
                <a:ea typeface="Century Schoolbook" pitchFamily="34" charset="-122"/>
                <a:cs typeface="Century Schoolbook" pitchFamily="34" charset="-120"/>
              </a:rPr>
              <a:t>«Usted me dijo que los pedidos se confunden y que no sabe qué platos dejan más margen.»</a:t>
            </a:r>
            <a:endParaRPr lang="en-US" sz="1850" dirty="0"/>
          </a:p>
        </p:txBody>
      </p:sp>
      <p:sp>
        <p:nvSpPr>
          <p:cNvPr id="7" name="Shape 5"/>
          <p:cNvSpPr/>
          <p:nvPr/>
        </p:nvSpPr>
        <p:spPr>
          <a:xfrm>
            <a:off x="640080" y="3611880"/>
            <a:ext cx="339333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2016709"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9" name="Text 7"/>
          <p:cNvSpPr/>
          <p:nvPr/>
        </p:nvSpPr>
        <p:spPr>
          <a:xfrm>
            <a:off x="2016709"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0" name="Text 8"/>
          <p:cNvSpPr/>
          <p:nvPr/>
        </p:nvSpPr>
        <p:spPr>
          <a:xfrm>
            <a:off x="914400"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Demuestra que escuchaste en el diagnóstico.</a:t>
            </a:r>
            <a:endParaRPr lang="en-US" sz="1350" dirty="0"/>
          </a:p>
        </p:txBody>
      </p:sp>
      <p:sp>
        <p:nvSpPr>
          <p:cNvPr id="11" name="Shape 9"/>
          <p:cNvSpPr/>
          <p:nvPr/>
        </p:nvSpPr>
        <p:spPr>
          <a:xfrm>
            <a:off x="4399178" y="3611880"/>
            <a:ext cx="3393338" cy="2286000"/>
          </a:xfrm>
          <a:prstGeom prst="roundRect">
            <a:avLst>
              <a:gd name="adj" fmla="val 4800"/>
            </a:avLst>
          </a:prstGeom>
          <a:solidFill>
            <a:srgbClr val="F5F2FA"/>
          </a:solidFill>
          <a:ln w="12700">
            <a:solidFill>
              <a:srgbClr val="E7E1F0"/>
            </a:solidFill>
            <a:prstDash val="solid"/>
          </a:ln>
        </p:spPr>
      </p:sp>
      <p:sp>
        <p:nvSpPr>
          <p:cNvPr id="12" name="Shape 10"/>
          <p:cNvSpPr/>
          <p:nvPr/>
        </p:nvSpPr>
        <p:spPr>
          <a:xfrm>
            <a:off x="5775808"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13" name="Text 11"/>
          <p:cNvSpPr/>
          <p:nvPr/>
        </p:nvSpPr>
        <p:spPr>
          <a:xfrm>
            <a:off x="5775808"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4" name="Text 12"/>
          <p:cNvSpPr/>
          <p:nvPr/>
        </p:nvSpPr>
        <p:spPr>
          <a:xfrm>
            <a:off x="4673498"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Enfoca la mente del cliente en su propio problema.</a:t>
            </a:r>
            <a:endParaRPr lang="en-US" sz="1350" dirty="0"/>
          </a:p>
        </p:txBody>
      </p:sp>
      <p:sp>
        <p:nvSpPr>
          <p:cNvPr id="15" name="Shape 13"/>
          <p:cNvSpPr/>
          <p:nvPr/>
        </p:nvSpPr>
        <p:spPr>
          <a:xfrm>
            <a:off x="8158277" y="3611880"/>
            <a:ext cx="3393338" cy="2286000"/>
          </a:xfrm>
          <a:prstGeom prst="roundRect">
            <a:avLst>
              <a:gd name="adj" fmla="val 4800"/>
            </a:avLst>
          </a:prstGeom>
          <a:solidFill>
            <a:srgbClr val="F5F2FA"/>
          </a:solidFill>
          <a:ln w="12700">
            <a:solidFill>
              <a:srgbClr val="E7E1F0"/>
            </a:solidFill>
            <a:prstDash val="solid"/>
          </a:ln>
        </p:spPr>
      </p:sp>
      <p:sp>
        <p:nvSpPr>
          <p:cNvPr id="16" name="Shape 14"/>
          <p:cNvSpPr/>
          <p:nvPr/>
        </p:nvSpPr>
        <p:spPr>
          <a:xfrm>
            <a:off x="9534906"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17" name="Text 15"/>
          <p:cNvSpPr/>
          <p:nvPr/>
        </p:nvSpPr>
        <p:spPr>
          <a:xfrm>
            <a:off x="9534906"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8" name="Text 16"/>
          <p:cNvSpPr/>
          <p:nvPr/>
        </p:nvSpPr>
        <p:spPr>
          <a:xfrm>
            <a:off x="8432597"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Crea el contraste perfecto para la solución que viene.</a:t>
            </a:r>
            <a:endParaRPr lang="en-US" sz="1350" dirty="0"/>
          </a:p>
        </p:txBody>
      </p:sp>
      <p:sp>
        <p:nvSpPr>
          <p:cNvPr id="19" name="Text 1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20" name="Text 1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PASO 2 · EL CORAZÓN DE LA DEMO</a:t>
            </a:r>
            <a:endParaRPr lang="en-US" sz="1150" dirty="0"/>
          </a:p>
        </p:txBody>
      </p:sp>
      <p:sp>
        <p:nvSpPr>
          <p:cNvPr id="3" name="Text 1"/>
          <p:cNvSpPr/>
          <p:nvPr/>
        </p:nvSpPr>
        <p:spPr>
          <a:xfrm>
            <a:off x="640080" y="91440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Solución en vivo, enfocada</a:t>
            </a:r>
            <a:endParaRPr lang="en-US" sz="3400" dirty="0"/>
          </a:p>
        </p:txBody>
      </p:sp>
      <p:sp>
        <p:nvSpPr>
          <p:cNvPr id="4" name="Shape 2"/>
          <p:cNvSpPr/>
          <p:nvPr/>
        </p:nvSpPr>
        <p:spPr>
          <a:xfrm>
            <a:off x="640080" y="1828800"/>
            <a:ext cx="10911535" cy="1417320"/>
          </a:xfrm>
          <a:prstGeom prst="roundRect">
            <a:avLst>
              <a:gd name="adj" fmla="val 9032"/>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822960" y="1691640"/>
            <a:ext cx="1097280" cy="914400"/>
          </a:xfrm>
          <a:prstGeom prst="rect">
            <a:avLst/>
          </a:prstGeom>
          <a:noFill/>
          <a:ln/>
        </p:spPr>
        <p:txBody>
          <a:bodyPr wrap="square" lIns="0" tIns="0" rIns="0" bIns="0" rtlCol="0" anchor="t"/>
          <a:lstStyle/>
          <a:p>
            <a:pPr algn="l" indent="0" marL="0">
              <a:buNone/>
            </a:pPr>
            <a:r>
              <a:rPr lang="en-US" sz="7000" b="1" dirty="0">
                <a:solidFill>
                  <a:srgbClr val="A18BCF"/>
                </a:solidFill>
                <a:latin typeface="Century Schoolbook" pitchFamily="34" charset="0"/>
                <a:ea typeface="Century Schoolbook" pitchFamily="34" charset="-122"/>
                <a:cs typeface="Century Schoolbook" pitchFamily="34" charset="-120"/>
              </a:rPr>
              <a:t>“</a:t>
            </a:r>
            <a:endParaRPr lang="en-US" sz="7000" dirty="0"/>
          </a:p>
        </p:txBody>
      </p:sp>
      <p:sp>
        <p:nvSpPr>
          <p:cNvPr id="6" name="Text 4"/>
          <p:cNvSpPr/>
          <p:nvPr/>
        </p:nvSpPr>
        <p:spPr>
          <a:xfrm>
            <a:off x="1691640" y="1965960"/>
            <a:ext cx="9539935" cy="1143000"/>
          </a:xfrm>
          <a:prstGeom prst="rect">
            <a:avLst/>
          </a:prstGeom>
          <a:noFill/>
          <a:ln/>
        </p:spPr>
        <p:txBody>
          <a:bodyPr wrap="square" lIns="0" tIns="0" rIns="0" bIns="0" rtlCol="0" anchor="ctr"/>
          <a:lstStyle/>
          <a:p>
            <a:pPr algn="l" indent="0" marL="0">
              <a:lnSpc>
                <a:spcPct val="105000"/>
              </a:lnSpc>
              <a:buNone/>
            </a:pPr>
            <a:r>
              <a:rPr lang="en-US" sz="1850" b="1" i="1" dirty="0">
                <a:solidFill>
                  <a:srgbClr val="FFFFFF"/>
                </a:solidFill>
                <a:latin typeface="Century Schoolbook" pitchFamily="34" charset="0"/>
                <a:ea typeface="Century Schoolbook" pitchFamily="34" charset="-122"/>
                <a:cs typeface="Century Schoolbook" pitchFamily="34" charset="-120"/>
              </a:rPr>
              <a:t>«Le muestro cómo se toma el pedido, se cobra y queda registrado, todo en un flujo.»</a:t>
            </a:r>
            <a:endParaRPr lang="en-US" sz="1850" dirty="0"/>
          </a:p>
        </p:txBody>
      </p:sp>
      <p:sp>
        <p:nvSpPr>
          <p:cNvPr id="7" name="Shape 5"/>
          <p:cNvSpPr/>
          <p:nvPr/>
        </p:nvSpPr>
        <p:spPr>
          <a:xfrm>
            <a:off x="640080" y="3611880"/>
            <a:ext cx="339333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2016709"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9" name="Text 7"/>
          <p:cNvSpPr/>
          <p:nvPr/>
        </p:nvSpPr>
        <p:spPr>
          <a:xfrm>
            <a:off x="2016709"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0" name="Text 8"/>
          <p:cNvSpPr/>
          <p:nvPr/>
        </p:nvSpPr>
        <p:spPr>
          <a:xfrm>
            <a:off x="914400"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Antes de abrir una pantalla, di qué problema vas a resolver.</a:t>
            </a:r>
            <a:endParaRPr lang="en-US" sz="1350" dirty="0"/>
          </a:p>
        </p:txBody>
      </p:sp>
      <p:sp>
        <p:nvSpPr>
          <p:cNvPr id="11" name="Shape 9"/>
          <p:cNvSpPr/>
          <p:nvPr/>
        </p:nvSpPr>
        <p:spPr>
          <a:xfrm>
            <a:off x="4399178" y="3611880"/>
            <a:ext cx="3393338" cy="2286000"/>
          </a:xfrm>
          <a:prstGeom prst="roundRect">
            <a:avLst>
              <a:gd name="adj" fmla="val 4800"/>
            </a:avLst>
          </a:prstGeom>
          <a:solidFill>
            <a:srgbClr val="F5F2FA"/>
          </a:solidFill>
          <a:ln w="12700">
            <a:solidFill>
              <a:srgbClr val="E7E1F0"/>
            </a:solidFill>
            <a:prstDash val="solid"/>
          </a:ln>
        </p:spPr>
      </p:sp>
      <p:sp>
        <p:nvSpPr>
          <p:cNvPr id="12" name="Shape 10"/>
          <p:cNvSpPr/>
          <p:nvPr/>
        </p:nvSpPr>
        <p:spPr>
          <a:xfrm>
            <a:off x="5775808"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13" name="Text 11"/>
          <p:cNvSpPr/>
          <p:nvPr/>
        </p:nvSpPr>
        <p:spPr>
          <a:xfrm>
            <a:off x="5775808"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4" name="Text 12"/>
          <p:cNvSpPr/>
          <p:nvPr/>
        </p:nvSpPr>
        <p:spPr>
          <a:xfrm>
            <a:off x="4673498"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Usa datos parecidos a los de su negocio: sus productos, sus precios.</a:t>
            </a:r>
            <a:endParaRPr lang="en-US" sz="1350" dirty="0"/>
          </a:p>
        </p:txBody>
      </p:sp>
      <p:sp>
        <p:nvSpPr>
          <p:cNvPr id="15" name="Shape 13"/>
          <p:cNvSpPr/>
          <p:nvPr/>
        </p:nvSpPr>
        <p:spPr>
          <a:xfrm>
            <a:off x="8158277" y="3611880"/>
            <a:ext cx="3393338" cy="2286000"/>
          </a:xfrm>
          <a:prstGeom prst="roundRect">
            <a:avLst>
              <a:gd name="adj" fmla="val 4800"/>
            </a:avLst>
          </a:prstGeom>
          <a:solidFill>
            <a:srgbClr val="F5F2FA"/>
          </a:solidFill>
          <a:ln w="12700">
            <a:solidFill>
              <a:srgbClr val="E7E1F0"/>
            </a:solidFill>
            <a:prstDash val="solid"/>
          </a:ln>
        </p:spPr>
      </p:sp>
      <p:sp>
        <p:nvSpPr>
          <p:cNvPr id="16" name="Shape 14"/>
          <p:cNvSpPr/>
          <p:nvPr/>
        </p:nvSpPr>
        <p:spPr>
          <a:xfrm>
            <a:off x="9534906"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17" name="Text 15"/>
          <p:cNvSpPr/>
          <p:nvPr/>
        </p:nvSpPr>
        <p:spPr>
          <a:xfrm>
            <a:off x="9534906"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8" name="Text 16"/>
          <p:cNvSpPr/>
          <p:nvPr/>
        </p:nvSpPr>
        <p:spPr>
          <a:xfrm>
            <a:off x="8432597"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Enseña lo suficiente para que vea su operación más ordenada, no todo ATRIA.</a:t>
            </a:r>
            <a:endParaRPr lang="en-US" sz="1350" dirty="0"/>
          </a:p>
        </p:txBody>
      </p:sp>
      <p:sp>
        <p:nvSpPr>
          <p:cNvPr id="19" name="Text 1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20" name="Text 1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PASO 3 · TRADUCE A VALOR</a:t>
            </a:r>
            <a:endParaRPr lang="en-US" sz="1150" dirty="0"/>
          </a:p>
        </p:txBody>
      </p:sp>
      <p:sp>
        <p:nvSpPr>
          <p:cNvPr id="3" name="Text 1"/>
          <p:cNvSpPr/>
          <p:nvPr/>
        </p:nvSpPr>
        <p:spPr>
          <a:xfrm>
            <a:off x="640080" y="91440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Beneficio en dinero y tiempo</a:t>
            </a:r>
            <a:endParaRPr lang="en-US" sz="3400" dirty="0"/>
          </a:p>
        </p:txBody>
      </p:sp>
      <p:sp>
        <p:nvSpPr>
          <p:cNvPr id="4" name="Shape 2"/>
          <p:cNvSpPr/>
          <p:nvPr/>
        </p:nvSpPr>
        <p:spPr>
          <a:xfrm>
            <a:off x="640080" y="1828800"/>
            <a:ext cx="10911535" cy="1417320"/>
          </a:xfrm>
          <a:prstGeom prst="roundRect">
            <a:avLst>
              <a:gd name="adj" fmla="val 9032"/>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822960" y="1691640"/>
            <a:ext cx="1097280" cy="914400"/>
          </a:xfrm>
          <a:prstGeom prst="rect">
            <a:avLst/>
          </a:prstGeom>
          <a:noFill/>
          <a:ln/>
        </p:spPr>
        <p:txBody>
          <a:bodyPr wrap="square" lIns="0" tIns="0" rIns="0" bIns="0" rtlCol="0" anchor="t"/>
          <a:lstStyle/>
          <a:p>
            <a:pPr algn="l" indent="0" marL="0">
              <a:buNone/>
            </a:pPr>
            <a:r>
              <a:rPr lang="en-US" sz="7000" b="1" dirty="0">
                <a:solidFill>
                  <a:srgbClr val="A18BCF"/>
                </a:solidFill>
                <a:latin typeface="Century Schoolbook" pitchFamily="34" charset="0"/>
                <a:ea typeface="Century Schoolbook" pitchFamily="34" charset="-122"/>
                <a:cs typeface="Century Schoolbook" pitchFamily="34" charset="-120"/>
              </a:rPr>
              <a:t>“</a:t>
            </a:r>
            <a:endParaRPr lang="en-US" sz="7000" dirty="0"/>
          </a:p>
        </p:txBody>
      </p:sp>
      <p:sp>
        <p:nvSpPr>
          <p:cNvPr id="6" name="Text 4"/>
          <p:cNvSpPr/>
          <p:nvPr/>
        </p:nvSpPr>
        <p:spPr>
          <a:xfrm>
            <a:off x="1691640" y="1965960"/>
            <a:ext cx="9539935" cy="1143000"/>
          </a:xfrm>
          <a:prstGeom prst="rect">
            <a:avLst/>
          </a:prstGeom>
          <a:noFill/>
          <a:ln/>
        </p:spPr>
        <p:txBody>
          <a:bodyPr wrap="square" lIns="0" tIns="0" rIns="0" bIns="0" rtlCol="0" anchor="ctr"/>
          <a:lstStyle/>
          <a:p>
            <a:pPr algn="l" indent="0" marL="0">
              <a:lnSpc>
                <a:spcPct val="105000"/>
              </a:lnSpc>
              <a:buNone/>
            </a:pPr>
            <a:r>
              <a:rPr lang="en-US" sz="1850" b="1" i="1" dirty="0">
                <a:solidFill>
                  <a:srgbClr val="FFFFFF"/>
                </a:solidFill>
                <a:latin typeface="Century Schoolbook" pitchFamily="34" charset="0"/>
                <a:ea typeface="Century Schoolbook" pitchFamily="34" charset="-122"/>
                <a:cs typeface="Century Schoolbook" pitchFamily="34" charset="-120"/>
              </a:rPr>
              <a:t>«Esto que acaba de ver le ahorra unas 10 horas de cuadres al mes y evita las pérdidas por vencimiento.»</a:t>
            </a:r>
            <a:endParaRPr lang="en-US" sz="1850" dirty="0"/>
          </a:p>
        </p:txBody>
      </p:sp>
      <p:sp>
        <p:nvSpPr>
          <p:cNvPr id="7" name="Shape 5"/>
          <p:cNvSpPr/>
          <p:nvPr/>
        </p:nvSpPr>
        <p:spPr>
          <a:xfrm>
            <a:off x="640080" y="3611880"/>
            <a:ext cx="339333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2016709"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9" name="Text 7"/>
          <p:cNvSpPr/>
          <p:nvPr/>
        </p:nvSpPr>
        <p:spPr>
          <a:xfrm>
            <a:off x="2016709"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0" name="Text 8"/>
          <p:cNvSpPr/>
          <p:nvPr/>
        </p:nvSpPr>
        <p:spPr>
          <a:xfrm>
            <a:off x="914400"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El cliente no compra funciones; compra resultados.</a:t>
            </a:r>
            <a:endParaRPr lang="en-US" sz="1350" dirty="0"/>
          </a:p>
        </p:txBody>
      </p:sp>
      <p:sp>
        <p:nvSpPr>
          <p:cNvPr id="11" name="Shape 9"/>
          <p:cNvSpPr/>
          <p:nvPr/>
        </p:nvSpPr>
        <p:spPr>
          <a:xfrm>
            <a:off x="4399178" y="3611880"/>
            <a:ext cx="3393338" cy="2286000"/>
          </a:xfrm>
          <a:prstGeom prst="roundRect">
            <a:avLst>
              <a:gd name="adj" fmla="val 4800"/>
            </a:avLst>
          </a:prstGeom>
          <a:solidFill>
            <a:srgbClr val="F5F2FA"/>
          </a:solidFill>
          <a:ln w="12700">
            <a:solidFill>
              <a:srgbClr val="E7E1F0"/>
            </a:solidFill>
            <a:prstDash val="solid"/>
          </a:ln>
        </p:spPr>
      </p:sp>
      <p:sp>
        <p:nvSpPr>
          <p:cNvPr id="12" name="Shape 10"/>
          <p:cNvSpPr/>
          <p:nvPr/>
        </p:nvSpPr>
        <p:spPr>
          <a:xfrm>
            <a:off x="5775808"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13" name="Text 11"/>
          <p:cNvSpPr/>
          <p:nvPr/>
        </p:nvSpPr>
        <p:spPr>
          <a:xfrm>
            <a:off x="5775808"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4" name="Text 12"/>
          <p:cNvSpPr/>
          <p:nvPr/>
        </p:nvSpPr>
        <p:spPr>
          <a:xfrm>
            <a:off x="4673498"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Traduce cada función a dinero ahorrado, tiempo ganado o riesgo evitado.</a:t>
            </a:r>
            <a:endParaRPr lang="en-US" sz="1350" dirty="0"/>
          </a:p>
        </p:txBody>
      </p:sp>
      <p:sp>
        <p:nvSpPr>
          <p:cNvPr id="15" name="Shape 13"/>
          <p:cNvSpPr/>
          <p:nvPr/>
        </p:nvSpPr>
        <p:spPr>
          <a:xfrm>
            <a:off x="8158277" y="3611880"/>
            <a:ext cx="3393338" cy="2286000"/>
          </a:xfrm>
          <a:prstGeom prst="roundRect">
            <a:avLst>
              <a:gd name="adj" fmla="val 4800"/>
            </a:avLst>
          </a:prstGeom>
          <a:solidFill>
            <a:srgbClr val="F5F2FA"/>
          </a:solidFill>
          <a:ln w="12700">
            <a:solidFill>
              <a:srgbClr val="E7E1F0"/>
            </a:solidFill>
            <a:prstDash val="solid"/>
          </a:ln>
        </p:spPr>
      </p:sp>
      <p:sp>
        <p:nvSpPr>
          <p:cNvPr id="16" name="Shape 14"/>
          <p:cNvSpPr/>
          <p:nvPr/>
        </p:nvSpPr>
        <p:spPr>
          <a:xfrm>
            <a:off x="9534906"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17" name="Text 15"/>
          <p:cNvSpPr/>
          <p:nvPr/>
        </p:nvSpPr>
        <p:spPr>
          <a:xfrm>
            <a:off x="9534906"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8" name="Text 16"/>
          <p:cNvSpPr/>
          <p:nvPr/>
        </p:nvSpPr>
        <p:spPr>
          <a:xfrm>
            <a:off x="8432597"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Los números hacen tangible lo que los adjetivos solo prometen.</a:t>
            </a:r>
            <a:endParaRPr lang="en-US" sz="1350" dirty="0"/>
          </a:p>
        </p:txBody>
      </p:sp>
      <p:sp>
        <p:nvSpPr>
          <p:cNvPr id="19" name="Text 1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20" name="Text 1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PASO 4 · NUNCA TERMINES SIN ESTO</a:t>
            </a:r>
            <a:endParaRPr lang="en-US" sz="1150" dirty="0"/>
          </a:p>
        </p:txBody>
      </p:sp>
      <p:sp>
        <p:nvSpPr>
          <p:cNvPr id="3" name="Text 1"/>
          <p:cNvSpPr/>
          <p:nvPr/>
        </p:nvSpPr>
        <p:spPr>
          <a:xfrm>
            <a:off x="640080" y="91440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Cierre y próximo paso</a:t>
            </a:r>
            <a:endParaRPr lang="en-US" sz="3400" dirty="0"/>
          </a:p>
        </p:txBody>
      </p:sp>
      <p:sp>
        <p:nvSpPr>
          <p:cNvPr id="4" name="Shape 2"/>
          <p:cNvSpPr/>
          <p:nvPr/>
        </p:nvSpPr>
        <p:spPr>
          <a:xfrm>
            <a:off x="640080" y="1828800"/>
            <a:ext cx="10911535" cy="1417320"/>
          </a:xfrm>
          <a:prstGeom prst="roundRect">
            <a:avLst>
              <a:gd name="adj" fmla="val 9032"/>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822960" y="1691640"/>
            <a:ext cx="1097280" cy="914400"/>
          </a:xfrm>
          <a:prstGeom prst="rect">
            <a:avLst/>
          </a:prstGeom>
          <a:noFill/>
          <a:ln/>
        </p:spPr>
        <p:txBody>
          <a:bodyPr wrap="square" lIns="0" tIns="0" rIns="0" bIns="0" rtlCol="0" anchor="t"/>
          <a:lstStyle/>
          <a:p>
            <a:pPr algn="l" indent="0" marL="0">
              <a:buNone/>
            </a:pPr>
            <a:r>
              <a:rPr lang="en-US" sz="7000" b="1" dirty="0">
                <a:solidFill>
                  <a:srgbClr val="A18BCF"/>
                </a:solidFill>
                <a:latin typeface="Century Schoolbook" pitchFamily="34" charset="0"/>
                <a:ea typeface="Century Schoolbook" pitchFamily="34" charset="-122"/>
                <a:cs typeface="Century Schoolbook" pitchFamily="34" charset="-120"/>
              </a:rPr>
              <a:t>“</a:t>
            </a:r>
            <a:endParaRPr lang="en-US" sz="7000" dirty="0"/>
          </a:p>
        </p:txBody>
      </p:sp>
      <p:sp>
        <p:nvSpPr>
          <p:cNvPr id="6" name="Text 4"/>
          <p:cNvSpPr/>
          <p:nvPr/>
        </p:nvSpPr>
        <p:spPr>
          <a:xfrm>
            <a:off x="1691640" y="1965960"/>
            <a:ext cx="9539935" cy="1143000"/>
          </a:xfrm>
          <a:prstGeom prst="rect">
            <a:avLst/>
          </a:prstGeom>
          <a:noFill/>
          <a:ln/>
        </p:spPr>
        <p:txBody>
          <a:bodyPr wrap="square" lIns="0" tIns="0" rIns="0" bIns="0" rtlCol="0" anchor="ctr"/>
          <a:lstStyle/>
          <a:p>
            <a:pPr algn="l" indent="0" marL="0">
              <a:lnSpc>
                <a:spcPct val="105000"/>
              </a:lnSpc>
              <a:buNone/>
            </a:pPr>
            <a:r>
              <a:rPr lang="en-US" sz="1850" b="1" i="1" dirty="0">
                <a:solidFill>
                  <a:srgbClr val="FFFFFF"/>
                </a:solidFill>
                <a:latin typeface="Century Schoolbook" pitchFamily="34" charset="0"/>
                <a:ea typeface="Century Schoolbook" pitchFamily="34" charset="-122"/>
                <a:cs typeface="Century Schoolbook" pitchFamily="34" charset="-120"/>
              </a:rPr>
              <a:t>«¿Le parece si preparo la propuesta con el plan que cubre este flujo y la vemos el jueves?»</a:t>
            </a:r>
            <a:endParaRPr lang="en-US" sz="1850" dirty="0"/>
          </a:p>
        </p:txBody>
      </p:sp>
      <p:sp>
        <p:nvSpPr>
          <p:cNvPr id="7" name="Shape 5"/>
          <p:cNvSpPr/>
          <p:nvPr/>
        </p:nvSpPr>
        <p:spPr>
          <a:xfrm>
            <a:off x="640080" y="3611880"/>
            <a:ext cx="339333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2016709"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9" name="Text 7"/>
          <p:cNvSpPr/>
          <p:nvPr/>
        </p:nvSpPr>
        <p:spPr>
          <a:xfrm>
            <a:off x="2016709"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0" name="Text 8"/>
          <p:cNvSpPr/>
          <p:nvPr/>
        </p:nvSpPr>
        <p:spPr>
          <a:xfrm>
            <a:off x="914400"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Confirma el interés con una pregunta directa.</a:t>
            </a:r>
            <a:endParaRPr lang="en-US" sz="1350" dirty="0"/>
          </a:p>
        </p:txBody>
      </p:sp>
      <p:sp>
        <p:nvSpPr>
          <p:cNvPr id="11" name="Shape 9"/>
          <p:cNvSpPr/>
          <p:nvPr/>
        </p:nvSpPr>
        <p:spPr>
          <a:xfrm>
            <a:off x="4399178" y="3611880"/>
            <a:ext cx="3393338" cy="2286000"/>
          </a:xfrm>
          <a:prstGeom prst="roundRect">
            <a:avLst>
              <a:gd name="adj" fmla="val 4800"/>
            </a:avLst>
          </a:prstGeom>
          <a:solidFill>
            <a:srgbClr val="F5F2FA"/>
          </a:solidFill>
          <a:ln w="12700">
            <a:solidFill>
              <a:srgbClr val="E7E1F0"/>
            </a:solidFill>
            <a:prstDash val="solid"/>
          </a:ln>
        </p:spPr>
      </p:sp>
      <p:sp>
        <p:nvSpPr>
          <p:cNvPr id="12" name="Shape 10"/>
          <p:cNvSpPr/>
          <p:nvPr/>
        </p:nvSpPr>
        <p:spPr>
          <a:xfrm>
            <a:off x="5775808"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13" name="Text 11"/>
          <p:cNvSpPr/>
          <p:nvPr/>
        </p:nvSpPr>
        <p:spPr>
          <a:xfrm>
            <a:off x="5775808"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4" name="Text 12"/>
          <p:cNvSpPr/>
          <p:nvPr/>
        </p:nvSpPr>
        <p:spPr>
          <a:xfrm>
            <a:off x="4673498"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Define siempre el siguiente paso concreto, con fecha.</a:t>
            </a:r>
            <a:endParaRPr lang="en-US" sz="1350" dirty="0"/>
          </a:p>
        </p:txBody>
      </p:sp>
      <p:sp>
        <p:nvSpPr>
          <p:cNvPr id="15" name="Shape 13"/>
          <p:cNvSpPr/>
          <p:nvPr/>
        </p:nvSpPr>
        <p:spPr>
          <a:xfrm>
            <a:off x="8158277" y="3611880"/>
            <a:ext cx="3393338" cy="2286000"/>
          </a:xfrm>
          <a:prstGeom prst="roundRect">
            <a:avLst>
              <a:gd name="adj" fmla="val 4800"/>
            </a:avLst>
          </a:prstGeom>
          <a:solidFill>
            <a:srgbClr val="F5F2FA"/>
          </a:solidFill>
          <a:ln w="12700">
            <a:solidFill>
              <a:srgbClr val="E7E1F0"/>
            </a:solidFill>
            <a:prstDash val="solid"/>
          </a:ln>
        </p:spPr>
      </p:sp>
      <p:sp>
        <p:nvSpPr>
          <p:cNvPr id="16" name="Shape 14"/>
          <p:cNvSpPr/>
          <p:nvPr/>
        </p:nvSpPr>
        <p:spPr>
          <a:xfrm>
            <a:off x="9534906" y="3886200"/>
            <a:ext cx="640080" cy="640080"/>
          </a:xfrm>
          <a:prstGeom prst="ellipse">
            <a:avLst/>
          </a:prstGeom>
          <a:solidFill>
            <a:srgbClr val="3FB27F"/>
          </a:solidFill>
          <a:ln/>
          <a:effectLst>
            <a:outerShdw sx="100000" sy="100000" kx="0" ky="0" algn="bl" rotWithShape="0" blurRad="101600" dist="38100" dir="5400000">
              <a:srgbClr val="1B1526">
                <a:alpha val="22000"/>
              </a:srgbClr>
            </a:outerShdw>
          </a:effectLst>
        </p:spPr>
      </p:sp>
      <p:sp>
        <p:nvSpPr>
          <p:cNvPr id="17" name="Text 15"/>
          <p:cNvSpPr/>
          <p:nvPr/>
        </p:nvSpPr>
        <p:spPr>
          <a:xfrm>
            <a:off x="9534906" y="3886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a:t>
            </a:r>
            <a:endParaRPr lang="en-US" sz="2200" dirty="0"/>
          </a:p>
        </p:txBody>
      </p:sp>
      <p:sp>
        <p:nvSpPr>
          <p:cNvPr id="18" name="Text 16"/>
          <p:cNvSpPr/>
          <p:nvPr/>
        </p:nvSpPr>
        <p:spPr>
          <a:xfrm>
            <a:off x="8432597" y="4709160"/>
            <a:ext cx="2844698" cy="1051560"/>
          </a:xfrm>
          <a:prstGeom prst="rect">
            <a:avLst/>
          </a:prstGeom>
          <a:noFill/>
          <a:ln/>
        </p:spPr>
        <p:txBody>
          <a:bodyPr wrap="square" lIns="0" tIns="0" rIns="0" bIns="0" rtlCol="0" anchor="t"/>
          <a:lstStyle/>
          <a:p>
            <a:pPr algn="ctr" indent="0" marL="0">
              <a:lnSpc>
                <a:spcPct val="105000"/>
              </a:lnSpc>
              <a:buNone/>
            </a:pPr>
            <a:r>
              <a:rPr lang="en-US" sz="1350" dirty="0">
                <a:solidFill>
                  <a:srgbClr val="3A3348"/>
                </a:solidFill>
                <a:latin typeface="Calibri" pitchFamily="34" charset="0"/>
                <a:ea typeface="Calibri" pitchFamily="34" charset="-122"/>
                <a:cs typeface="Calibri" pitchFamily="34" charset="-120"/>
              </a:rPr>
              <a:t>Una demo sin próximo paso es una conversación que se enfría.</a:t>
            </a:r>
            <a:endParaRPr lang="en-US" sz="1350" dirty="0"/>
          </a:p>
        </p:txBody>
      </p:sp>
      <p:sp>
        <p:nvSpPr>
          <p:cNvPr id="19" name="Text 1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20" name="Text 1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ADAPTA SEGÚN EL TIEMPO Y EL CASO</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Demos de 15, 30 y 45 minutos</a:t>
            </a:r>
            <a:endParaRPr lang="en-US" sz="3400" dirty="0"/>
          </a:p>
        </p:txBody>
      </p:sp>
      <p:sp>
        <p:nvSpPr>
          <p:cNvPr id="4" name="Shape 2"/>
          <p:cNvSpPr/>
          <p:nvPr/>
        </p:nvSpPr>
        <p:spPr>
          <a:xfrm>
            <a:off x="640080"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5" name="Shape 3"/>
          <p:cNvSpPr/>
          <p:nvPr/>
        </p:nvSpPr>
        <p:spPr>
          <a:xfrm>
            <a:off x="1559509" y="2194560"/>
            <a:ext cx="1554480" cy="1554480"/>
          </a:xfrm>
          <a:prstGeom prst="ellipse">
            <a:avLst/>
          </a:prstGeom>
          <a:solidFill>
            <a:srgbClr val="A18BCF"/>
          </a:solidFill>
          <a:ln/>
          <a:effectLst>
            <a:outerShdw sx="100000" sy="100000" kx="0" ky="0" algn="bl" rotWithShape="0" blurRad="101600" dist="38100" dir="5400000">
              <a:srgbClr val="1B1526">
                <a:alpha val="20000"/>
              </a:srgbClr>
            </a:outerShdw>
          </a:effectLst>
        </p:spPr>
      </p:sp>
      <p:sp>
        <p:nvSpPr>
          <p:cNvPr id="6" name="Text 4"/>
          <p:cNvSpPr/>
          <p:nvPr/>
        </p:nvSpPr>
        <p:spPr>
          <a:xfrm>
            <a:off x="1559509" y="2194560"/>
            <a:ext cx="1554480" cy="15544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15 min</a:t>
            </a:r>
            <a:endParaRPr lang="en-US" sz="2200" dirty="0"/>
          </a:p>
        </p:txBody>
      </p:sp>
      <p:sp>
        <p:nvSpPr>
          <p:cNvPr id="7" name="Text 5"/>
          <p:cNvSpPr/>
          <p:nvPr/>
        </p:nvSpPr>
        <p:spPr>
          <a:xfrm>
            <a:off x="914400" y="3931920"/>
            <a:ext cx="2844698" cy="685800"/>
          </a:xfrm>
          <a:prstGeom prst="rect">
            <a:avLst/>
          </a:prstGeom>
          <a:noFill/>
          <a:ln/>
        </p:spPr>
        <p:txBody>
          <a:bodyPr wrap="square" lIns="0" tIns="0" rIns="0" bIns="0" rtlCol="0" anchor="ctr"/>
          <a:lstStyle/>
          <a:p>
            <a:pPr algn="ctr" indent="0" marL="0">
              <a:lnSpc>
                <a:spcPct val="100000"/>
              </a:lnSpc>
              <a:buNone/>
            </a:pPr>
            <a:r>
              <a:rPr lang="en-US" sz="1600" b="1" dirty="0">
                <a:solidFill>
                  <a:srgbClr val="2B1F3A"/>
                </a:solidFill>
                <a:latin typeface="Century Schoolbook" pitchFamily="34" charset="0"/>
                <a:ea typeface="Century Schoolbook" pitchFamily="34" charset="-122"/>
                <a:cs typeface="Century Schoolbook" pitchFamily="34" charset="-120"/>
              </a:rPr>
              <a:t>Solo el dolor principal</a:t>
            </a:r>
            <a:endParaRPr lang="en-US" sz="1600" dirty="0"/>
          </a:p>
        </p:txBody>
      </p:sp>
      <p:sp>
        <p:nvSpPr>
          <p:cNvPr id="8" name="Text 6"/>
          <p:cNvSpPr/>
          <p:nvPr/>
        </p:nvSpPr>
        <p:spPr>
          <a:xfrm>
            <a:off x="960120" y="4617720"/>
            <a:ext cx="2753258" cy="1143000"/>
          </a:xfrm>
          <a:prstGeom prst="rect">
            <a:avLst/>
          </a:prstGeom>
          <a:noFill/>
          <a:ln/>
        </p:spPr>
        <p:txBody>
          <a:bodyPr wrap="square" lIns="0" tIns="0" rIns="0" bIns="0" rtlCol="0" anchor="t"/>
          <a:lstStyle/>
          <a:p>
            <a:pPr algn="ctr" indent="0" marL="0">
              <a:lnSpc>
                <a:spcPct val="105000"/>
              </a:lnSpc>
              <a:buNone/>
            </a:pPr>
            <a:r>
              <a:rPr lang="en-US" sz="1250" dirty="0">
                <a:solidFill>
                  <a:srgbClr val="3A3348"/>
                </a:solidFill>
                <a:latin typeface="Calibri" pitchFamily="34" charset="0"/>
                <a:ea typeface="Calibri" pitchFamily="34" charset="-122"/>
                <a:cs typeface="Calibri" pitchFamily="34" charset="-120"/>
              </a:rPr>
              <a:t>Vas directo al problema número uno del cliente y lo resuelves en vivo. Ideal para un primer acercamiento o poco tiempo.</a:t>
            </a:r>
            <a:endParaRPr lang="en-US" sz="1250" dirty="0"/>
          </a:p>
        </p:txBody>
      </p:sp>
      <p:sp>
        <p:nvSpPr>
          <p:cNvPr id="9" name="Shape 7"/>
          <p:cNvSpPr/>
          <p:nvPr/>
        </p:nvSpPr>
        <p:spPr>
          <a:xfrm>
            <a:off x="4399178"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10" name="Shape 8"/>
          <p:cNvSpPr/>
          <p:nvPr/>
        </p:nvSpPr>
        <p:spPr>
          <a:xfrm>
            <a:off x="5318608" y="2194560"/>
            <a:ext cx="1554480" cy="1554480"/>
          </a:xfrm>
          <a:prstGeom prst="ellipse">
            <a:avLst/>
          </a:prstGeom>
          <a:solidFill>
            <a:srgbClr val="5C4B75"/>
          </a:solidFill>
          <a:ln/>
          <a:effectLst>
            <a:outerShdw sx="100000" sy="100000" kx="0" ky="0" algn="bl" rotWithShape="0" blurRad="101600" dist="38100" dir="5400000">
              <a:srgbClr val="1B1526">
                <a:alpha val="20000"/>
              </a:srgbClr>
            </a:outerShdw>
          </a:effectLst>
        </p:spPr>
      </p:sp>
      <p:sp>
        <p:nvSpPr>
          <p:cNvPr id="11" name="Text 9"/>
          <p:cNvSpPr/>
          <p:nvPr/>
        </p:nvSpPr>
        <p:spPr>
          <a:xfrm>
            <a:off x="5318608" y="2194560"/>
            <a:ext cx="1554480" cy="15544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30 min</a:t>
            </a:r>
            <a:endParaRPr lang="en-US" sz="2200" dirty="0"/>
          </a:p>
        </p:txBody>
      </p:sp>
      <p:sp>
        <p:nvSpPr>
          <p:cNvPr id="12" name="Text 10"/>
          <p:cNvSpPr/>
          <p:nvPr/>
        </p:nvSpPr>
        <p:spPr>
          <a:xfrm>
            <a:off x="4673498" y="3931920"/>
            <a:ext cx="2844698" cy="685800"/>
          </a:xfrm>
          <a:prstGeom prst="rect">
            <a:avLst/>
          </a:prstGeom>
          <a:noFill/>
          <a:ln/>
        </p:spPr>
        <p:txBody>
          <a:bodyPr wrap="square" lIns="0" tIns="0" rIns="0" bIns="0" rtlCol="0" anchor="ctr"/>
          <a:lstStyle/>
          <a:p>
            <a:pPr algn="ctr" indent="0" marL="0">
              <a:lnSpc>
                <a:spcPct val="100000"/>
              </a:lnSpc>
              <a:buNone/>
            </a:pPr>
            <a:r>
              <a:rPr lang="en-US" sz="1600" b="1" dirty="0">
                <a:solidFill>
                  <a:srgbClr val="2B1F3A"/>
                </a:solidFill>
                <a:latin typeface="Century Schoolbook" pitchFamily="34" charset="0"/>
                <a:ea typeface="Century Schoolbook" pitchFamily="34" charset="-122"/>
                <a:cs typeface="Century Schoolbook" pitchFamily="34" charset="-120"/>
              </a:rPr>
              <a:t>Dolor + contabilidad</a:t>
            </a:r>
            <a:endParaRPr lang="en-US" sz="1600" dirty="0"/>
          </a:p>
        </p:txBody>
      </p:sp>
      <p:sp>
        <p:nvSpPr>
          <p:cNvPr id="13" name="Text 11"/>
          <p:cNvSpPr/>
          <p:nvPr/>
        </p:nvSpPr>
        <p:spPr>
          <a:xfrm>
            <a:off x="4719218" y="4617720"/>
            <a:ext cx="2753258" cy="1143000"/>
          </a:xfrm>
          <a:prstGeom prst="rect">
            <a:avLst/>
          </a:prstGeom>
          <a:noFill/>
          <a:ln/>
        </p:spPr>
        <p:txBody>
          <a:bodyPr wrap="square" lIns="0" tIns="0" rIns="0" bIns="0" rtlCol="0" anchor="t"/>
          <a:lstStyle/>
          <a:p>
            <a:pPr algn="ctr" indent="0" marL="0">
              <a:lnSpc>
                <a:spcPct val="105000"/>
              </a:lnSpc>
              <a:buNone/>
            </a:pPr>
            <a:r>
              <a:rPr lang="en-US" sz="1250" dirty="0">
                <a:solidFill>
                  <a:srgbClr val="3A3348"/>
                </a:solidFill>
                <a:latin typeface="Calibri" pitchFamily="34" charset="0"/>
                <a:ea typeface="Calibri" pitchFamily="34" charset="-122"/>
                <a:cs typeface="Calibri" pitchFamily="34" charset="-120"/>
              </a:rPr>
              <a:t>Resuelves el dolor principal y sumas la contabilidad automática, que casi siempre suma valor y sorprende.</a:t>
            </a:r>
            <a:endParaRPr lang="en-US" sz="1250" dirty="0"/>
          </a:p>
        </p:txBody>
      </p:sp>
      <p:sp>
        <p:nvSpPr>
          <p:cNvPr id="14" name="Shape 12"/>
          <p:cNvSpPr/>
          <p:nvPr/>
        </p:nvSpPr>
        <p:spPr>
          <a:xfrm>
            <a:off x="8158277"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15" name="Shape 13"/>
          <p:cNvSpPr/>
          <p:nvPr/>
        </p:nvSpPr>
        <p:spPr>
          <a:xfrm>
            <a:off x="9077706" y="2194560"/>
            <a:ext cx="1554480" cy="1554480"/>
          </a:xfrm>
          <a:prstGeom prst="ellipse">
            <a:avLst/>
          </a:prstGeom>
          <a:solidFill>
            <a:srgbClr val="2B1F3A"/>
          </a:solidFill>
          <a:ln/>
          <a:effectLst>
            <a:outerShdw sx="100000" sy="100000" kx="0" ky="0" algn="bl" rotWithShape="0" blurRad="101600" dist="38100" dir="5400000">
              <a:srgbClr val="1B1526">
                <a:alpha val="20000"/>
              </a:srgbClr>
            </a:outerShdw>
          </a:effectLst>
        </p:spPr>
      </p:sp>
      <p:sp>
        <p:nvSpPr>
          <p:cNvPr id="16" name="Text 14"/>
          <p:cNvSpPr/>
          <p:nvPr/>
        </p:nvSpPr>
        <p:spPr>
          <a:xfrm>
            <a:off x="9077706" y="2194560"/>
            <a:ext cx="1554480" cy="155448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45 min</a:t>
            </a:r>
            <a:endParaRPr lang="en-US" sz="2200" dirty="0"/>
          </a:p>
        </p:txBody>
      </p:sp>
      <p:sp>
        <p:nvSpPr>
          <p:cNvPr id="17" name="Text 15"/>
          <p:cNvSpPr/>
          <p:nvPr/>
        </p:nvSpPr>
        <p:spPr>
          <a:xfrm>
            <a:off x="8432597" y="3931920"/>
            <a:ext cx="2844698" cy="685800"/>
          </a:xfrm>
          <a:prstGeom prst="rect">
            <a:avLst/>
          </a:prstGeom>
          <a:noFill/>
          <a:ln/>
        </p:spPr>
        <p:txBody>
          <a:bodyPr wrap="square" lIns="0" tIns="0" rIns="0" bIns="0" rtlCol="0" anchor="ctr"/>
          <a:lstStyle/>
          <a:p>
            <a:pPr algn="ctr" indent="0" marL="0">
              <a:lnSpc>
                <a:spcPct val="100000"/>
              </a:lnSpc>
              <a:buNone/>
            </a:pPr>
            <a:r>
              <a:rPr lang="en-US" sz="1600" b="1" dirty="0">
                <a:solidFill>
                  <a:srgbClr val="2B1F3A"/>
                </a:solidFill>
                <a:latin typeface="Century Schoolbook" pitchFamily="34" charset="0"/>
                <a:ea typeface="Century Schoolbook" pitchFamily="34" charset="-122"/>
                <a:cs typeface="Century Schoolbook" pitchFamily="34" charset="-120"/>
              </a:rPr>
              <a:t>Recorrido completo</a:t>
            </a:r>
            <a:endParaRPr lang="en-US" sz="1600" dirty="0"/>
          </a:p>
        </p:txBody>
      </p:sp>
      <p:sp>
        <p:nvSpPr>
          <p:cNvPr id="18" name="Text 16"/>
          <p:cNvSpPr/>
          <p:nvPr/>
        </p:nvSpPr>
        <p:spPr>
          <a:xfrm>
            <a:off x="8478317" y="4617720"/>
            <a:ext cx="2753258" cy="1143000"/>
          </a:xfrm>
          <a:prstGeom prst="rect">
            <a:avLst/>
          </a:prstGeom>
          <a:noFill/>
          <a:ln/>
        </p:spPr>
        <p:txBody>
          <a:bodyPr wrap="square" lIns="0" tIns="0" rIns="0" bIns="0" rtlCol="0" anchor="t"/>
          <a:lstStyle/>
          <a:p>
            <a:pPr algn="ctr" indent="0" marL="0">
              <a:lnSpc>
                <a:spcPct val="105000"/>
              </a:lnSpc>
              <a:buNone/>
            </a:pPr>
            <a:r>
              <a:rPr lang="en-US" sz="1250" dirty="0">
                <a:solidFill>
                  <a:srgbClr val="3A3348"/>
                </a:solidFill>
                <a:latin typeface="Calibri" pitchFamily="34" charset="0"/>
                <a:ea typeface="Calibri" pitchFamily="34" charset="-122"/>
                <a:cs typeface="Calibri" pitchFamily="34" charset="-120"/>
              </a:rPr>
              <a:t>Dolor principal, contabilidad y reportes. Para clientes con decisión avanzada o varios interesados en la sala.</a:t>
            </a:r>
            <a:endParaRPr lang="en-US" sz="1250" dirty="0"/>
          </a:p>
        </p:txBody>
      </p:sp>
      <p:sp>
        <p:nvSpPr>
          <p:cNvPr id="19" name="Text 1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20" name="Text 1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CASO ESPECIAL</a:t>
            </a:r>
            <a:endParaRPr lang="en-US" sz="1150" dirty="0"/>
          </a:p>
        </p:txBody>
      </p:sp>
      <p:sp>
        <p:nvSpPr>
          <p:cNvPr id="3" name="Text 1"/>
          <p:cNvSpPr/>
          <p:nvPr/>
        </p:nvSpPr>
        <p:spPr>
          <a:xfrm>
            <a:off x="640080" y="91440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El flujo mínimo del restaurante</a:t>
            </a:r>
            <a:endParaRPr lang="en-US" sz="3400" dirty="0"/>
          </a:p>
        </p:txBody>
      </p:sp>
      <p:sp>
        <p:nvSpPr>
          <p:cNvPr id="4" name="Shape 2"/>
          <p:cNvSpPr/>
          <p:nvPr/>
        </p:nvSpPr>
        <p:spPr>
          <a:xfrm>
            <a:off x="640080" y="2286000"/>
            <a:ext cx="2384984" cy="1554480"/>
          </a:xfrm>
          <a:prstGeom prst="roundRect">
            <a:avLst>
              <a:gd name="adj" fmla="val 8235"/>
            </a:avLst>
          </a:prstGeom>
          <a:solidFill>
            <a:srgbClr val="5C4B75"/>
          </a:solidFill>
          <a:ln/>
          <a:effectLst>
            <a:outerShdw sx="100000" sy="100000" kx="0" ky="0" algn="bl" rotWithShape="0" blurRad="101600" dist="38100" dir="5400000">
              <a:srgbClr val="1B1526">
                <a:alpha val="22000"/>
              </a:srgbClr>
            </a:outerShdw>
          </a:effectLst>
        </p:spPr>
      </p:sp>
      <p:sp>
        <p:nvSpPr>
          <p:cNvPr id="5" name="Text 3"/>
          <p:cNvSpPr/>
          <p:nvPr/>
        </p:nvSpPr>
        <p:spPr>
          <a:xfrm>
            <a:off x="822960" y="2423160"/>
            <a:ext cx="731520" cy="457200"/>
          </a:xfrm>
          <a:prstGeom prst="rect">
            <a:avLst/>
          </a:prstGeom>
          <a:noFill/>
          <a:ln/>
        </p:spPr>
        <p:txBody>
          <a:bodyPr wrap="square" lIns="0" tIns="0" rIns="0" bIns="0" rtlCol="0" anchor="t"/>
          <a:lstStyle/>
          <a:p>
            <a:pPr algn="l" indent="0" marL="0">
              <a:buNone/>
            </a:pPr>
            <a:r>
              <a:rPr lang="en-US" sz="1500" b="1" dirty="0">
                <a:solidFill>
                  <a:srgbClr val="FFFFFF">
                    <a:alpha val="60000"/>
                  </a:srgbClr>
                </a:solidFill>
                <a:latin typeface="Century Schoolbook" pitchFamily="34" charset="0"/>
                <a:ea typeface="Century Schoolbook" pitchFamily="34" charset="-122"/>
                <a:cs typeface="Century Schoolbook" pitchFamily="34" charset="-120"/>
              </a:rPr>
              <a:t>1</a:t>
            </a:r>
            <a:endParaRPr lang="en-US" sz="1500" dirty="0"/>
          </a:p>
        </p:txBody>
      </p:sp>
      <p:sp>
        <p:nvSpPr>
          <p:cNvPr id="6" name="Text 4"/>
          <p:cNvSpPr/>
          <p:nvPr/>
        </p:nvSpPr>
        <p:spPr>
          <a:xfrm>
            <a:off x="640080" y="2286000"/>
            <a:ext cx="2384984" cy="1554480"/>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Menú</a:t>
            </a:r>
            <a:endParaRPr lang="en-US" sz="1900" dirty="0"/>
          </a:p>
        </p:txBody>
      </p:sp>
      <p:sp>
        <p:nvSpPr>
          <p:cNvPr id="7" name="Text 5"/>
          <p:cNvSpPr/>
          <p:nvPr/>
        </p:nvSpPr>
        <p:spPr>
          <a:xfrm>
            <a:off x="2979344" y="2286000"/>
            <a:ext cx="548640" cy="1554480"/>
          </a:xfrm>
          <a:prstGeom prst="rect">
            <a:avLst/>
          </a:prstGeom>
          <a:noFill/>
          <a:ln/>
        </p:spPr>
        <p:txBody>
          <a:bodyPr wrap="square" lIns="0" tIns="0" rIns="0" bIns="0" rtlCol="0" anchor="ctr"/>
          <a:lstStyle/>
          <a:p>
            <a:pPr algn="ctr" indent="0" marL="0">
              <a:buNone/>
            </a:pPr>
            <a:r>
              <a:rPr lang="en-US" sz="2600" b="1" dirty="0">
                <a:solidFill>
                  <a:srgbClr val="A18BCF"/>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482264" y="2286000"/>
            <a:ext cx="2384984" cy="1554480"/>
          </a:xfrm>
          <a:prstGeom prst="roundRect">
            <a:avLst>
              <a:gd name="adj" fmla="val 8235"/>
            </a:avLst>
          </a:prstGeom>
          <a:solidFill>
            <a:srgbClr val="7C3AED"/>
          </a:solidFill>
          <a:ln/>
          <a:effectLst>
            <a:outerShdw sx="100000" sy="100000" kx="0" ky="0" algn="bl" rotWithShape="0" blurRad="101600" dist="38100" dir="5400000">
              <a:srgbClr val="1B1526">
                <a:alpha val="22000"/>
              </a:srgbClr>
            </a:outerShdw>
          </a:effectLst>
        </p:spPr>
      </p:sp>
      <p:sp>
        <p:nvSpPr>
          <p:cNvPr id="9" name="Text 7"/>
          <p:cNvSpPr/>
          <p:nvPr/>
        </p:nvSpPr>
        <p:spPr>
          <a:xfrm>
            <a:off x="3665144" y="2423160"/>
            <a:ext cx="731520" cy="457200"/>
          </a:xfrm>
          <a:prstGeom prst="rect">
            <a:avLst/>
          </a:prstGeom>
          <a:noFill/>
          <a:ln/>
        </p:spPr>
        <p:txBody>
          <a:bodyPr wrap="square" lIns="0" tIns="0" rIns="0" bIns="0" rtlCol="0" anchor="t"/>
          <a:lstStyle/>
          <a:p>
            <a:pPr algn="l" indent="0" marL="0">
              <a:buNone/>
            </a:pPr>
            <a:r>
              <a:rPr lang="en-US" sz="1500" b="1" dirty="0">
                <a:solidFill>
                  <a:srgbClr val="FFFFFF">
                    <a:alpha val="60000"/>
                  </a:srgbClr>
                </a:solidFill>
                <a:latin typeface="Century Schoolbook" pitchFamily="34" charset="0"/>
                <a:ea typeface="Century Schoolbook" pitchFamily="34" charset="-122"/>
                <a:cs typeface="Century Schoolbook" pitchFamily="34" charset="-120"/>
              </a:rPr>
              <a:t>2</a:t>
            </a:r>
            <a:endParaRPr lang="en-US" sz="1500" dirty="0"/>
          </a:p>
        </p:txBody>
      </p:sp>
      <p:sp>
        <p:nvSpPr>
          <p:cNvPr id="10" name="Text 8"/>
          <p:cNvSpPr/>
          <p:nvPr/>
        </p:nvSpPr>
        <p:spPr>
          <a:xfrm>
            <a:off x="3482264" y="2286000"/>
            <a:ext cx="2384984" cy="1554480"/>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Pedido</a:t>
            </a:r>
            <a:endParaRPr lang="en-US" sz="1900" dirty="0"/>
          </a:p>
        </p:txBody>
      </p:sp>
      <p:sp>
        <p:nvSpPr>
          <p:cNvPr id="11" name="Text 9"/>
          <p:cNvSpPr/>
          <p:nvPr/>
        </p:nvSpPr>
        <p:spPr>
          <a:xfrm>
            <a:off x="5821528" y="2286000"/>
            <a:ext cx="548640" cy="1554480"/>
          </a:xfrm>
          <a:prstGeom prst="rect">
            <a:avLst/>
          </a:prstGeom>
          <a:noFill/>
          <a:ln/>
        </p:spPr>
        <p:txBody>
          <a:bodyPr wrap="square" lIns="0" tIns="0" rIns="0" bIns="0" rtlCol="0" anchor="ctr"/>
          <a:lstStyle/>
          <a:p>
            <a:pPr algn="ctr" indent="0" marL="0">
              <a:buNone/>
            </a:pPr>
            <a:r>
              <a:rPr lang="en-US" sz="2600" b="1" dirty="0">
                <a:solidFill>
                  <a:srgbClr val="A18BCF"/>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324448" y="2286000"/>
            <a:ext cx="2384984" cy="1554480"/>
          </a:xfrm>
          <a:prstGeom prst="roundRect">
            <a:avLst>
              <a:gd name="adj" fmla="val 8235"/>
            </a:avLst>
          </a:prstGeom>
          <a:solidFill>
            <a:srgbClr val="2563EB"/>
          </a:solidFill>
          <a:ln/>
          <a:effectLst>
            <a:outerShdw sx="100000" sy="100000" kx="0" ky="0" algn="bl" rotWithShape="0" blurRad="101600" dist="38100" dir="5400000">
              <a:srgbClr val="1B1526">
                <a:alpha val="22000"/>
              </a:srgbClr>
            </a:outerShdw>
          </a:effectLst>
        </p:spPr>
      </p:sp>
      <p:sp>
        <p:nvSpPr>
          <p:cNvPr id="13" name="Text 11"/>
          <p:cNvSpPr/>
          <p:nvPr/>
        </p:nvSpPr>
        <p:spPr>
          <a:xfrm>
            <a:off x="6507328" y="2423160"/>
            <a:ext cx="731520" cy="457200"/>
          </a:xfrm>
          <a:prstGeom prst="rect">
            <a:avLst/>
          </a:prstGeom>
          <a:noFill/>
          <a:ln/>
        </p:spPr>
        <p:txBody>
          <a:bodyPr wrap="square" lIns="0" tIns="0" rIns="0" bIns="0" rtlCol="0" anchor="t"/>
          <a:lstStyle/>
          <a:p>
            <a:pPr algn="l" indent="0" marL="0">
              <a:buNone/>
            </a:pPr>
            <a:r>
              <a:rPr lang="en-US" sz="1500" b="1" dirty="0">
                <a:solidFill>
                  <a:srgbClr val="FFFFFF">
                    <a:alpha val="60000"/>
                  </a:srgbClr>
                </a:solidFill>
                <a:latin typeface="Century Schoolbook" pitchFamily="34" charset="0"/>
                <a:ea typeface="Century Schoolbook" pitchFamily="34" charset="-122"/>
                <a:cs typeface="Century Schoolbook" pitchFamily="34" charset="-120"/>
              </a:rPr>
              <a:t>3</a:t>
            </a:r>
            <a:endParaRPr lang="en-US" sz="1500" dirty="0"/>
          </a:p>
        </p:txBody>
      </p:sp>
      <p:sp>
        <p:nvSpPr>
          <p:cNvPr id="14" name="Text 12"/>
          <p:cNvSpPr/>
          <p:nvPr/>
        </p:nvSpPr>
        <p:spPr>
          <a:xfrm>
            <a:off x="6324448" y="2286000"/>
            <a:ext cx="2384984" cy="1554480"/>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Cobro</a:t>
            </a:r>
            <a:endParaRPr lang="en-US" sz="1900" dirty="0"/>
          </a:p>
        </p:txBody>
      </p:sp>
      <p:sp>
        <p:nvSpPr>
          <p:cNvPr id="15" name="Text 13"/>
          <p:cNvSpPr/>
          <p:nvPr/>
        </p:nvSpPr>
        <p:spPr>
          <a:xfrm>
            <a:off x="8663711" y="2286000"/>
            <a:ext cx="548640" cy="1554480"/>
          </a:xfrm>
          <a:prstGeom prst="rect">
            <a:avLst/>
          </a:prstGeom>
          <a:noFill/>
          <a:ln/>
        </p:spPr>
        <p:txBody>
          <a:bodyPr wrap="square" lIns="0" tIns="0" rIns="0" bIns="0" rtlCol="0" anchor="ctr"/>
          <a:lstStyle/>
          <a:p>
            <a:pPr algn="ctr" indent="0" marL="0">
              <a:buNone/>
            </a:pPr>
            <a:r>
              <a:rPr lang="en-US" sz="2600" b="1" dirty="0">
                <a:solidFill>
                  <a:srgbClr val="A18BCF"/>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166631" y="2286000"/>
            <a:ext cx="2384984" cy="1554480"/>
          </a:xfrm>
          <a:prstGeom prst="roundRect">
            <a:avLst>
              <a:gd name="adj" fmla="val 8235"/>
            </a:avLst>
          </a:prstGeom>
          <a:solidFill>
            <a:srgbClr val="2B1F3A"/>
          </a:solidFill>
          <a:ln/>
          <a:effectLst>
            <a:outerShdw sx="100000" sy="100000" kx="0" ky="0" algn="bl" rotWithShape="0" blurRad="101600" dist="38100" dir="5400000">
              <a:srgbClr val="1B1526">
                <a:alpha val="22000"/>
              </a:srgbClr>
            </a:outerShdw>
          </a:effectLst>
        </p:spPr>
      </p:sp>
      <p:sp>
        <p:nvSpPr>
          <p:cNvPr id="17" name="Text 15"/>
          <p:cNvSpPr/>
          <p:nvPr/>
        </p:nvSpPr>
        <p:spPr>
          <a:xfrm>
            <a:off x="9349511" y="2423160"/>
            <a:ext cx="731520" cy="457200"/>
          </a:xfrm>
          <a:prstGeom prst="rect">
            <a:avLst/>
          </a:prstGeom>
          <a:noFill/>
          <a:ln/>
        </p:spPr>
        <p:txBody>
          <a:bodyPr wrap="square" lIns="0" tIns="0" rIns="0" bIns="0" rtlCol="0" anchor="t"/>
          <a:lstStyle/>
          <a:p>
            <a:pPr algn="l" indent="0" marL="0">
              <a:buNone/>
            </a:pPr>
            <a:r>
              <a:rPr lang="en-US" sz="1500" b="1" dirty="0">
                <a:solidFill>
                  <a:srgbClr val="FFFFFF">
                    <a:alpha val="60000"/>
                  </a:srgbClr>
                </a:solidFill>
                <a:latin typeface="Century Schoolbook" pitchFamily="34" charset="0"/>
                <a:ea typeface="Century Schoolbook" pitchFamily="34" charset="-122"/>
                <a:cs typeface="Century Schoolbook" pitchFamily="34" charset="-120"/>
              </a:rPr>
              <a:t>4</a:t>
            </a:r>
            <a:endParaRPr lang="en-US" sz="1500" dirty="0"/>
          </a:p>
        </p:txBody>
      </p:sp>
      <p:sp>
        <p:nvSpPr>
          <p:cNvPr id="18" name="Text 16"/>
          <p:cNvSpPr/>
          <p:nvPr/>
        </p:nvSpPr>
        <p:spPr>
          <a:xfrm>
            <a:off x="9166631" y="2286000"/>
            <a:ext cx="2384984" cy="1554480"/>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Efecto en inventario</a:t>
            </a:r>
            <a:endParaRPr lang="en-US" sz="1900" dirty="0"/>
          </a:p>
        </p:txBody>
      </p:sp>
      <p:sp>
        <p:nvSpPr>
          <p:cNvPr id="19" name="Shape 17"/>
          <p:cNvSpPr/>
          <p:nvPr/>
        </p:nvSpPr>
        <p:spPr>
          <a:xfrm>
            <a:off x="640080" y="4343400"/>
            <a:ext cx="10911535" cy="1417320"/>
          </a:xfrm>
          <a:prstGeom prst="roundRect">
            <a:avLst>
              <a:gd name="adj" fmla="val 7742"/>
            </a:avLst>
          </a:prstGeom>
          <a:solidFill>
            <a:srgbClr val="F5F2FA"/>
          </a:solidFill>
          <a:ln w="15875">
            <a:solidFill>
              <a:srgbClr val="A18BCF"/>
            </a:solidFill>
            <a:prstDash val="solid"/>
          </a:ln>
        </p:spPr>
      </p:sp>
      <p:sp>
        <p:nvSpPr>
          <p:cNvPr id="20" name="Text 18"/>
          <p:cNvSpPr/>
          <p:nvPr/>
        </p:nvSpPr>
        <p:spPr>
          <a:xfrm>
            <a:off x="1051560" y="4343400"/>
            <a:ext cx="10088575" cy="1417320"/>
          </a:xfrm>
          <a:prstGeom prst="rect">
            <a:avLst/>
          </a:prstGeom>
          <a:noFill/>
          <a:ln/>
        </p:spPr>
        <p:txBody>
          <a:bodyPr wrap="square" lIns="0" tIns="0" rIns="0" bIns="0" rtlCol="0" anchor="ctr"/>
          <a:lstStyle/>
          <a:p>
            <a:pPr algn="l" indent="0" marL="0">
              <a:lnSpc>
                <a:spcPct val="108000"/>
              </a:lnSpc>
              <a:buNone/>
            </a:pPr>
            <a:r>
              <a:rPr lang="en-US" sz="1600" b="1" dirty="0">
                <a:solidFill>
                  <a:srgbClr val="2B1F3A"/>
                </a:solidFill>
                <a:latin typeface="Century Schoolbook" pitchFamily="34" charset="0"/>
                <a:ea typeface="Century Schoolbook" pitchFamily="34" charset="-122"/>
                <a:cs typeface="Century Schoolbook" pitchFamily="34" charset="-120"/>
              </a:rPr>
              <a:t>En un restaurante, aunque sea una demo corta, este flujo completo siempre debe verse. Es lo que le prueba al dueño que ATRIA entiende su operación.</a:t>
            </a:r>
            <a:endParaRPr lang="en-US" sz="1600" dirty="0"/>
          </a:p>
        </p:txBody>
      </p:sp>
      <p:sp>
        <p:nvSpPr>
          <p:cNvPr id="21" name="Text 19"/>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22" name="Text 20"/>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E2626B"/>
                </a:solidFill>
                <a:latin typeface="Calibri" pitchFamily="34" charset="0"/>
                <a:ea typeface="Calibri" pitchFamily="34" charset="-122"/>
                <a:cs typeface="Calibri" pitchFamily="34" charset="-120"/>
              </a:rPr>
              <a:t>CUIDADO CON ESTO</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Errores que hunden una demo</a:t>
            </a:r>
            <a:endParaRPr lang="en-US" sz="3400" dirty="0"/>
          </a:p>
        </p:txBody>
      </p:sp>
      <p:sp>
        <p:nvSpPr>
          <p:cNvPr id="4" name="Shape 2"/>
          <p:cNvSpPr/>
          <p:nvPr/>
        </p:nvSpPr>
        <p:spPr>
          <a:xfrm>
            <a:off x="640080" y="2011680"/>
            <a:ext cx="10911535" cy="1897380"/>
          </a:xfrm>
          <a:prstGeom prst="roundRect">
            <a:avLst>
              <a:gd name="adj" fmla="val 5783"/>
            </a:avLst>
          </a:prstGeom>
          <a:solidFill>
            <a:srgbClr val="F5F2FA"/>
          </a:solidFill>
          <a:ln w="12700">
            <a:solidFill>
              <a:srgbClr val="E7E1F0"/>
            </a:solidFill>
            <a:prstDash val="solid"/>
          </a:ln>
        </p:spPr>
      </p:sp>
      <p:sp>
        <p:nvSpPr>
          <p:cNvPr id="5" name="Shape 3"/>
          <p:cNvSpPr/>
          <p:nvPr/>
        </p:nvSpPr>
        <p:spPr>
          <a:xfrm>
            <a:off x="960120" y="2594610"/>
            <a:ext cx="731520" cy="731520"/>
          </a:xfrm>
          <a:prstGeom prst="ellipse">
            <a:avLst/>
          </a:prstGeom>
          <a:solidFill>
            <a:srgbClr val="E2626B"/>
          </a:solidFill>
          <a:ln/>
        </p:spPr>
      </p:sp>
      <p:sp>
        <p:nvSpPr>
          <p:cNvPr id="6" name="Text 4"/>
          <p:cNvSpPr/>
          <p:nvPr/>
        </p:nvSpPr>
        <p:spPr>
          <a:xfrm>
            <a:off x="960120" y="259461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965960" y="2240280"/>
            <a:ext cx="9265615" cy="502920"/>
          </a:xfrm>
          <a:prstGeom prst="rect">
            <a:avLst/>
          </a:prstGeom>
          <a:noFill/>
          <a:ln/>
        </p:spPr>
        <p:txBody>
          <a:bodyPr wrap="square" lIns="0" tIns="0" rIns="0" bIns="0" rtlCol="0" anchor="ctr"/>
          <a:lstStyle/>
          <a:p>
            <a:pPr algn="l" indent="0" marL="0">
              <a:buNone/>
            </a:pPr>
            <a:r>
              <a:rPr lang="en-US" sz="1800" b="1" dirty="0">
                <a:solidFill>
                  <a:srgbClr val="2B1F3A"/>
                </a:solidFill>
                <a:latin typeface="Century Schoolbook" pitchFamily="34" charset="0"/>
                <a:ea typeface="Century Schoolbook" pitchFamily="34" charset="-122"/>
                <a:cs typeface="Century Schoolbook" pitchFamily="34" charset="-120"/>
              </a:rPr>
              <a:t>Demo genérica sin diagnóstico</a:t>
            </a:r>
            <a:endParaRPr lang="en-US" sz="1800" dirty="0"/>
          </a:p>
        </p:txBody>
      </p:sp>
      <p:sp>
        <p:nvSpPr>
          <p:cNvPr id="8" name="Text 6"/>
          <p:cNvSpPr/>
          <p:nvPr/>
        </p:nvSpPr>
        <p:spPr>
          <a:xfrm>
            <a:off x="1965960" y="2960370"/>
            <a:ext cx="9265615" cy="811530"/>
          </a:xfrm>
          <a:prstGeom prst="rect">
            <a:avLst/>
          </a:prstGeom>
          <a:noFill/>
          <a:ln/>
        </p:spPr>
        <p:txBody>
          <a:bodyPr wrap="square" lIns="0" tIns="0" rIns="0" bIns="0" rtlCol="0" anchor="t"/>
          <a:lstStyle/>
          <a:p>
            <a:pPr algn="l" indent="0" marL="0">
              <a:lnSpc>
                <a:spcPct val="103000"/>
              </a:lnSpc>
              <a:buNone/>
            </a:pPr>
            <a:r>
              <a:rPr lang="en-US" sz="1350" dirty="0">
                <a:solidFill>
                  <a:srgbClr val="3A3348"/>
                </a:solidFill>
                <a:latin typeface="Calibri" pitchFamily="34" charset="0"/>
                <a:ea typeface="Calibri" pitchFamily="34" charset="-122"/>
                <a:cs typeface="Calibri" pitchFamily="34" charset="-120"/>
              </a:rPr>
              <a:t>Mostrar lo mismo a todos, sin haber entendido el negocio. Se siente enlatada y no conecta.</a:t>
            </a:r>
            <a:endParaRPr lang="en-US" sz="1350" dirty="0"/>
          </a:p>
        </p:txBody>
      </p:sp>
      <p:sp>
        <p:nvSpPr>
          <p:cNvPr id="9" name="Shape 7"/>
          <p:cNvSpPr/>
          <p:nvPr/>
        </p:nvSpPr>
        <p:spPr>
          <a:xfrm>
            <a:off x="640080" y="4274820"/>
            <a:ext cx="10911535" cy="1897380"/>
          </a:xfrm>
          <a:prstGeom prst="roundRect">
            <a:avLst>
              <a:gd name="adj" fmla="val 5783"/>
            </a:avLst>
          </a:prstGeom>
          <a:solidFill>
            <a:srgbClr val="F5F2FA"/>
          </a:solidFill>
          <a:ln w="12700">
            <a:solidFill>
              <a:srgbClr val="E7E1F0"/>
            </a:solidFill>
            <a:prstDash val="solid"/>
          </a:ln>
        </p:spPr>
      </p:sp>
      <p:sp>
        <p:nvSpPr>
          <p:cNvPr id="10" name="Shape 8"/>
          <p:cNvSpPr/>
          <p:nvPr/>
        </p:nvSpPr>
        <p:spPr>
          <a:xfrm>
            <a:off x="960120" y="4857750"/>
            <a:ext cx="731520" cy="731520"/>
          </a:xfrm>
          <a:prstGeom prst="ellipse">
            <a:avLst/>
          </a:prstGeom>
          <a:solidFill>
            <a:srgbClr val="E2626B"/>
          </a:solidFill>
          <a:ln/>
        </p:spPr>
      </p:sp>
      <p:sp>
        <p:nvSpPr>
          <p:cNvPr id="11" name="Text 9"/>
          <p:cNvSpPr/>
          <p:nvPr/>
        </p:nvSpPr>
        <p:spPr>
          <a:xfrm>
            <a:off x="960120" y="485775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1965960" y="4503420"/>
            <a:ext cx="9265615" cy="502920"/>
          </a:xfrm>
          <a:prstGeom prst="rect">
            <a:avLst/>
          </a:prstGeom>
          <a:noFill/>
          <a:ln/>
        </p:spPr>
        <p:txBody>
          <a:bodyPr wrap="square" lIns="0" tIns="0" rIns="0" bIns="0" rtlCol="0" anchor="ctr"/>
          <a:lstStyle/>
          <a:p>
            <a:pPr algn="l" indent="0" marL="0">
              <a:buNone/>
            </a:pPr>
            <a:r>
              <a:rPr lang="en-US" sz="1800" b="1" dirty="0">
                <a:solidFill>
                  <a:srgbClr val="2B1F3A"/>
                </a:solidFill>
                <a:latin typeface="Century Schoolbook" pitchFamily="34" charset="0"/>
                <a:ea typeface="Century Schoolbook" pitchFamily="34" charset="-122"/>
                <a:cs typeface="Century Schoolbook" pitchFamily="34" charset="-120"/>
              </a:rPr>
              <a:t>No definir el siguiente paso</a:t>
            </a:r>
            <a:endParaRPr lang="en-US" sz="1800" dirty="0"/>
          </a:p>
        </p:txBody>
      </p:sp>
      <p:sp>
        <p:nvSpPr>
          <p:cNvPr id="13" name="Text 11"/>
          <p:cNvSpPr/>
          <p:nvPr/>
        </p:nvSpPr>
        <p:spPr>
          <a:xfrm>
            <a:off x="1965960" y="5223510"/>
            <a:ext cx="9265615" cy="811530"/>
          </a:xfrm>
          <a:prstGeom prst="rect">
            <a:avLst/>
          </a:prstGeom>
          <a:noFill/>
          <a:ln/>
        </p:spPr>
        <p:txBody>
          <a:bodyPr wrap="square" lIns="0" tIns="0" rIns="0" bIns="0" rtlCol="0" anchor="t"/>
          <a:lstStyle/>
          <a:p>
            <a:pPr algn="l" indent="0" marL="0">
              <a:lnSpc>
                <a:spcPct val="103000"/>
              </a:lnSpc>
              <a:buNone/>
            </a:pPr>
            <a:r>
              <a:rPr lang="en-US" sz="1350" dirty="0">
                <a:solidFill>
                  <a:srgbClr val="3A3348"/>
                </a:solidFill>
                <a:latin typeface="Calibri" pitchFamily="34" charset="0"/>
                <a:ea typeface="Calibri" pitchFamily="34" charset="-122"/>
                <a:cs typeface="Calibri" pitchFamily="34" charset="-120"/>
              </a:rPr>
              <a:t>Terminar sin acordar qué sigue. La conversación se enfría y la venta se pierde sola.</a:t>
            </a:r>
            <a:endParaRPr lang="en-US" sz="1350" dirty="0"/>
          </a:p>
        </p:txBody>
      </p:sp>
      <p:sp>
        <p:nvSpPr>
          <p:cNvPr id="14" name="Text 12"/>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07</a:t>
            </a:r>
            <a:endParaRPr lang="en-US" sz="900" dirty="0"/>
          </a:p>
        </p:txBody>
      </p:sp>
      <p:sp>
        <p:nvSpPr>
          <p:cNvPr id="15" name="Text 13"/>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640080"/>
            <a:ext cx="10911535" cy="292608"/>
          </a:xfrm>
          <a:prstGeom prst="rect">
            <a:avLst/>
          </a:prstGeom>
          <a:noFill/>
          <a:ln/>
        </p:spPr>
        <p:txBody>
          <a:bodyPr wrap="square" lIns="0" tIns="0" rIns="0" bIns="0" rtlCol="0" anchor="ctr"/>
          <a:lstStyle/>
          <a:p>
            <a:pPr algn="l" indent="0" marL="0">
              <a:buNone/>
            </a:pPr>
            <a:r>
              <a:rPr lang="en-US" sz="1150" b="1" spc="300" kern="0" dirty="0">
                <a:solidFill>
                  <a:srgbClr val="C9B8F0"/>
                </a:solidFill>
                <a:latin typeface="Calibri" pitchFamily="34" charset="0"/>
                <a:ea typeface="Calibri" pitchFamily="34" charset="-122"/>
                <a:cs typeface="Calibri" pitchFamily="34" charset="-120"/>
              </a:rPr>
              <a:t>PARA RECORDAR</a:t>
            </a:r>
            <a:endParaRPr lang="en-US" sz="1150" dirty="0"/>
          </a:p>
        </p:txBody>
      </p:sp>
      <p:sp>
        <p:nvSpPr>
          <p:cNvPr id="4" name="Text 1"/>
          <p:cNvSpPr/>
          <p:nvPr/>
        </p:nvSpPr>
        <p:spPr>
          <a:xfrm>
            <a:off x="640080" y="1005840"/>
            <a:ext cx="10911535" cy="914400"/>
          </a:xfrm>
          <a:prstGeom prst="rect">
            <a:avLst/>
          </a:prstGeom>
          <a:noFill/>
          <a:ln/>
        </p:spPr>
        <p:txBody>
          <a:bodyPr wrap="square" lIns="0" tIns="0" rIns="0" bIns="0" rtlCol="0" anchor="t"/>
          <a:lstStyle/>
          <a:p>
            <a:pPr algn="l" indent="0" marL="0">
              <a:buNone/>
            </a:pPr>
            <a:r>
              <a:rPr lang="en-US" sz="3600" b="1" dirty="0">
                <a:solidFill>
                  <a:srgbClr val="FFFFFF"/>
                </a:solidFill>
                <a:latin typeface="Century Schoolbook" pitchFamily="34" charset="0"/>
                <a:ea typeface="Century Schoolbook" pitchFamily="34" charset="-122"/>
                <a:cs typeface="Century Schoolbook" pitchFamily="34" charset="-120"/>
              </a:rPr>
              <a:t>Lo que te llevas de este módulo</a:t>
            </a:r>
            <a:endParaRPr lang="en-US" sz="3600" dirty="0"/>
          </a:p>
        </p:txBody>
      </p:sp>
      <p:sp>
        <p:nvSpPr>
          <p:cNvPr id="5" name="Shape 2"/>
          <p:cNvSpPr/>
          <p:nvPr/>
        </p:nvSpPr>
        <p:spPr>
          <a:xfrm>
            <a:off x="640080" y="233172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6" name="Shape 3"/>
          <p:cNvSpPr/>
          <p:nvPr/>
        </p:nvSpPr>
        <p:spPr>
          <a:xfrm>
            <a:off x="896112" y="258622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7" name="Text 4"/>
          <p:cNvSpPr/>
          <p:nvPr/>
        </p:nvSpPr>
        <p:spPr>
          <a:xfrm>
            <a:off x="896112" y="258622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1</a:t>
            </a:r>
            <a:endParaRPr lang="en-US" sz="2200" dirty="0"/>
          </a:p>
        </p:txBody>
      </p:sp>
      <p:sp>
        <p:nvSpPr>
          <p:cNvPr id="8" name="Text 5"/>
          <p:cNvSpPr/>
          <p:nvPr/>
        </p:nvSpPr>
        <p:spPr>
          <a:xfrm>
            <a:off x="1691640" y="233172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Personaliza la demo según el diagnóstico: muestra solo lo relevante.</a:t>
            </a:r>
            <a:endParaRPr lang="en-US" sz="1600" dirty="0"/>
          </a:p>
        </p:txBody>
      </p:sp>
      <p:sp>
        <p:nvSpPr>
          <p:cNvPr id="9" name="Shape 6"/>
          <p:cNvSpPr/>
          <p:nvPr/>
        </p:nvSpPr>
        <p:spPr>
          <a:xfrm>
            <a:off x="640080" y="371856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10" name="Shape 7"/>
          <p:cNvSpPr/>
          <p:nvPr/>
        </p:nvSpPr>
        <p:spPr>
          <a:xfrm>
            <a:off x="896112" y="397306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1" name="Text 8"/>
          <p:cNvSpPr/>
          <p:nvPr/>
        </p:nvSpPr>
        <p:spPr>
          <a:xfrm>
            <a:off x="896112" y="397306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2</a:t>
            </a:r>
            <a:endParaRPr lang="en-US" sz="2200" dirty="0"/>
          </a:p>
        </p:txBody>
      </p:sp>
      <p:sp>
        <p:nvSpPr>
          <p:cNvPr id="12" name="Text 9"/>
          <p:cNvSpPr/>
          <p:nvPr/>
        </p:nvSpPr>
        <p:spPr>
          <a:xfrm>
            <a:off x="1691640" y="371856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Sigue la cadena función → problema → beneficio en cada pantalla.</a:t>
            </a:r>
            <a:endParaRPr lang="en-US" sz="1600" dirty="0"/>
          </a:p>
        </p:txBody>
      </p:sp>
      <p:sp>
        <p:nvSpPr>
          <p:cNvPr id="13" name="Shape 10"/>
          <p:cNvSpPr/>
          <p:nvPr/>
        </p:nvSpPr>
        <p:spPr>
          <a:xfrm>
            <a:off x="640080" y="510540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14" name="Shape 11"/>
          <p:cNvSpPr/>
          <p:nvPr/>
        </p:nvSpPr>
        <p:spPr>
          <a:xfrm>
            <a:off x="896112" y="535990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5" name="Text 12"/>
          <p:cNvSpPr/>
          <p:nvPr/>
        </p:nvSpPr>
        <p:spPr>
          <a:xfrm>
            <a:off x="896112" y="535990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3</a:t>
            </a:r>
            <a:endParaRPr lang="en-US" sz="2200" dirty="0"/>
          </a:p>
        </p:txBody>
      </p:sp>
      <p:sp>
        <p:nvSpPr>
          <p:cNvPr id="16" name="Text 13"/>
          <p:cNvSpPr/>
          <p:nvPr/>
        </p:nvSpPr>
        <p:spPr>
          <a:xfrm>
            <a:off x="1691640" y="510540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Cierra siempre con un próximo paso concreto y con fecha.</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10048" y="1005840"/>
            <a:ext cx="1371600" cy="1371600"/>
          </a:xfrm>
          <a:prstGeom prst="rect">
            <a:avLst/>
          </a:prstGeom>
          <a:noFill/>
          <a:ln/>
        </p:spPr>
        <p:txBody>
          <a:bodyPr wrap="square" lIns="0" tIns="0" rIns="0" bIns="0" rtlCol="0" anchor="ctr"/>
          <a:lstStyle/>
          <a:p>
            <a:pPr algn="ctr" indent="0" marL="0">
              <a:buNone/>
            </a:pPr>
            <a:r>
              <a:rPr lang="en-US" sz="6000" b="1" dirty="0">
                <a:solidFill>
                  <a:srgbClr val="A18BCF"/>
                </a:solidFill>
                <a:latin typeface="Calibri" pitchFamily="34" charset="0"/>
                <a:ea typeface="Calibri" pitchFamily="34" charset="-122"/>
                <a:cs typeface="Calibri" pitchFamily="34" charset="-120"/>
              </a:rPr>
              <a:t>✓</a:t>
            </a:r>
            <a:endParaRPr lang="en-US" sz="6000" dirty="0"/>
          </a:p>
        </p:txBody>
      </p:sp>
      <p:sp>
        <p:nvSpPr>
          <p:cNvPr id="4" name="Text 1"/>
          <p:cNvSpPr/>
          <p:nvPr/>
        </p:nvSpPr>
        <p:spPr>
          <a:xfrm>
            <a:off x="640080" y="2331720"/>
            <a:ext cx="10911535" cy="292608"/>
          </a:xfrm>
          <a:prstGeom prst="rect">
            <a:avLst/>
          </a:prstGeom>
          <a:noFill/>
          <a:ln/>
        </p:spPr>
        <p:txBody>
          <a:bodyPr wrap="square" lIns="0" tIns="0" rIns="0" bIns="0" rtlCol="0" anchor="ctr"/>
          <a:lstStyle/>
          <a:p>
            <a:pPr algn="ctr" indent="0" marL="0">
              <a:buNone/>
            </a:pPr>
            <a:r>
              <a:rPr lang="en-US" sz="1200" b="1" spc="300" kern="0" dirty="0">
                <a:solidFill>
                  <a:srgbClr val="C9B8F0"/>
                </a:solidFill>
                <a:latin typeface="Calibri" pitchFamily="34" charset="0"/>
                <a:ea typeface="Calibri" pitchFamily="34" charset="-122"/>
                <a:cs typeface="Calibri" pitchFamily="34" charset="-120"/>
              </a:rPr>
              <a:t>CIERRE DEL MÓDULO 07</a:t>
            </a:r>
            <a:endParaRPr lang="en-US" sz="1200" dirty="0"/>
          </a:p>
        </p:txBody>
      </p:sp>
      <p:sp>
        <p:nvSpPr>
          <p:cNvPr id="5" name="Text 2"/>
          <p:cNvSpPr/>
          <p:nvPr/>
        </p:nvSpPr>
        <p:spPr>
          <a:xfrm>
            <a:off x="640080" y="2651760"/>
            <a:ext cx="10911535" cy="914400"/>
          </a:xfrm>
          <a:prstGeom prst="rect">
            <a:avLst/>
          </a:prstGeom>
          <a:noFill/>
          <a:ln/>
        </p:spPr>
        <p:txBody>
          <a:bodyPr wrap="square" lIns="0" tIns="0" rIns="0" bIns="0" rtlCol="0" anchor="t"/>
          <a:lstStyle/>
          <a:p>
            <a:pPr algn="ctr" indent="0" marL="0">
              <a:buNone/>
            </a:pPr>
            <a:r>
              <a:rPr lang="en-US" sz="4200" b="1" dirty="0">
                <a:solidFill>
                  <a:srgbClr val="FFFFFF"/>
                </a:solidFill>
                <a:latin typeface="Century Schoolbook" pitchFamily="34" charset="0"/>
                <a:ea typeface="Century Schoolbook" pitchFamily="34" charset="-122"/>
                <a:cs typeface="Century Schoolbook" pitchFamily="34" charset="-120"/>
              </a:rPr>
              <a:t>Listo para demostrar</a:t>
            </a:r>
            <a:endParaRPr lang="en-US" sz="4200" dirty="0"/>
          </a:p>
        </p:txBody>
      </p:sp>
      <p:sp>
        <p:nvSpPr>
          <p:cNvPr id="6" name="Text 3"/>
          <p:cNvSpPr/>
          <p:nvPr/>
        </p:nvSpPr>
        <p:spPr>
          <a:xfrm>
            <a:off x="1645920" y="3611880"/>
            <a:ext cx="8899855" cy="1097280"/>
          </a:xfrm>
          <a:prstGeom prst="rect">
            <a:avLst/>
          </a:prstGeom>
          <a:noFill/>
          <a:ln/>
        </p:spPr>
        <p:txBody>
          <a:bodyPr wrap="square" lIns="0" tIns="0" rIns="0" bIns="0" rtlCol="0" anchor="t"/>
          <a:lstStyle/>
          <a:p>
            <a:pPr algn="ctr" indent="0" marL="0">
              <a:lnSpc>
                <a:spcPct val="110000"/>
              </a:lnSpc>
              <a:buNone/>
            </a:pPr>
            <a:r>
              <a:rPr lang="en-US" sz="1800" i="1" dirty="0">
                <a:solidFill>
                  <a:srgbClr val="E7DEF7"/>
                </a:solidFill>
                <a:latin typeface="Calibri" pitchFamily="34" charset="0"/>
                <a:ea typeface="Calibri" pitchFamily="34" charset="-122"/>
                <a:cs typeface="Calibri" pitchFamily="34" charset="-120"/>
              </a:rPr>
              <a:t>Ya sabes preparar, estructurar y cerrar una demo que conecta cada función con un problema real.</a:t>
            </a:r>
            <a:endParaRPr lang="en-US" sz="1800" dirty="0"/>
          </a:p>
        </p:txBody>
      </p:sp>
      <p:sp>
        <p:nvSpPr>
          <p:cNvPr id="7" name="Shape 4"/>
          <p:cNvSpPr/>
          <p:nvPr/>
        </p:nvSpPr>
        <p:spPr>
          <a:xfrm>
            <a:off x="1645920" y="4892040"/>
            <a:ext cx="8899855" cy="1005840"/>
          </a:xfrm>
          <a:prstGeom prst="roundRect">
            <a:avLst>
              <a:gd name="adj" fmla="val 12727"/>
            </a:avLst>
          </a:prstGeom>
          <a:solidFill>
            <a:srgbClr val="FFFFFF">
              <a:alpha val="12000"/>
            </a:srgbClr>
          </a:solidFill>
          <a:ln w="9525">
            <a:solidFill>
              <a:srgbClr val="FFFFFF">
                <a:alpha val="45000"/>
              </a:srgbClr>
            </a:solidFill>
            <a:prstDash val="solid"/>
          </a:ln>
        </p:spPr>
      </p:sp>
      <p:sp>
        <p:nvSpPr>
          <p:cNvPr id="8" name="Text 5"/>
          <p:cNvSpPr/>
          <p:nvPr/>
        </p:nvSpPr>
        <p:spPr>
          <a:xfrm>
            <a:off x="2011680" y="4892040"/>
            <a:ext cx="8168335" cy="1005840"/>
          </a:xfrm>
          <a:prstGeom prst="rect">
            <a:avLst/>
          </a:prstGeom>
          <a:noFill/>
          <a:ln/>
        </p:spPr>
        <p:txBody>
          <a:bodyPr wrap="square" lIns="0" tIns="0" rIns="0" bIns="0" rtlCol="0" anchor="ctr"/>
          <a:lstStyle/>
          <a:p>
            <a:pPr algn="ctr" indent="0" marL="0">
              <a:lnSpc>
                <a:spcPct val="105000"/>
              </a:lnSpc>
              <a:buNone/>
            </a:pPr>
            <a:r>
              <a:rPr lang="en-US" sz="1400" b="1" dirty="0">
                <a:solidFill>
                  <a:srgbClr val="FFFFFF"/>
                </a:solidFill>
                <a:latin typeface="Calibri" pitchFamily="34" charset="0"/>
                <a:ea typeface="Calibri" pitchFamily="34" charset="-122"/>
                <a:cs typeface="Calibri" pitchFamily="34" charset="-120"/>
              </a:rPr>
              <a:t>Siguiente paso: presenta el examen del Módulo 07 y practica en el Simulador antes de tu primera demo real.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ATRIA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ATRIA · Módulo 07 · Presentación y demostración</dc:title>
  <dc:subject>Presentación y demostración</dc:subject>
  <dc:creator>Academia Comercial ATRIA</dc:creator>
  <cp:lastModifiedBy>Academia Comercial ATRIA</cp:lastModifiedBy>
  <cp:revision>1</cp:revision>
  <dcterms:created xsi:type="dcterms:W3CDTF">2026-08-03T02:46:46Z</dcterms:created>
  <dcterms:modified xsi:type="dcterms:W3CDTF">2026-08-03T02:46:46Z</dcterms:modified>
</cp:coreProperties>
</file>