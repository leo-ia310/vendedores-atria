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y bienvenido a la Academia Comercial de ATRIA. Si estás viendo este video, es porque diste un paso importante: decidiste convertirte en asesor comercial de ATRIA, y eso te convierte, desde hoy, en parte de nuestro equipo. Empecemos con calma, porque antes de que aprendas a vender hay algo que va a marcar toda tu carrera con nosotros, y quiero que lo entiendas de verdad, no que solo lo escuches. Es esto: nadie vende bien lo que no cree, y nadie cree en lo que no entiende. Por eso este primer módulo no trata de técnicas de venta, ni de precios, ni de comisiones. Trata de algo más profundo: entender qué es ATRIA, a quién ayuda, por qué existe y cuál va a ser tu papel en esta historia. Tómate estos quince minutos con atención. No los veas como un trámite para desbloquear el examen; míralos como la base sobre la que vas a construir todo lo demás. Un edificio no se sostiene por el último piso, sino por los cimientos, y esto son los cimientos. Cuando termines este video, vas a poder explicar en una frase qué es ATRIA, vas a saber a qué negocio le sirve y a cuál no, vas a conocer nuestra misión y nuestros valores y, sobre todo, vas a tener claro qué esperamos de ti como asesor. Respira, ponte cómodo, y empecemos este camino juntos.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camino que vamos a recorrer juntos en este módulo, y te lo muestro completo para que sepas siempre en qué punto estamos. Primero vamos a responder la pregunta más importante de todas: qué es ATRIA realmente, más allá del nombre y del logo. Porque si no puedes explicar en una frase qué vendes, difícilmente vas a lograr que alguien te lo compre. Después vamos a hablar del porqué: nuestra misión, nuestra visión y los valores que nos sostienen, ya que eso es lo que le da alma al producto que vas a representar todos los días. Un vendedor que conoce el propósito de lo que vende transmite una convicción que se siente al otro lado de la mesa. En tercer lugar, vamos a aterrizar en ti: qué esperamos exactamente de un asesor comercial de ATRIA, qué responsabilidades asumes al aceptar este rol y qué es lo que te va a hacer bueno en este trabajo. Y para cerrar, vamos a hablar de tu compromiso, que se resume en tres palabras que vas a escuchar mucho en esta academia: ética, aprendizaje y registro. Son cuatro bloques cortos, pero cada uno te va a dar una pieza que vas a usar en tu día a día. Así que vamos con el primero, el más fundamental de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lo esencial, a la definición que quiero que memorices y puedas decir de corrido. ATRIA es un sistema integral de gestión comercial pensado para las pequeñas y medianas empresas de Latinoamérica. Fíjate en dos palabras, porque encierran todo. La primera es integral: no es una herramienta suelta que resuelve una sola cosa, es una plataforma que abarca todo el negocio. La segunda es gestión, no solo venta: ATRIA no sirve únicamente para cobrar, sirve para administrar y tener control de lo que pasa en el comercio. En la práctica, une en una sola plataforma cosas que normalmente están separadas: el punto de venta, la caja donde se cobra; el inventario, el control de lo que entra y sale; la contabilidad, el corazón administrativo; y, en un restaurante, también el control de pedidos y de menú. Déjame pintártelo con una imagen que vas a usar mucho. Piensa en cómo trabaja hoy la mayoría de los comercios pequeños: la venta por un lado, en una caja o un cuaderno; el inventario por otro, en la cabeza del dueño o en un Excel; la contabilidad en manos de un contador externo que aparece a fin de mes; y los pedidos, si es restaurante, en papelitos que van y vienen. Cada cosa es una isla que no se comunica con las demás, y cuando las islas no se hablan, aparecen los errores, se pierde tiempo y nadie tiene claridad para decidir. Lo que hace ATRIA es juntar todas esas islas en un solo lugar conectado. Esa es la idea más importante que quiero que te lleves de este video, y la que vas a repetir, con tus palabras, en cada primera conversación con un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hay una sola idea que resume por qué ATRIA es diferente de cualquier caja registradora o programa común, es esta que ves en pantalla. Presta atención, porque la vas a usar una y otra vez. En la mayoría de los negocios, la contabilidad es una tarea aparte que alguien hace después, casi siempre tarde y a mano. Durante todo el mes se vende, se compra y se gasta; y a fin de mes alguien tiene que sentarse a cuadrar: juntar facturas, revisar inventario, sumar gastos, pasar todo a los libros. Es lento, es caro porque a menudo hay que pagarle a alguien, y se presta a errores por todos lados. ATRIA le da la vuelta por completo. Aquí, cada evento del negocio genera automáticamente su asiento contable, en el mismo instante en que ocurre. ¿Qué significa en palabras simples? Que cuando ocurre una venta, ATRIA hace tres cosas al mismo tiempo, sin que nadie se lo pida: la registra en la caja, descuenta el producto del inventario y crea el movimiento contable. Y lo mismo con una compra o un gasto. Mira el flujo en pantalla, porque es la explicación perfecta para un cliente. Primero, ocurre la operación: una venta, una compra o un gasto. Segundo, ATRIA la registra automáticamente en caja, inventario y libros, todo conectado. Y tercero, la contabilidad sale sola, actualizada, sin volver a digitar nada. El resultado, la frase que remata todo, es que el dueño deja de cuadrar a mano. Esta es la promesa central que vas a llevar a cada cliente: con ATRIA, el negocio se ordena solo mientras trabaja. Guárdate bien esta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sabes qué es ATRIA a nivel técnico, hablemos de por qué existe, porque eso le da alma a tu trabajo y convicción a tu voz. Todo producto que vale la pena nace de un propósito, y el nuestro está en tres ideas: misión, visión y valores. La misión es nuestra razón de ser hoy: dar control y claridad a cada comercio. Ayudamos a que negocios y restaurantes dejen atrás el desorden de siempre, ese que tú y yo conocemos: el Excel que solo una persona entiende, los cuadernos que se pierden, los sistemas sueltos que no se hablan entre sí. La visión es hacia dónde vamos, el sueño grande: convertirnos en el sistema operativo del comercio en Latinoamérica. Piénsalo así: hoy nadie cuestiona usar un teléfono inteligente, es natural; nosotros queremos que administrar un negocio deje de ser un dolor de cabeza y se vuelva igual de natural y simple. Y para llegar ahí nos apoyamos en cuatro valores. Honestidad, porque nunca prometemos lo que el producto no hace. Simplicidad operativa, porque la tecnología es muy potente por dentro pero se siente fácil por fuera. Cercanía, porque tratamos a cada cliente como a un vecino, no como a un número. Y soporte en español, porque acompañamos de verdad, en el idioma y la realidad de nuestra gente. Interioriza esto: cuando vendes ATRIA, no estás vendiendo un software. Estás llevando control, claridad y tranquilidad a alguien que trabaja muy duro por su negocio y su familia. Cuando lo veas así, tu forma de vender cambia para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 la parte que más te toca a ti, así que escucha con atención. El asesor comercial es la cara de ATRIA. Y no es una frase bonita, es una realidad concreta: para muchísimos clientes, tú vas a ser la primera persona, y a veces la única, con la que hablen de nosotros. Lo que digas, cómo te comportes, si cumples o no lo que prometes, para ellos eso es ATRIA. Es una gran responsabilidad, pero también un gran privilegio, porque tienes el poder de cambiarle la forma de trabajar a un negocio. Entiende bien tu rol, porque no es el de un repartidor de folletos que recita una lista de funciones como un loro. Tu trabajo tiene tres partes, y las tres importan por igual. La primera es entender al negocio: escuchar de verdad cómo trabaja hoy, qué le duele, qué le hace perder tiempo o dinero. Antes de hablar, escuchar. La segunda es mostrar cómo ATRIA lo ordena: y aquí está la clave, no mostrar todo lo que ATRIA hace, sino conectar cada función con el problema concreto que ese negocio tiene enfrente. Hacer que el cliente vea su propio problema resuelto. Y la tercera es acompañar la decisión con ética: sin presionar, sin mentir, sin prometer cosas que el producto no hace para lograr una venta rápida. Si tuviera que resumir tu rol en una frase, sería esta: eres el puente entre un problema real y una solución que funciona. Un vendedor mediocre empuja el producto; un buen asesor ayuda al cliente a ver su situación con claridad y a decidir con confianza, aunque a veces esa decisión sea esperar. Ese es el estándar que buscamos en ti, y el que esta academia te va a ayudar a alcanzar.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Concretemos qué esperamos de ti en el día a día, porque las buenas intenciones se traducen en compromisos claros. Son cuatro. El primero: representar la marca con honestidad. Cuando hablas con un cliente, tu palabra es la palabra de ATRIA; si prometes algo, la empresa tiene que cumplirlo, porque para el cliente tú eres la empresa. Por eso solo prometemos lo que el producto realmente hace. Una venta lograda con una mentira no es una venta, es un problema futuro que explota en forma de reembolso, reclamo y mala reputación. El segundo: aprender el producto a fondo. Y aquí vuelvo a la frase con la que abrimos, porque es una ley: no se vende lo que no se entiende. Dedicarás los próximos módulos a conocer cada parte de ATRIA, y no es por llenarte de teoría, sino porque tu seguridad frente al cliente nace de tu conocimiento. Cuando dominas el producto, se te nota, y esa confianza se contagia. El tercero: registrar bien tus prospectos y ventas. En ATRIA tenemos una regla de oro: lo que no se registra, no existe. No existe para el seguimiento, porque se te olvida; no existe para la atribución, porque no podrás demostrar que ese cliente es tuyo; y no existe para tu comisión, porque el sistema paga sobre lo registrado y aprobado. Aprenderás a usar el CRM, y ahí llevarás todo. Y el cuarto: cumplir las políticas comerciales. Las reglas no están para complicarte ni vigilarte; protegen tu trabajo, tu comisión y la confianza del cliente. Un asesor que respeta las reglas duerme tranquilo y cobra completo. Estos cuatro compromisos, honestidad, conocimiento, registro y cumplimiento, son la base de todo lo demás.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cerrar, te doy una herramienta práctica que vas a usar desde tu primera conversación y que te hará ver profesional de inmediato. ATRIA sirve a dos grandes tipos de cliente, y distinguirlos rápido es una de las primeras habilidades del buen asesor. El primer grupo es el comercio general: una ferretería, una farmacia, una tienda de barrio, una distribuidora, un minimercado. ¿Qué necesita sobre todo? El punto de venta para cobrar rápido y sin errores, el inventario para controlar sus existencias, la contabilidad automática para dejar de cuadrar a mano y los reportes para saber cómo va y decidir. Ese es su combo esencial. El segundo grupo es el restaurante, y ojo, aquí entran también cafeterías, comida rápida, bares y cualquier cocina con pedidos frecuentes. ¿Qué necesita? Todo lo del comercio general, y además algo clave: el control de pedidos y de menú, conectado con la caja y con el inventario de insumos. La diferencia importante es esta: el restaurante vive de los pedidos y del consumo de insumos. Cada plato consume ingredientes, y ahí se gana o se pierde el margen. Por eso, para el restaurante, ATRIA suma el módulo de pedidos y menú, que es su corazón. Te dejo con un hábito mental que quiero que adoptes desde ya: cuando llegues a cualquier negocio, la primera pregunta, aunque sea en silencio, es: ¿esto es un comercio o un restaurante? Esa sola respuesta ya empieza a ordenar tu conversación y te dice por dónde enfocar. Es simple, pero poderoso.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recapitular lo esencial de este módulo, porque estas son las ideas que quiero que te queden grabadas en la memoria, las que deberías poder repetir si alguien te despierta a medianoche. Primera idea: ATRIA integra en una sola plataforma el punto de venta, el inventario, la contabilidad automática y, para los restaurantes, la operación completa de pedidos y menú. No son herramientas sueltas, es una sola plataforma conectada que ordena todo el negocio mientras el dueño trabaja. Segunda idea: tú, como asesor, eres el puente entre el negocio y la solución. No eres un recitador de funciones; eres alguien que entiende problemas reales y muestra cómo ATRIA los resuelve, uno por uno. Esa es la diferencia entre informar y vender, y la vamos a profundizar más adelante. Y tercera idea: la ética y el registro correcto son la base de todo el programa. Sin honestidad no hay confianza, y sin confianza no hay ventas que duren. Sin registro no hay seguimiento, no hay atribución y no hay comisión. Si te llevas nada más que estas tres ideas de este primer módulo, ya tienes los cimientos bien puestos para todo lo que 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con esto cerramos tu primer módulo de la Academia Comercial ATRIA. Quiero felicitarte de verdad, porque diste el paso más importante de todos, uno que muchos vendedores saltan por las prisas: entender antes de vender. Hoy ya sabes qué es ATRIA, sabes a quién ayuda y a quién no, conoces nuestra misión, nuestra visión y nuestros valores, y tienes claro cuál es tu rol como asesor y qué esperamos de ti. Eso es más de lo que muchos logran en semanas de trabajo. El siguiente paso es sencillo y te lo recomiendo hacer sin dejar pasar mucho tiempo, mientras todo está fresco. Primero, presenta el examen de este módulo; no lo veas como un obstáculo, sino como una forma de afianzar y confirmar lo que aprendiste. Y segundo, avanza al Módulo 2, donde vamos a meternos de lleno en el producto. Ahí vas a conocer cada parte de ATRIA a fondo: el punto de venta, el inventario, la contabilidad, los pedidos y los reportes, para que puedas conectar cada función con un problema real del cliente. Nos vemos en el siguiente video. Bienvenido, otra vez, y con toda intención, al equipo de ATRIA. Vamos con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416"/>
        </a:solidFill>
      </p:bgPr>
    </p:bg>
    <p:spTree>
      <p:nvGrpSpPr>
        <p:cNvPr id="1" name=""/>
        <p:cNvGrpSpPr/>
        <p:nvPr/>
      </p:nvGrpSpPr>
      <p:grpSpPr>
        <a:xfrm>
          <a:off x="0" y="0"/>
          <a:ext cx="0" cy="0"/>
          <a:chOff x="0" y="0"/>
          <a:chExt cx="0" cy="0"/>
        </a:xfrm>
      </p:grpSpPr>
      <p:pic>
        <p:nvPicPr>
          <p:cNvPr id="2" name="Image 0" descr="C:\Users\Maykel\AppData\Local\Temp\claude\C--Users-Maykel-Documents-Vendedores-ATRIA\2835f6c9-42b1-4d99-a7c2-ba9d9749de1e\scratchpad\gradient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7619695" y="2468880"/>
            <a:ext cx="4572000" cy="4572000"/>
          </a:xfrm>
          <a:prstGeom prst="rect">
            <a:avLst/>
          </a:prstGeom>
          <a:noFill/>
          <a:ln/>
        </p:spPr>
        <p:txBody>
          <a:bodyPr wrap="square" lIns="0" tIns="0" rIns="0" bIns="0" rtlCol="0" anchor="b"/>
          <a:lstStyle/>
          <a:p>
            <a:pPr algn="r" indent="0" marL="0">
              <a:buNone/>
            </a:pPr>
            <a:r>
              <a:rPr lang="en-US" sz="23000" b="1" dirty="0">
                <a:solidFill>
                  <a:srgbClr val="FFFFFF">
                    <a:alpha val="10000"/>
                  </a:srgbClr>
                </a:solidFill>
                <a:latin typeface="Century Schoolbook" pitchFamily="34" charset="0"/>
                <a:ea typeface="Century Schoolbook" pitchFamily="34" charset="-122"/>
                <a:cs typeface="Century Schoolbook" pitchFamily="34" charset="-120"/>
              </a:rPr>
              <a:t>01</a:t>
            </a:r>
            <a:endParaRPr lang="en-US" sz="23000" dirty="0"/>
          </a:p>
        </p:txBody>
      </p:sp>
      <p:sp>
        <p:nvSpPr>
          <p:cNvPr id="4" name="Text 1"/>
          <p:cNvSpPr/>
          <p:nvPr/>
        </p:nvSpPr>
        <p:spPr>
          <a:xfrm>
            <a:off x="640080" y="1371600"/>
            <a:ext cx="10911535" cy="292608"/>
          </a:xfrm>
          <a:prstGeom prst="rect">
            <a:avLst/>
          </a:prstGeom>
          <a:noFill/>
          <a:ln/>
        </p:spPr>
        <p:txBody>
          <a:bodyPr wrap="square" lIns="0" tIns="0" rIns="0" bIns="0" rtlCol="0" anchor="ctr"/>
          <a:lstStyle/>
          <a:p>
            <a:pPr algn="l" indent="0" marL="0">
              <a:buNone/>
            </a:pPr>
            <a:r>
              <a:rPr lang="en-US" sz="1150" b="1" spc="300" kern="0" dirty="0">
                <a:solidFill>
                  <a:srgbClr val="C9B8F0"/>
                </a:solidFill>
                <a:latin typeface="Calibri" pitchFamily="34" charset="0"/>
                <a:ea typeface="Calibri" pitchFamily="34" charset="-122"/>
                <a:cs typeface="Calibri" pitchFamily="34" charset="-120"/>
              </a:rPr>
              <a:t>ACADEMIA COMERCIAL ATRIA · MÓDULO 01</a:t>
            </a:r>
            <a:endParaRPr lang="en-US" sz="1150" dirty="0"/>
          </a:p>
        </p:txBody>
      </p:sp>
      <p:sp>
        <p:nvSpPr>
          <p:cNvPr id="5" name="Text 2"/>
          <p:cNvSpPr/>
          <p:nvPr/>
        </p:nvSpPr>
        <p:spPr>
          <a:xfrm>
            <a:off x="640080" y="1920240"/>
            <a:ext cx="10911535" cy="1828800"/>
          </a:xfrm>
          <a:prstGeom prst="rect">
            <a:avLst/>
          </a:prstGeom>
          <a:noFill/>
          <a:ln/>
        </p:spPr>
        <p:txBody>
          <a:bodyPr wrap="square" lIns="0" tIns="0" rIns="0" bIns="0" rtlCol="0" anchor="t"/>
          <a:lstStyle/>
          <a:p>
            <a:pPr algn="l" indent="0" marL="0">
              <a:lnSpc>
                <a:spcPct val="95000"/>
              </a:lnSpc>
              <a:buNone/>
            </a:pPr>
            <a:r>
              <a:rPr lang="en-US" sz="5800" b="1" dirty="0">
                <a:solidFill>
                  <a:srgbClr val="FFFFFF"/>
                </a:solidFill>
                <a:latin typeface="Century Schoolbook" pitchFamily="34" charset="0"/>
                <a:ea typeface="Century Schoolbook" pitchFamily="34" charset="-122"/>
                <a:cs typeface="Century Schoolbook" pitchFamily="34" charset="-120"/>
              </a:rPr>
              <a:t>Bienvenida a ATRIA</a:t>
            </a:r>
            <a:endParaRPr lang="en-US" sz="5800" dirty="0"/>
          </a:p>
        </p:txBody>
      </p:sp>
      <p:sp>
        <p:nvSpPr>
          <p:cNvPr id="6" name="Text 3"/>
          <p:cNvSpPr/>
          <p:nvPr/>
        </p:nvSpPr>
        <p:spPr>
          <a:xfrm>
            <a:off x="640080" y="3886200"/>
            <a:ext cx="9997135" cy="822960"/>
          </a:xfrm>
          <a:prstGeom prst="rect">
            <a:avLst/>
          </a:prstGeom>
          <a:noFill/>
          <a:ln/>
        </p:spPr>
        <p:txBody>
          <a:bodyPr wrap="square" lIns="0" tIns="0" rIns="0" bIns="0" rtlCol="0" anchor="t"/>
          <a:lstStyle/>
          <a:p>
            <a:pPr algn="l" indent="0" marL="0">
              <a:buNone/>
            </a:pPr>
            <a:r>
              <a:rPr lang="en-US" sz="2200" i="1" dirty="0">
                <a:solidFill>
                  <a:srgbClr val="E7DEF7"/>
                </a:solidFill>
                <a:latin typeface="Calibri" pitchFamily="34" charset="0"/>
                <a:ea typeface="Calibri" pitchFamily="34" charset="-122"/>
                <a:cs typeface="Calibri" pitchFamily="34" charset="-120"/>
              </a:rPr>
              <a:t>Tu primer paso como Asesor Comercial</a:t>
            </a:r>
            <a:endParaRPr lang="en-US" sz="2200" dirty="0"/>
          </a:p>
        </p:txBody>
      </p:sp>
      <p:sp>
        <p:nvSpPr>
          <p:cNvPr id="7" name="Shape 4"/>
          <p:cNvSpPr/>
          <p:nvPr/>
        </p:nvSpPr>
        <p:spPr>
          <a:xfrm>
            <a:off x="640080" y="5669280"/>
            <a:ext cx="5120640" cy="566928"/>
          </a:xfrm>
          <a:prstGeom prst="roundRect">
            <a:avLst>
              <a:gd name="adj" fmla="val 50000"/>
            </a:avLst>
          </a:prstGeom>
          <a:solidFill>
            <a:srgbClr val="FFFFFF">
              <a:alpha val="14000"/>
            </a:srgbClr>
          </a:solidFill>
          <a:ln w="9525">
            <a:solidFill>
              <a:srgbClr val="FFFFFF">
                <a:alpha val="40000"/>
              </a:srgbClr>
            </a:solidFill>
            <a:prstDash val="solid"/>
          </a:ln>
        </p:spPr>
      </p:sp>
      <p:sp>
        <p:nvSpPr>
          <p:cNvPr id="8" name="Text 5"/>
          <p:cNvSpPr/>
          <p:nvPr/>
        </p:nvSpPr>
        <p:spPr>
          <a:xfrm>
            <a:off x="640080" y="5669280"/>
            <a:ext cx="51206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Nivel Principiante · Duración 15 minutos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LO QUE VERÁS EN ESTE MÓDULO</a:t>
            </a:r>
            <a:endParaRPr lang="en-US" sz="1150" dirty="0"/>
          </a:p>
        </p:txBody>
      </p:sp>
      <p:sp>
        <p:nvSpPr>
          <p:cNvPr id="3" name="Text 1"/>
          <p:cNvSpPr/>
          <p:nvPr/>
        </p:nvSpPr>
        <p:spPr>
          <a:xfrm>
            <a:off x="640080" y="822960"/>
            <a:ext cx="10911535" cy="868680"/>
          </a:xfrm>
          <a:prstGeom prst="rect">
            <a:avLst/>
          </a:prstGeom>
          <a:noFill/>
          <a:ln/>
        </p:spPr>
        <p:txBody>
          <a:bodyPr wrap="square" lIns="0" tIns="0" rIns="0" bIns="0" rtlCol="0" anchor="t"/>
          <a:lstStyle/>
          <a:p>
            <a:pPr algn="l" indent="0" marL="0">
              <a:buNone/>
            </a:pPr>
            <a:r>
              <a:rPr lang="en-US" sz="3400" b="1" dirty="0">
                <a:solidFill>
                  <a:srgbClr val="1B1526"/>
                </a:solidFill>
                <a:latin typeface="Century Schoolbook" pitchFamily="34" charset="0"/>
                <a:ea typeface="Century Schoolbook" pitchFamily="34" charset="-122"/>
                <a:cs typeface="Century Schoolbook" pitchFamily="34" charset="-120"/>
              </a:rPr>
              <a:t>Tu ruta en los próximos 15 minutos</a:t>
            </a:r>
            <a:endParaRPr lang="en-US" sz="3400" dirty="0"/>
          </a:p>
        </p:txBody>
      </p:sp>
      <p:sp>
        <p:nvSpPr>
          <p:cNvPr id="4" name="Shape 2"/>
          <p:cNvSpPr/>
          <p:nvPr/>
        </p:nvSpPr>
        <p:spPr>
          <a:xfrm>
            <a:off x="640080" y="1874520"/>
            <a:ext cx="5295748" cy="2011680"/>
          </a:xfrm>
          <a:prstGeom prst="roundRect">
            <a:avLst>
              <a:gd name="adj" fmla="val 4545"/>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5" name="Shape 3"/>
          <p:cNvSpPr/>
          <p:nvPr/>
        </p:nvSpPr>
        <p:spPr>
          <a:xfrm>
            <a:off x="896112" y="2551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6" name="Text 4"/>
          <p:cNvSpPr/>
          <p:nvPr/>
        </p:nvSpPr>
        <p:spPr>
          <a:xfrm>
            <a:off x="896112" y="2551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1</a:t>
            </a:r>
            <a:endParaRPr lang="en-US" sz="2400" dirty="0"/>
          </a:p>
        </p:txBody>
      </p:sp>
      <p:sp>
        <p:nvSpPr>
          <p:cNvPr id="7" name="Text 5"/>
          <p:cNvSpPr/>
          <p:nvPr/>
        </p:nvSpPr>
        <p:spPr>
          <a:xfrm>
            <a:off x="1737360" y="2075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Qué es ATRIA</a:t>
            </a:r>
            <a:endParaRPr lang="en-US" sz="1700" dirty="0"/>
          </a:p>
        </p:txBody>
      </p:sp>
      <p:sp>
        <p:nvSpPr>
          <p:cNvPr id="8" name="Text 6"/>
          <p:cNvSpPr/>
          <p:nvPr/>
        </p:nvSpPr>
        <p:spPr>
          <a:xfrm>
            <a:off x="1737360" y="3246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La plataforma que ordena el negocio</a:t>
            </a:r>
            <a:endParaRPr lang="en-US" sz="1250" dirty="0"/>
          </a:p>
        </p:txBody>
      </p:sp>
      <p:sp>
        <p:nvSpPr>
          <p:cNvPr id="9" name="Shape 7"/>
          <p:cNvSpPr/>
          <p:nvPr/>
        </p:nvSpPr>
        <p:spPr>
          <a:xfrm>
            <a:off x="6255868" y="1874520"/>
            <a:ext cx="5295748" cy="2011680"/>
          </a:xfrm>
          <a:prstGeom prst="roundRect">
            <a:avLst>
              <a:gd name="adj" fmla="val 4545"/>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10" name="Shape 8"/>
          <p:cNvSpPr/>
          <p:nvPr/>
        </p:nvSpPr>
        <p:spPr>
          <a:xfrm>
            <a:off x="6511900" y="2551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1" name="Text 9"/>
          <p:cNvSpPr/>
          <p:nvPr/>
        </p:nvSpPr>
        <p:spPr>
          <a:xfrm>
            <a:off x="6511900" y="2551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2</a:t>
            </a:r>
            <a:endParaRPr lang="en-US" sz="2400" dirty="0"/>
          </a:p>
        </p:txBody>
      </p:sp>
      <p:sp>
        <p:nvSpPr>
          <p:cNvPr id="12" name="Text 10"/>
          <p:cNvSpPr/>
          <p:nvPr/>
        </p:nvSpPr>
        <p:spPr>
          <a:xfrm>
            <a:off x="7353148" y="2075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Misión, visión y valores</a:t>
            </a:r>
            <a:endParaRPr lang="en-US" sz="1700" dirty="0"/>
          </a:p>
        </p:txBody>
      </p:sp>
      <p:sp>
        <p:nvSpPr>
          <p:cNvPr id="13" name="Text 11"/>
          <p:cNvSpPr/>
          <p:nvPr/>
        </p:nvSpPr>
        <p:spPr>
          <a:xfrm>
            <a:off x="7353148" y="3246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El porqué detrás del producto</a:t>
            </a:r>
            <a:endParaRPr lang="en-US" sz="1250" dirty="0"/>
          </a:p>
        </p:txBody>
      </p:sp>
      <p:sp>
        <p:nvSpPr>
          <p:cNvPr id="14" name="Shape 12"/>
          <p:cNvSpPr/>
          <p:nvPr/>
        </p:nvSpPr>
        <p:spPr>
          <a:xfrm>
            <a:off x="640080" y="4160520"/>
            <a:ext cx="5295748" cy="2011680"/>
          </a:xfrm>
          <a:prstGeom prst="roundRect">
            <a:avLst>
              <a:gd name="adj" fmla="val 4545"/>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15" name="Shape 13"/>
          <p:cNvSpPr/>
          <p:nvPr/>
        </p:nvSpPr>
        <p:spPr>
          <a:xfrm>
            <a:off x="896112" y="4837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6" name="Text 14"/>
          <p:cNvSpPr/>
          <p:nvPr/>
        </p:nvSpPr>
        <p:spPr>
          <a:xfrm>
            <a:off x="896112" y="4837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3</a:t>
            </a:r>
            <a:endParaRPr lang="en-US" sz="2400" dirty="0"/>
          </a:p>
        </p:txBody>
      </p:sp>
      <p:sp>
        <p:nvSpPr>
          <p:cNvPr id="17" name="Text 15"/>
          <p:cNvSpPr/>
          <p:nvPr/>
        </p:nvSpPr>
        <p:spPr>
          <a:xfrm>
            <a:off x="1737360" y="4361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Qué se espera de ti</a:t>
            </a:r>
            <a:endParaRPr lang="en-US" sz="1700" dirty="0"/>
          </a:p>
        </p:txBody>
      </p:sp>
      <p:sp>
        <p:nvSpPr>
          <p:cNvPr id="18" name="Text 16"/>
          <p:cNvSpPr/>
          <p:nvPr/>
        </p:nvSpPr>
        <p:spPr>
          <a:xfrm>
            <a:off x="1737360" y="5532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El rol del asesor comercial</a:t>
            </a:r>
            <a:endParaRPr lang="en-US" sz="1250" dirty="0"/>
          </a:p>
        </p:txBody>
      </p:sp>
      <p:sp>
        <p:nvSpPr>
          <p:cNvPr id="19" name="Shape 17"/>
          <p:cNvSpPr/>
          <p:nvPr/>
        </p:nvSpPr>
        <p:spPr>
          <a:xfrm>
            <a:off x="6255868" y="4160520"/>
            <a:ext cx="5295748" cy="2011680"/>
          </a:xfrm>
          <a:prstGeom prst="roundRect">
            <a:avLst>
              <a:gd name="adj" fmla="val 4545"/>
            </a:avLst>
          </a:prstGeom>
          <a:solidFill>
            <a:srgbClr val="F5F2FA"/>
          </a:solidFill>
          <a:ln w="12700">
            <a:solidFill>
              <a:srgbClr val="E7E1F0"/>
            </a:solidFill>
            <a:prstDash val="solid"/>
          </a:ln>
          <a:effectLst>
            <a:outerShdw sx="100000" sy="100000" kx="0" ky="0" algn="bl" rotWithShape="0" blurRad="76200" dist="25400" dir="5400000">
              <a:srgbClr val="1B1526">
                <a:alpha val="10000"/>
              </a:srgbClr>
            </a:outerShdw>
          </a:effectLst>
        </p:spPr>
      </p:sp>
      <p:sp>
        <p:nvSpPr>
          <p:cNvPr id="20" name="Shape 18"/>
          <p:cNvSpPr/>
          <p:nvPr/>
        </p:nvSpPr>
        <p:spPr>
          <a:xfrm>
            <a:off x="6511900" y="4837176"/>
            <a:ext cx="658368" cy="658368"/>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21" name="Text 19"/>
          <p:cNvSpPr/>
          <p:nvPr/>
        </p:nvSpPr>
        <p:spPr>
          <a:xfrm>
            <a:off x="6511900" y="4837176"/>
            <a:ext cx="658368" cy="658368"/>
          </a:xfrm>
          <a:prstGeom prst="rect">
            <a:avLst/>
          </a:prstGeom>
          <a:noFill/>
          <a:ln/>
        </p:spPr>
        <p:txBody>
          <a:bodyPr wrap="square" lIns="0" tIns="0" rIns="0" bIns="0" rtlCol="0" anchor="ctr"/>
          <a:lstStyle/>
          <a:p>
            <a:pPr algn="ctr" indent="0" marL="0">
              <a:buNone/>
            </a:pPr>
            <a:r>
              <a:rPr lang="en-US" sz="2400" b="1" dirty="0">
                <a:solidFill>
                  <a:srgbClr val="2B1F3A"/>
                </a:solidFill>
                <a:latin typeface="Century Schoolbook" pitchFamily="34" charset="0"/>
                <a:ea typeface="Century Schoolbook" pitchFamily="34" charset="-122"/>
                <a:cs typeface="Century Schoolbook" pitchFamily="34" charset="-120"/>
              </a:rPr>
              <a:t>4</a:t>
            </a:r>
            <a:endParaRPr lang="en-US" sz="2400" dirty="0"/>
          </a:p>
        </p:txBody>
      </p:sp>
      <p:sp>
        <p:nvSpPr>
          <p:cNvPr id="22" name="Text 20"/>
          <p:cNvSpPr/>
          <p:nvPr/>
        </p:nvSpPr>
        <p:spPr>
          <a:xfrm>
            <a:off x="7353148" y="4361688"/>
            <a:ext cx="4015588" cy="457200"/>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Tu compromiso</a:t>
            </a:r>
            <a:endParaRPr lang="en-US" sz="1700" dirty="0"/>
          </a:p>
        </p:txBody>
      </p:sp>
      <p:sp>
        <p:nvSpPr>
          <p:cNvPr id="23" name="Text 21"/>
          <p:cNvSpPr/>
          <p:nvPr/>
        </p:nvSpPr>
        <p:spPr>
          <a:xfrm>
            <a:off x="7353148" y="5532120"/>
            <a:ext cx="4015588" cy="457200"/>
          </a:xfrm>
          <a:prstGeom prst="rect">
            <a:avLst/>
          </a:prstGeom>
          <a:noFill/>
          <a:ln/>
        </p:spPr>
        <p:txBody>
          <a:bodyPr wrap="square" lIns="0" tIns="0" rIns="0" bIns="0" rtlCol="0" anchor="t"/>
          <a:lstStyle/>
          <a:p>
            <a:pPr algn="l" indent="0" marL="0">
              <a:buNone/>
            </a:pPr>
            <a:r>
              <a:rPr lang="en-US" sz="1250" dirty="0">
                <a:solidFill>
                  <a:srgbClr val="3A3348"/>
                </a:solidFill>
                <a:latin typeface="Calibri" pitchFamily="34" charset="0"/>
                <a:ea typeface="Calibri" pitchFamily="34" charset="-122"/>
                <a:cs typeface="Calibri" pitchFamily="34" charset="-120"/>
              </a:rPr>
              <a:t>Ética, aprendizaje y registro</a:t>
            </a:r>
            <a:endParaRPr lang="en-US" sz="1250" dirty="0"/>
          </a:p>
        </p:txBody>
      </p:sp>
      <p:sp>
        <p:nvSpPr>
          <p:cNvPr id="24" name="Text 22"/>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01</a:t>
            </a:r>
            <a:endParaRPr lang="en-US" sz="900" dirty="0"/>
          </a:p>
        </p:txBody>
      </p:sp>
      <p:sp>
        <p:nvSpPr>
          <p:cNvPr id="25" name="Text 23"/>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15 min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8580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CONCEPTO CENTRAL</a:t>
            </a:r>
            <a:endParaRPr lang="en-US" sz="1150" dirty="0"/>
          </a:p>
        </p:txBody>
      </p:sp>
      <p:sp>
        <p:nvSpPr>
          <p:cNvPr id="3" name="Text 1"/>
          <p:cNvSpPr/>
          <p:nvPr/>
        </p:nvSpPr>
        <p:spPr>
          <a:xfrm>
            <a:off x="640080" y="1051560"/>
            <a:ext cx="5760720" cy="1645920"/>
          </a:xfrm>
          <a:prstGeom prst="rect">
            <a:avLst/>
          </a:prstGeom>
          <a:noFill/>
          <a:ln/>
        </p:spPr>
        <p:txBody>
          <a:bodyPr wrap="square" lIns="0" tIns="0" rIns="0" bIns="0" rtlCol="0" anchor="t"/>
          <a:lstStyle/>
          <a:p>
            <a:pPr algn="l" indent="0" marL="0">
              <a:lnSpc>
                <a:spcPct val="100000"/>
              </a:lnSpc>
              <a:buNone/>
            </a:pPr>
            <a:r>
              <a:rPr lang="en-US" sz="3400" b="1" dirty="0">
                <a:solidFill>
                  <a:srgbClr val="1B1526"/>
                </a:solidFill>
                <a:latin typeface="Century Schoolbook" pitchFamily="34" charset="0"/>
                <a:ea typeface="Century Schoolbook" pitchFamily="34" charset="-122"/>
                <a:cs typeface="Century Schoolbook" pitchFamily="34" charset="-120"/>
              </a:rPr>
              <a:t>¿Qué es ATRIA?</a:t>
            </a:r>
            <a:endParaRPr lang="en-US" sz="3400" dirty="0"/>
          </a:p>
        </p:txBody>
      </p:sp>
      <p:sp>
        <p:nvSpPr>
          <p:cNvPr id="4" name="Shape 2"/>
          <p:cNvSpPr/>
          <p:nvPr/>
        </p:nvSpPr>
        <p:spPr>
          <a:xfrm>
            <a:off x="6720840" y="914400"/>
            <a:ext cx="4830775" cy="4663440"/>
          </a:xfrm>
          <a:prstGeom prst="roundRect">
            <a:avLst>
              <a:gd name="adj" fmla="val 2745"/>
            </a:avLst>
          </a:prstGeom>
          <a:solidFill>
            <a:srgbClr val="2B1F3A"/>
          </a:solidFill>
          <a:ln/>
          <a:effectLst>
            <a:outerShdw sx="100000" sy="100000" kx="0" ky="0" algn="bl" rotWithShape="0" blurRad="101600" dist="38100" dir="5400000">
              <a:srgbClr val="1B1526">
                <a:alpha val="25000"/>
              </a:srgbClr>
            </a:outerShdw>
          </a:effectLst>
        </p:spPr>
      </p:sp>
      <p:sp>
        <p:nvSpPr>
          <p:cNvPr id="5" name="Text 3"/>
          <p:cNvSpPr/>
          <p:nvPr/>
        </p:nvSpPr>
        <p:spPr>
          <a:xfrm>
            <a:off x="6949440" y="914400"/>
            <a:ext cx="1371600" cy="1280160"/>
          </a:xfrm>
          <a:prstGeom prst="rect">
            <a:avLst/>
          </a:prstGeom>
          <a:noFill/>
          <a:ln/>
        </p:spPr>
        <p:txBody>
          <a:bodyPr wrap="square" lIns="0" tIns="0" rIns="0" bIns="0" rtlCol="0" anchor="t"/>
          <a:lstStyle/>
          <a:p>
            <a:pPr algn="l" indent="0" marL="0">
              <a:buNone/>
            </a:pPr>
            <a:r>
              <a:rPr lang="en-US" sz="9000" b="1" dirty="0">
                <a:solidFill>
                  <a:srgbClr val="A18BCF"/>
                </a:solidFill>
                <a:latin typeface="Century Schoolbook" pitchFamily="34" charset="0"/>
                <a:ea typeface="Century Schoolbook" pitchFamily="34" charset="-122"/>
                <a:cs typeface="Century Schoolbook" pitchFamily="34" charset="-120"/>
              </a:rPr>
              <a:t>“</a:t>
            </a:r>
            <a:endParaRPr lang="en-US" sz="9000" dirty="0"/>
          </a:p>
        </p:txBody>
      </p:sp>
      <p:sp>
        <p:nvSpPr>
          <p:cNvPr id="6" name="Text 4"/>
          <p:cNvSpPr/>
          <p:nvPr/>
        </p:nvSpPr>
        <p:spPr>
          <a:xfrm>
            <a:off x="7178040" y="1965960"/>
            <a:ext cx="3916375" cy="2011680"/>
          </a:xfrm>
          <a:prstGeom prst="rect">
            <a:avLst/>
          </a:prstGeom>
          <a:noFill/>
          <a:ln/>
        </p:spPr>
        <p:txBody>
          <a:bodyPr wrap="square" lIns="0" tIns="0" rIns="0" bIns="0" rtlCol="0" anchor="t"/>
          <a:lstStyle/>
          <a:p>
            <a:pPr algn="l" indent="0" marL="0">
              <a:lnSpc>
                <a:spcPct val="108000"/>
              </a:lnSpc>
              <a:buNone/>
            </a:pPr>
            <a:r>
              <a:rPr lang="en-US" sz="2100" b="1" dirty="0">
                <a:solidFill>
                  <a:srgbClr val="FFFFFF"/>
                </a:solidFill>
                <a:latin typeface="Century Schoolbook" pitchFamily="34" charset="0"/>
                <a:ea typeface="Century Schoolbook" pitchFamily="34" charset="-122"/>
                <a:cs typeface="Century Schoolbook" pitchFamily="34" charset="-120"/>
              </a:rPr>
              <a:t>ATRIA es un sistema integral de gestión comercial para pequeñas y medianas empresas de Latinoamérica.</a:t>
            </a:r>
            <a:endParaRPr lang="en-US" sz="2100" dirty="0"/>
          </a:p>
        </p:txBody>
      </p:sp>
      <p:sp>
        <p:nvSpPr>
          <p:cNvPr id="7" name="Text 5"/>
          <p:cNvSpPr/>
          <p:nvPr/>
        </p:nvSpPr>
        <p:spPr>
          <a:xfrm>
            <a:off x="7178040" y="4114800"/>
            <a:ext cx="3916375" cy="1280160"/>
          </a:xfrm>
          <a:prstGeom prst="rect">
            <a:avLst/>
          </a:prstGeom>
          <a:noFill/>
          <a:ln/>
        </p:spPr>
        <p:txBody>
          <a:bodyPr wrap="square" lIns="0" tIns="0" rIns="0" bIns="0" rtlCol="0" anchor="t"/>
          <a:lstStyle/>
          <a:p>
            <a:pPr algn="l" indent="0" marL="0">
              <a:lnSpc>
                <a:spcPct val="105000"/>
              </a:lnSpc>
              <a:buNone/>
            </a:pPr>
            <a:r>
              <a:rPr lang="en-US" sz="1400" i="1" dirty="0">
                <a:solidFill>
                  <a:srgbClr val="D9CEEF"/>
                </a:solidFill>
                <a:latin typeface="Calibri" pitchFamily="34" charset="0"/>
                <a:ea typeface="Calibri" pitchFamily="34" charset="-122"/>
                <a:cs typeface="Calibri" pitchFamily="34" charset="-120"/>
              </a:rPr>
              <a:t>Une el punto de venta, el inventario, la contabilidad y —para restaurantes— el control de pedidos y menú en una sola plataforma.</a:t>
            </a:r>
            <a:endParaRPr lang="en-US" sz="1400" dirty="0"/>
          </a:p>
        </p:txBody>
      </p:sp>
      <p:sp>
        <p:nvSpPr>
          <p:cNvPr id="8" name="Text 6"/>
          <p:cNvSpPr/>
          <p:nvPr/>
        </p:nvSpPr>
        <p:spPr>
          <a:xfrm>
            <a:off x="640080" y="4297680"/>
            <a:ext cx="5760720" cy="1280160"/>
          </a:xfrm>
          <a:prstGeom prst="rect">
            <a:avLst/>
          </a:prstGeom>
          <a:noFill/>
          <a:ln/>
        </p:spPr>
        <p:txBody>
          <a:bodyPr wrap="square" lIns="0" tIns="0" rIns="0" bIns="0" rtlCol="0" anchor="t"/>
          <a:lstStyle/>
          <a:p>
            <a:pPr algn="l" indent="0" marL="0">
              <a:buNone/>
            </a:pPr>
            <a:r>
              <a:rPr lang="en-US" sz="1300" i="1" dirty="0">
                <a:solidFill>
                  <a:srgbClr val="8B8397"/>
                </a:solidFill>
                <a:latin typeface="Calibri" pitchFamily="34" charset="0"/>
                <a:ea typeface="Calibri" pitchFamily="34" charset="-122"/>
                <a:cs typeface="Calibri" pitchFamily="34" charset="-120"/>
              </a:rPr>
              <a:t>Entender qué es ATRIA, su propósito y el rol del asesor comercial.</a:t>
            </a:r>
            <a:endParaRPr lang="en-US" sz="1300" dirty="0"/>
          </a:p>
        </p:txBody>
      </p:sp>
      <p:sp>
        <p:nvSpPr>
          <p:cNvPr id="9" name="Text 7"/>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01</a:t>
            </a:r>
            <a:endParaRPr lang="en-US" sz="900" dirty="0"/>
          </a:p>
        </p:txBody>
      </p:sp>
      <p:sp>
        <p:nvSpPr>
          <p:cNvPr id="10" name="Text 8"/>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15 min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LA IDEA QUE LO CAMBIA TODO</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200" b="1" dirty="0">
                <a:solidFill>
                  <a:srgbClr val="1B1526"/>
                </a:solidFill>
                <a:latin typeface="Century Schoolbook" pitchFamily="34" charset="0"/>
                <a:ea typeface="Century Schoolbook" pitchFamily="34" charset="-122"/>
                <a:cs typeface="Century Schoolbook" pitchFamily="34" charset="-120"/>
              </a:rPr>
              <a:t>Cada evento genera su contabilidad, solo</a:t>
            </a:r>
            <a:endParaRPr lang="en-US" sz="3200" dirty="0"/>
          </a:p>
        </p:txBody>
      </p:sp>
      <p:sp>
        <p:nvSpPr>
          <p:cNvPr id="4" name="Shape 2"/>
          <p:cNvSpPr/>
          <p:nvPr/>
        </p:nvSpPr>
        <p:spPr>
          <a:xfrm>
            <a:off x="640080" y="1737360"/>
            <a:ext cx="10911535" cy="1051560"/>
          </a:xfrm>
          <a:prstGeom prst="roundRect">
            <a:avLst>
              <a:gd name="adj" fmla="val 10435"/>
            </a:avLst>
          </a:prstGeom>
          <a:solidFill>
            <a:srgbClr val="F5F2FA"/>
          </a:solidFill>
          <a:ln w="15875">
            <a:solidFill>
              <a:srgbClr val="A18BCF"/>
            </a:solidFill>
            <a:prstDash val="solid"/>
          </a:ln>
        </p:spPr>
      </p:sp>
      <p:sp>
        <p:nvSpPr>
          <p:cNvPr id="5" name="Text 3"/>
          <p:cNvSpPr/>
          <p:nvPr/>
        </p:nvSpPr>
        <p:spPr>
          <a:xfrm>
            <a:off x="960120" y="1737360"/>
            <a:ext cx="10271455" cy="1051560"/>
          </a:xfrm>
          <a:prstGeom prst="rect">
            <a:avLst/>
          </a:prstGeom>
          <a:noFill/>
          <a:ln/>
        </p:spPr>
        <p:txBody>
          <a:bodyPr wrap="square" lIns="0" tIns="0" rIns="0" bIns="0" rtlCol="0" anchor="ctr"/>
          <a:lstStyle/>
          <a:p>
            <a:pPr algn="l" indent="0" marL="0">
              <a:lnSpc>
                <a:spcPct val="105000"/>
              </a:lnSpc>
              <a:buNone/>
            </a:pPr>
            <a:r>
              <a:rPr lang="en-US" sz="1700" b="1" dirty="0">
                <a:solidFill>
                  <a:srgbClr val="2B1F3A"/>
                </a:solidFill>
                <a:latin typeface="Century Schoolbook" pitchFamily="34" charset="0"/>
                <a:ea typeface="Century Schoolbook" pitchFamily="34" charset="-122"/>
                <a:cs typeface="Century Schoolbook" pitchFamily="34" charset="-120"/>
              </a:rPr>
              <a:t>Cada venta, compra o gasto genera automáticamente su asiento contable. El dueño deja de cuadrar todo a mano.</a:t>
            </a:r>
            <a:endParaRPr lang="en-US" sz="1700" dirty="0"/>
          </a:p>
        </p:txBody>
      </p:sp>
      <p:sp>
        <p:nvSpPr>
          <p:cNvPr id="6" name="Shape 4"/>
          <p:cNvSpPr/>
          <p:nvPr/>
        </p:nvSpPr>
        <p:spPr>
          <a:xfrm>
            <a:off x="640080" y="3246120"/>
            <a:ext cx="3301898" cy="2377440"/>
          </a:xfrm>
          <a:prstGeom prst="roundRect">
            <a:avLst>
              <a:gd name="adj" fmla="val 4615"/>
            </a:avLst>
          </a:prstGeom>
          <a:solidFill>
            <a:srgbClr val="2B1F3A"/>
          </a:solidFill>
          <a:ln/>
          <a:effectLst>
            <a:outerShdw sx="100000" sy="100000" kx="0" ky="0" algn="bl" rotWithShape="0" blurRad="101600" dist="38100" dir="5400000">
              <a:srgbClr val="1B1526">
                <a:alpha val="22000"/>
              </a:srgbClr>
            </a:outerShdw>
          </a:effectLst>
        </p:spPr>
      </p:sp>
      <p:sp>
        <p:nvSpPr>
          <p:cNvPr id="7" name="Shape 5"/>
          <p:cNvSpPr/>
          <p:nvPr/>
        </p:nvSpPr>
        <p:spPr>
          <a:xfrm>
            <a:off x="1906981" y="3520440"/>
            <a:ext cx="768096" cy="768096"/>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8" name="Text 6"/>
          <p:cNvSpPr/>
          <p:nvPr/>
        </p:nvSpPr>
        <p:spPr>
          <a:xfrm>
            <a:off x="1906981" y="3520440"/>
            <a:ext cx="768096" cy="768096"/>
          </a:xfrm>
          <a:prstGeom prst="rect">
            <a:avLst/>
          </a:prstGeom>
          <a:noFill/>
          <a:ln/>
        </p:spPr>
        <p:txBody>
          <a:bodyPr wrap="square" lIns="0" tIns="0" rIns="0" bIns="0" rtlCol="0" anchor="ctr"/>
          <a:lstStyle/>
          <a:p>
            <a:pPr algn="ctr" indent="0" marL="0">
              <a:buNone/>
            </a:pPr>
            <a:r>
              <a:rPr lang="en-US" sz="2600" b="1" dirty="0">
                <a:solidFill>
                  <a:srgbClr val="2B1F3A"/>
                </a:solidFill>
                <a:latin typeface="Century Schoolbook" pitchFamily="34" charset="0"/>
                <a:ea typeface="Century Schoolbook" pitchFamily="34" charset="-122"/>
                <a:cs typeface="Century Schoolbook" pitchFamily="34" charset="-120"/>
              </a:rPr>
              <a:t>1</a:t>
            </a:r>
            <a:endParaRPr lang="en-US" sz="2600" dirty="0"/>
          </a:p>
        </p:txBody>
      </p:sp>
      <p:sp>
        <p:nvSpPr>
          <p:cNvPr id="9" name="Text 7"/>
          <p:cNvSpPr/>
          <p:nvPr/>
        </p:nvSpPr>
        <p:spPr>
          <a:xfrm>
            <a:off x="777240" y="4389120"/>
            <a:ext cx="3027578"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entury Schoolbook" pitchFamily="34" charset="0"/>
                <a:ea typeface="Century Schoolbook" pitchFamily="34" charset="-122"/>
                <a:cs typeface="Century Schoolbook" pitchFamily="34" charset="-120"/>
              </a:rPr>
              <a:t>Ocurre la operación</a:t>
            </a:r>
            <a:endParaRPr lang="en-US" sz="1650" dirty="0"/>
          </a:p>
        </p:txBody>
      </p:sp>
      <p:sp>
        <p:nvSpPr>
          <p:cNvPr id="10" name="Text 8"/>
          <p:cNvSpPr/>
          <p:nvPr/>
        </p:nvSpPr>
        <p:spPr>
          <a:xfrm>
            <a:off x="822960" y="4892040"/>
            <a:ext cx="2936138" cy="640080"/>
          </a:xfrm>
          <a:prstGeom prst="rect">
            <a:avLst/>
          </a:prstGeom>
          <a:noFill/>
          <a:ln/>
        </p:spPr>
        <p:txBody>
          <a:bodyPr wrap="square" lIns="0" tIns="0" rIns="0" bIns="0" rtlCol="0" anchor="t"/>
          <a:lstStyle/>
          <a:p>
            <a:pPr algn="ctr" indent="0" marL="0">
              <a:buNone/>
            </a:pPr>
            <a:r>
              <a:rPr lang="en-US" sz="1200" dirty="0">
                <a:solidFill>
                  <a:srgbClr val="D9CEEF"/>
                </a:solidFill>
                <a:latin typeface="Calibri" pitchFamily="34" charset="0"/>
                <a:ea typeface="Calibri" pitchFamily="34" charset="-122"/>
                <a:cs typeface="Calibri" pitchFamily="34" charset="-120"/>
              </a:rPr>
              <a:t>Una venta, una compra, un gasto</a:t>
            </a:r>
            <a:endParaRPr lang="en-US" sz="1200" dirty="0"/>
          </a:p>
        </p:txBody>
      </p:sp>
      <p:sp>
        <p:nvSpPr>
          <p:cNvPr id="11" name="Text 9"/>
          <p:cNvSpPr/>
          <p:nvPr/>
        </p:nvSpPr>
        <p:spPr>
          <a:xfrm>
            <a:off x="3896258" y="3246120"/>
            <a:ext cx="594360" cy="2377440"/>
          </a:xfrm>
          <a:prstGeom prst="rect">
            <a:avLst/>
          </a:prstGeom>
          <a:noFill/>
          <a:ln/>
        </p:spPr>
        <p:txBody>
          <a:bodyPr wrap="square" lIns="0" tIns="0" rIns="0" bIns="0" rtlCol="0" anchor="ctr"/>
          <a:lstStyle/>
          <a:p>
            <a:pPr algn="ctr" indent="0" marL="0">
              <a:buNone/>
            </a:pPr>
            <a:r>
              <a:rPr lang="en-US" sz="2600" b="1" dirty="0">
                <a:solidFill>
                  <a:srgbClr val="A18BCF"/>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4444898" y="3246120"/>
            <a:ext cx="3301898" cy="2377440"/>
          </a:xfrm>
          <a:prstGeom prst="roundRect">
            <a:avLst>
              <a:gd name="adj" fmla="val 4615"/>
            </a:avLst>
          </a:prstGeom>
          <a:solidFill>
            <a:srgbClr val="2B1F3A"/>
          </a:solidFill>
          <a:ln/>
          <a:effectLst>
            <a:outerShdw sx="100000" sy="100000" kx="0" ky="0" algn="bl" rotWithShape="0" blurRad="101600" dist="38100" dir="5400000">
              <a:srgbClr val="1B1526">
                <a:alpha val="22000"/>
              </a:srgbClr>
            </a:outerShdw>
          </a:effectLst>
        </p:spPr>
      </p:sp>
      <p:sp>
        <p:nvSpPr>
          <p:cNvPr id="13" name="Shape 11"/>
          <p:cNvSpPr/>
          <p:nvPr/>
        </p:nvSpPr>
        <p:spPr>
          <a:xfrm>
            <a:off x="5711800" y="3520440"/>
            <a:ext cx="768096" cy="768096"/>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4" name="Text 12"/>
          <p:cNvSpPr/>
          <p:nvPr/>
        </p:nvSpPr>
        <p:spPr>
          <a:xfrm>
            <a:off x="5711800" y="3520440"/>
            <a:ext cx="768096" cy="768096"/>
          </a:xfrm>
          <a:prstGeom prst="rect">
            <a:avLst/>
          </a:prstGeom>
          <a:noFill/>
          <a:ln/>
        </p:spPr>
        <p:txBody>
          <a:bodyPr wrap="square" lIns="0" tIns="0" rIns="0" bIns="0" rtlCol="0" anchor="ctr"/>
          <a:lstStyle/>
          <a:p>
            <a:pPr algn="ctr" indent="0" marL="0">
              <a:buNone/>
            </a:pPr>
            <a:r>
              <a:rPr lang="en-US" sz="2600" b="1" dirty="0">
                <a:solidFill>
                  <a:srgbClr val="2B1F3A"/>
                </a:solidFill>
                <a:latin typeface="Century Schoolbook" pitchFamily="34" charset="0"/>
                <a:ea typeface="Century Schoolbook" pitchFamily="34" charset="-122"/>
                <a:cs typeface="Century Schoolbook" pitchFamily="34" charset="-120"/>
              </a:rPr>
              <a:t>2</a:t>
            </a:r>
            <a:endParaRPr lang="en-US" sz="2600" dirty="0"/>
          </a:p>
        </p:txBody>
      </p:sp>
      <p:sp>
        <p:nvSpPr>
          <p:cNvPr id="15" name="Text 13"/>
          <p:cNvSpPr/>
          <p:nvPr/>
        </p:nvSpPr>
        <p:spPr>
          <a:xfrm>
            <a:off x="4582058" y="4389120"/>
            <a:ext cx="3027578"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entury Schoolbook" pitchFamily="34" charset="0"/>
                <a:ea typeface="Century Schoolbook" pitchFamily="34" charset="-122"/>
                <a:cs typeface="Century Schoolbook" pitchFamily="34" charset="-120"/>
              </a:rPr>
              <a:t>ATRIA la registra</a:t>
            </a:r>
            <a:endParaRPr lang="en-US" sz="1650" dirty="0"/>
          </a:p>
        </p:txBody>
      </p:sp>
      <p:sp>
        <p:nvSpPr>
          <p:cNvPr id="16" name="Text 14"/>
          <p:cNvSpPr/>
          <p:nvPr/>
        </p:nvSpPr>
        <p:spPr>
          <a:xfrm>
            <a:off x="4627778" y="4892040"/>
            <a:ext cx="2936138" cy="640080"/>
          </a:xfrm>
          <a:prstGeom prst="rect">
            <a:avLst/>
          </a:prstGeom>
          <a:noFill/>
          <a:ln/>
        </p:spPr>
        <p:txBody>
          <a:bodyPr wrap="square" lIns="0" tIns="0" rIns="0" bIns="0" rtlCol="0" anchor="t"/>
          <a:lstStyle/>
          <a:p>
            <a:pPr algn="ctr" indent="0" marL="0">
              <a:buNone/>
            </a:pPr>
            <a:r>
              <a:rPr lang="en-US" sz="1200" dirty="0">
                <a:solidFill>
                  <a:srgbClr val="D9CEEF"/>
                </a:solidFill>
                <a:latin typeface="Calibri" pitchFamily="34" charset="0"/>
                <a:ea typeface="Calibri" pitchFamily="34" charset="-122"/>
                <a:cs typeface="Calibri" pitchFamily="34" charset="-120"/>
              </a:rPr>
              <a:t>En caja, inventario y libros</a:t>
            </a:r>
            <a:endParaRPr lang="en-US" sz="1200" dirty="0"/>
          </a:p>
        </p:txBody>
      </p:sp>
      <p:sp>
        <p:nvSpPr>
          <p:cNvPr id="17" name="Text 15"/>
          <p:cNvSpPr/>
          <p:nvPr/>
        </p:nvSpPr>
        <p:spPr>
          <a:xfrm>
            <a:off x="7701077" y="3246120"/>
            <a:ext cx="594360" cy="2377440"/>
          </a:xfrm>
          <a:prstGeom prst="rect">
            <a:avLst/>
          </a:prstGeom>
          <a:noFill/>
          <a:ln/>
        </p:spPr>
        <p:txBody>
          <a:bodyPr wrap="square" lIns="0" tIns="0" rIns="0" bIns="0" rtlCol="0" anchor="ctr"/>
          <a:lstStyle/>
          <a:p>
            <a:pPr algn="ctr" indent="0" marL="0">
              <a:buNone/>
            </a:pPr>
            <a:r>
              <a:rPr lang="en-US" sz="2600" b="1" dirty="0">
                <a:solidFill>
                  <a:srgbClr val="A18BCF"/>
                </a:solidFill>
                <a:latin typeface="Calibri" pitchFamily="34" charset="0"/>
                <a:ea typeface="Calibri" pitchFamily="34" charset="-122"/>
                <a:cs typeface="Calibri" pitchFamily="34" charset="-120"/>
              </a:rPr>
              <a:t>→</a:t>
            </a:r>
            <a:endParaRPr lang="en-US" sz="2600" dirty="0"/>
          </a:p>
        </p:txBody>
      </p:sp>
      <p:sp>
        <p:nvSpPr>
          <p:cNvPr id="18" name="Shape 16"/>
          <p:cNvSpPr/>
          <p:nvPr/>
        </p:nvSpPr>
        <p:spPr>
          <a:xfrm>
            <a:off x="8249717" y="3246120"/>
            <a:ext cx="3301898" cy="2377440"/>
          </a:xfrm>
          <a:prstGeom prst="roundRect">
            <a:avLst>
              <a:gd name="adj" fmla="val 4615"/>
            </a:avLst>
          </a:prstGeom>
          <a:solidFill>
            <a:srgbClr val="2B1F3A"/>
          </a:solidFill>
          <a:ln/>
          <a:effectLst>
            <a:outerShdw sx="100000" sy="100000" kx="0" ky="0" algn="bl" rotWithShape="0" blurRad="101600" dist="38100" dir="5400000">
              <a:srgbClr val="1B1526">
                <a:alpha val="22000"/>
              </a:srgbClr>
            </a:outerShdw>
          </a:effectLst>
        </p:spPr>
      </p:sp>
      <p:sp>
        <p:nvSpPr>
          <p:cNvPr id="19" name="Shape 17"/>
          <p:cNvSpPr/>
          <p:nvPr/>
        </p:nvSpPr>
        <p:spPr>
          <a:xfrm>
            <a:off x="9516618" y="3520440"/>
            <a:ext cx="768096" cy="768096"/>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20" name="Text 18"/>
          <p:cNvSpPr/>
          <p:nvPr/>
        </p:nvSpPr>
        <p:spPr>
          <a:xfrm>
            <a:off x="9516618" y="3520440"/>
            <a:ext cx="768096" cy="768096"/>
          </a:xfrm>
          <a:prstGeom prst="rect">
            <a:avLst/>
          </a:prstGeom>
          <a:noFill/>
          <a:ln/>
        </p:spPr>
        <p:txBody>
          <a:bodyPr wrap="square" lIns="0" tIns="0" rIns="0" bIns="0" rtlCol="0" anchor="ctr"/>
          <a:lstStyle/>
          <a:p>
            <a:pPr algn="ctr" indent="0" marL="0">
              <a:buNone/>
            </a:pPr>
            <a:r>
              <a:rPr lang="en-US" sz="2600" b="1" dirty="0">
                <a:solidFill>
                  <a:srgbClr val="2B1F3A"/>
                </a:solidFill>
                <a:latin typeface="Century Schoolbook" pitchFamily="34" charset="0"/>
                <a:ea typeface="Century Schoolbook" pitchFamily="34" charset="-122"/>
                <a:cs typeface="Century Schoolbook" pitchFamily="34" charset="-120"/>
              </a:rPr>
              <a:t>3</a:t>
            </a:r>
            <a:endParaRPr lang="en-US" sz="2600" dirty="0"/>
          </a:p>
        </p:txBody>
      </p:sp>
      <p:sp>
        <p:nvSpPr>
          <p:cNvPr id="21" name="Text 19"/>
          <p:cNvSpPr/>
          <p:nvPr/>
        </p:nvSpPr>
        <p:spPr>
          <a:xfrm>
            <a:off x="8386877" y="4389120"/>
            <a:ext cx="3027578" cy="502920"/>
          </a:xfrm>
          <a:prstGeom prst="rect">
            <a:avLst/>
          </a:prstGeom>
          <a:noFill/>
          <a:ln/>
        </p:spPr>
        <p:txBody>
          <a:bodyPr wrap="square" lIns="0" tIns="0" rIns="0" bIns="0" rtlCol="0" anchor="ctr"/>
          <a:lstStyle/>
          <a:p>
            <a:pPr algn="ctr" indent="0" marL="0">
              <a:buNone/>
            </a:pPr>
            <a:r>
              <a:rPr lang="en-US" sz="1650" b="1" dirty="0">
                <a:solidFill>
                  <a:srgbClr val="FFFFFF"/>
                </a:solidFill>
                <a:latin typeface="Century Schoolbook" pitchFamily="34" charset="0"/>
                <a:ea typeface="Century Schoolbook" pitchFamily="34" charset="-122"/>
                <a:cs typeface="Century Schoolbook" pitchFamily="34" charset="-120"/>
              </a:rPr>
              <a:t>Sale la contabilidad</a:t>
            </a:r>
            <a:endParaRPr lang="en-US" sz="1650" dirty="0"/>
          </a:p>
        </p:txBody>
      </p:sp>
      <p:sp>
        <p:nvSpPr>
          <p:cNvPr id="22" name="Text 20"/>
          <p:cNvSpPr/>
          <p:nvPr/>
        </p:nvSpPr>
        <p:spPr>
          <a:xfrm>
            <a:off x="8432597" y="4892040"/>
            <a:ext cx="2936138" cy="640080"/>
          </a:xfrm>
          <a:prstGeom prst="rect">
            <a:avLst/>
          </a:prstGeom>
          <a:noFill/>
          <a:ln/>
        </p:spPr>
        <p:txBody>
          <a:bodyPr wrap="square" lIns="0" tIns="0" rIns="0" bIns="0" rtlCol="0" anchor="t"/>
          <a:lstStyle/>
          <a:p>
            <a:pPr algn="ctr" indent="0" marL="0">
              <a:buNone/>
            </a:pPr>
            <a:r>
              <a:rPr lang="en-US" sz="1200" dirty="0">
                <a:solidFill>
                  <a:srgbClr val="D9CEEF"/>
                </a:solidFill>
                <a:latin typeface="Calibri" pitchFamily="34" charset="0"/>
                <a:ea typeface="Calibri" pitchFamily="34" charset="-122"/>
                <a:cs typeface="Calibri" pitchFamily="34" charset="-120"/>
              </a:rPr>
              <a:t>Sin volver a digitar nada</a:t>
            </a:r>
            <a:endParaRPr lang="en-US" sz="1200" dirty="0"/>
          </a:p>
        </p:txBody>
      </p:sp>
      <p:sp>
        <p:nvSpPr>
          <p:cNvPr id="23" name="Text 21"/>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01</a:t>
            </a:r>
            <a:endParaRPr lang="en-US" sz="900" dirty="0"/>
          </a:p>
        </p:txBody>
      </p:sp>
      <p:sp>
        <p:nvSpPr>
          <p:cNvPr id="24" name="Text 22"/>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15 min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NUESTRO PROPÓSITO</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200" b="1" dirty="0">
                <a:solidFill>
                  <a:srgbClr val="1B1526"/>
                </a:solidFill>
                <a:latin typeface="Century Schoolbook" pitchFamily="34" charset="0"/>
                <a:ea typeface="Century Schoolbook" pitchFamily="34" charset="-122"/>
                <a:cs typeface="Century Schoolbook" pitchFamily="34" charset="-120"/>
              </a:rPr>
              <a:t>Misión, visión y valores</a:t>
            </a:r>
            <a:endParaRPr lang="en-US" sz="3200" dirty="0"/>
          </a:p>
        </p:txBody>
      </p:sp>
      <p:sp>
        <p:nvSpPr>
          <p:cNvPr id="4" name="Shape 2"/>
          <p:cNvSpPr/>
          <p:nvPr/>
        </p:nvSpPr>
        <p:spPr>
          <a:xfrm>
            <a:off x="640080" y="1874520"/>
            <a:ext cx="3393338" cy="4023360"/>
          </a:xfrm>
          <a:prstGeom prst="roundRect">
            <a:avLst>
              <a:gd name="adj" fmla="val 323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5" name="Shape 3"/>
          <p:cNvSpPr/>
          <p:nvPr/>
        </p:nvSpPr>
        <p:spPr>
          <a:xfrm>
            <a:off x="640080" y="1874520"/>
            <a:ext cx="3393338" cy="1005840"/>
          </a:xfrm>
          <a:prstGeom prst="roundRect">
            <a:avLst>
              <a:gd name="adj" fmla="val 10909"/>
            </a:avLst>
          </a:prstGeom>
          <a:solidFill>
            <a:srgbClr val="2B1F3A"/>
          </a:solidFill>
          <a:ln/>
        </p:spPr>
      </p:sp>
      <p:sp>
        <p:nvSpPr>
          <p:cNvPr id="6" name="Shape 4"/>
          <p:cNvSpPr/>
          <p:nvPr/>
        </p:nvSpPr>
        <p:spPr>
          <a:xfrm>
            <a:off x="640080" y="2377440"/>
            <a:ext cx="3393338" cy="502920"/>
          </a:xfrm>
          <a:prstGeom prst="rect">
            <a:avLst/>
          </a:prstGeom>
          <a:solidFill>
            <a:srgbClr val="2B1F3A"/>
          </a:solidFill>
          <a:ln/>
        </p:spPr>
      </p:sp>
      <p:sp>
        <p:nvSpPr>
          <p:cNvPr id="7" name="Text 5"/>
          <p:cNvSpPr/>
          <p:nvPr/>
        </p:nvSpPr>
        <p:spPr>
          <a:xfrm>
            <a:off x="640080" y="1874520"/>
            <a:ext cx="3393338"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Misión</a:t>
            </a:r>
            <a:endParaRPr lang="en-US" sz="2200" dirty="0"/>
          </a:p>
        </p:txBody>
      </p:sp>
      <p:sp>
        <p:nvSpPr>
          <p:cNvPr id="8" name="Text 6"/>
          <p:cNvSpPr/>
          <p:nvPr/>
        </p:nvSpPr>
        <p:spPr>
          <a:xfrm>
            <a:off x="914400" y="3108960"/>
            <a:ext cx="2844698" cy="1371600"/>
          </a:xfrm>
          <a:prstGeom prst="rect">
            <a:avLst/>
          </a:prstGeom>
          <a:noFill/>
          <a:ln/>
        </p:spPr>
        <p:txBody>
          <a:bodyPr wrap="square" lIns="0" tIns="0" rIns="0" bIns="0" rtlCol="0" anchor="t"/>
          <a:lstStyle/>
          <a:p>
            <a:pPr algn="l" indent="0" marL="0">
              <a:lnSpc>
                <a:spcPct val="105000"/>
              </a:lnSpc>
              <a:buNone/>
            </a:pPr>
            <a:r>
              <a:rPr lang="en-US" sz="1550" b="1" dirty="0">
                <a:solidFill>
                  <a:srgbClr val="1B1526"/>
                </a:solidFill>
                <a:latin typeface="Century Schoolbook" pitchFamily="34" charset="0"/>
                <a:ea typeface="Century Schoolbook" pitchFamily="34" charset="-122"/>
                <a:cs typeface="Century Schoolbook" pitchFamily="34" charset="-120"/>
              </a:rPr>
              <a:t>Dar control y claridad a cada comercio.</a:t>
            </a:r>
            <a:endParaRPr lang="en-US" sz="1550" dirty="0"/>
          </a:p>
        </p:txBody>
      </p:sp>
      <p:sp>
        <p:nvSpPr>
          <p:cNvPr id="9" name="Text 7"/>
          <p:cNvSpPr/>
          <p:nvPr/>
        </p:nvSpPr>
        <p:spPr>
          <a:xfrm>
            <a:off x="914400" y="4389120"/>
            <a:ext cx="2844698" cy="1417320"/>
          </a:xfrm>
          <a:prstGeom prst="rect">
            <a:avLst/>
          </a:prstGeom>
          <a:noFill/>
          <a:ln/>
        </p:spPr>
        <p:txBody>
          <a:bodyPr wrap="square" lIns="0" tIns="0" rIns="0" bIns="0" rtlCol="0" anchor="t"/>
          <a:lstStyle/>
          <a:p>
            <a:pPr algn="l" indent="0" marL="0">
              <a:lnSpc>
                <a:spcPct val="105000"/>
              </a:lnSpc>
              <a:buNone/>
            </a:pPr>
            <a:r>
              <a:rPr lang="en-US" sz="1250" dirty="0">
                <a:solidFill>
                  <a:srgbClr val="3A3348"/>
                </a:solidFill>
                <a:latin typeface="Calibri" pitchFamily="34" charset="0"/>
                <a:ea typeface="Calibri" pitchFamily="34" charset="-122"/>
                <a:cs typeface="Calibri" pitchFamily="34" charset="-120"/>
              </a:rPr>
              <a:t>Ayudamos a que negocios y restaurantes dejen atrás el desorden de Excel, cuadernos y sistemas desconectados.</a:t>
            </a:r>
            <a:endParaRPr lang="en-US" sz="1250" dirty="0"/>
          </a:p>
        </p:txBody>
      </p:sp>
      <p:sp>
        <p:nvSpPr>
          <p:cNvPr id="10" name="Shape 8"/>
          <p:cNvSpPr/>
          <p:nvPr/>
        </p:nvSpPr>
        <p:spPr>
          <a:xfrm>
            <a:off x="4399178" y="1874520"/>
            <a:ext cx="3393338" cy="4023360"/>
          </a:xfrm>
          <a:prstGeom prst="roundRect">
            <a:avLst>
              <a:gd name="adj" fmla="val 323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11" name="Shape 9"/>
          <p:cNvSpPr/>
          <p:nvPr/>
        </p:nvSpPr>
        <p:spPr>
          <a:xfrm>
            <a:off x="4399178" y="1874520"/>
            <a:ext cx="3393338" cy="1005840"/>
          </a:xfrm>
          <a:prstGeom prst="roundRect">
            <a:avLst>
              <a:gd name="adj" fmla="val 10909"/>
            </a:avLst>
          </a:prstGeom>
          <a:solidFill>
            <a:srgbClr val="5C4B75"/>
          </a:solidFill>
          <a:ln/>
        </p:spPr>
      </p:sp>
      <p:sp>
        <p:nvSpPr>
          <p:cNvPr id="12" name="Shape 10"/>
          <p:cNvSpPr/>
          <p:nvPr/>
        </p:nvSpPr>
        <p:spPr>
          <a:xfrm>
            <a:off x="4399178" y="2377440"/>
            <a:ext cx="3393338" cy="502920"/>
          </a:xfrm>
          <a:prstGeom prst="rect">
            <a:avLst/>
          </a:prstGeom>
          <a:solidFill>
            <a:srgbClr val="5C4B75"/>
          </a:solidFill>
          <a:ln/>
        </p:spPr>
      </p:sp>
      <p:sp>
        <p:nvSpPr>
          <p:cNvPr id="13" name="Text 11"/>
          <p:cNvSpPr/>
          <p:nvPr/>
        </p:nvSpPr>
        <p:spPr>
          <a:xfrm>
            <a:off x="4399178" y="1874520"/>
            <a:ext cx="3393338"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Visión</a:t>
            </a:r>
            <a:endParaRPr lang="en-US" sz="2200" dirty="0"/>
          </a:p>
        </p:txBody>
      </p:sp>
      <p:sp>
        <p:nvSpPr>
          <p:cNvPr id="14" name="Text 12"/>
          <p:cNvSpPr/>
          <p:nvPr/>
        </p:nvSpPr>
        <p:spPr>
          <a:xfrm>
            <a:off x="4673498" y="3108960"/>
            <a:ext cx="2844698" cy="1371600"/>
          </a:xfrm>
          <a:prstGeom prst="rect">
            <a:avLst/>
          </a:prstGeom>
          <a:noFill/>
          <a:ln/>
        </p:spPr>
        <p:txBody>
          <a:bodyPr wrap="square" lIns="0" tIns="0" rIns="0" bIns="0" rtlCol="0" anchor="t"/>
          <a:lstStyle/>
          <a:p>
            <a:pPr algn="l" indent="0" marL="0">
              <a:lnSpc>
                <a:spcPct val="105000"/>
              </a:lnSpc>
              <a:buNone/>
            </a:pPr>
            <a:r>
              <a:rPr lang="en-US" sz="1550" b="1" dirty="0">
                <a:solidFill>
                  <a:srgbClr val="1B1526"/>
                </a:solidFill>
                <a:latin typeface="Century Schoolbook" pitchFamily="34" charset="0"/>
                <a:ea typeface="Century Schoolbook" pitchFamily="34" charset="-122"/>
                <a:cs typeface="Century Schoolbook" pitchFamily="34" charset="-120"/>
              </a:rPr>
              <a:t>Ser el sistema operativo del comercio en Latinoamérica.</a:t>
            </a:r>
            <a:endParaRPr lang="en-US" sz="1550" dirty="0"/>
          </a:p>
        </p:txBody>
      </p:sp>
      <p:sp>
        <p:nvSpPr>
          <p:cNvPr id="15" name="Text 13"/>
          <p:cNvSpPr/>
          <p:nvPr/>
        </p:nvSpPr>
        <p:spPr>
          <a:xfrm>
            <a:off x="4673498" y="4389120"/>
            <a:ext cx="2844698" cy="1417320"/>
          </a:xfrm>
          <a:prstGeom prst="rect">
            <a:avLst/>
          </a:prstGeom>
          <a:noFill/>
          <a:ln/>
        </p:spPr>
        <p:txBody>
          <a:bodyPr wrap="square" lIns="0" tIns="0" rIns="0" bIns="0" rtlCol="0" anchor="t"/>
          <a:lstStyle/>
          <a:p>
            <a:pPr algn="l" indent="0" marL="0">
              <a:lnSpc>
                <a:spcPct val="105000"/>
              </a:lnSpc>
              <a:buNone/>
            </a:pPr>
            <a:r>
              <a:rPr lang="en-US" sz="1250" dirty="0">
                <a:solidFill>
                  <a:srgbClr val="3A3348"/>
                </a:solidFill>
                <a:latin typeface="Calibri" pitchFamily="34" charset="0"/>
                <a:ea typeface="Calibri" pitchFamily="34" charset="-122"/>
                <a:cs typeface="Calibri" pitchFamily="34" charset="-120"/>
              </a:rPr>
              <a:t>Que administrar un negocio deje de ser un problema y pase a ser algo simple y natural.</a:t>
            </a:r>
            <a:endParaRPr lang="en-US" sz="1250" dirty="0"/>
          </a:p>
        </p:txBody>
      </p:sp>
      <p:sp>
        <p:nvSpPr>
          <p:cNvPr id="16" name="Shape 14"/>
          <p:cNvSpPr/>
          <p:nvPr/>
        </p:nvSpPr>
        <p:spPr>
          <a:xfrm>
            <a:off x="8158277" y="1874520"/>
            <a:ext cx="3393338" cy="4023360"/>
          </a:xfrm>
          <a:prstGeom prst="roundRect">
            <a:avLst>
              <a:gd name="adj" fmla="val 3234"/>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17" name="Shape 15"/>
          <p:cNvSpPr/>
          <p:nvPr/>
        </p:nvSpPr>
        <p:spPr>
          <a:xfrm>
            <a:off x="8158277" y="1874520"/>
            <a:ext cx="3393338" cy="1005840"/>
          </a:xfrm>
          <a:prstGeom prst="roundRect">
            <a:avLst>
              <a:gd name="adj" fmla="val 10909"/>
            </a:avLst>
          </a:prstGeom>
          <a:solidFill>
            <a:srgbClr val="2563EB"/>
          </a:solidFill>
          <a:ln/>
        </p:spPr>
      </p:sp>
      <p:sp>
        <p:nvSpPr>
          <p:cNvPr id="18" name="Shape 16"/>
          <p:cNvSpPr/>
          <p:nvPr/>
        </p:nvSpPr>
        <p:spPr>
          <a:xfrm>
            <a:off x="8158277" y="2377440"/>
            <a:ext cx="3393338" cy="502920"/>
          </a:xfrm>
          <a:prstGeom prst="rect">
            <a:avLst/>
          </a:prstGeom>
          <a:solidFill>
            <a:srgbClr val="2563EB"/>
          </a:solidFill>
          <a:ln/>
        </p:spPr>
      </p:sp>
      <p:sp>
        <p:nvSpPr>
          <p:cNvPr id="19" name="Text 17"/>
          <p:cNvSpPr/>
          <p:nvPr/>
        </p:nvSpPr>
        <p:spPr>
          <a:xfrm>
            <a:off x="8158277" y="1874520"/>
            <a:ext cx="3393338"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entury Schoolbook" pitchFamily="34" charset="0"/>
                <a:ea typeface="Century Schoolbook" pitchFamily="34" charset="-122"/>
                <a:cs typeface="Century Schoolbook" pitchFamily="34" charset="-120"/>
              </a:rPr>
              <a:t>Valores</a:t>
            </a:r>
            <a:endParaRPr lang="en-US" sz="2200" dirty="0"/>
          </a:p>
        </p:txBody>
      </p:sp>
      <p:sp>
        <p:nvSpPr>
          <p:cNvPr id="20" name="Text 18"/>
          <p:cNvSpPr/>
          <p:nvPr/>
        </p:nvSpPr>
        <p:spPr>
          <a:xfrm>
            <a:off x="8432597" y="3108960"/>
            <a:ext cx="2844698" cy="1371600"/>
          </a:xfrm>
          <a:prstGeom prst="rect">
            <a:avLst/>
          </a:prstGeom>
          <a:noFill/>
          <a:ln/>
        </p:spPr>
        <p:txBody>
          <a:bodyPr wrap="square" lIns="0" tIns="0" rIns="0" bIns="0" rtlCol="0" anchor="t"/>
          <a:lstStyle/>
          <a:p>
            <a:pPr algn="l" indent="0" marL="0">
              <a:lnSpc>
                <a:spcPct val="105000"/>
              </a:lnSpc>
              <a:buNone/>
            </a:pPr>
            <a:r>
              <a:rPr lang="en-US" sz="1550" b="1" dirty="0">
                <a:solidFill>
                  <a:srgbClr val="1B1526"/>
                </a:solidFill>
                <a:latin typeface="Century Schoolbook" pitchFamily="34" charset="0"/>
                <a:ea typeface="Century Schoolbook" pitchFamily="34" charset="-122"/>
                <a:cs typeface="Century Schoolbook" pitchFamily="34" charset="-120"/>
              </a:rPr>
              <a:t>Honestidad, simplicidad, cercanía y soporte en español.</a:t>
            </a:r>
            <a:endParaRPr lang="en-US" sz="1550" dirty="0"/>
          </a:p>
        </p:txBody>
      </p:sp>
      <p:sp>
        <p:nvSpPr>
          <p:cNvPr id="21" name="Text 19"/>
          <p:cNvSpPr/>
          <p:nvPr/>
        </p:nvSpPr>
        <p:spPr>
          <a:xfrm>
            <a:off x="8432597" y="4389120"/>
            <a:ext cx="2844698" cy="1417320"/>
          </a:xfrm>
          <a:prstGeom prst="rect">
            <a:avLst/>
          </a:prstGeom>
          <a:noFill/>
          <a:ln/>
        </p:spPr>
        <p:txBody>
          <a:bodyPr wrap="square" lIns="0" tIns="0" rIns="0" bIns="0" rtlCol="0" anchor="t"/>
          <a:lstStyle/>
          <a:p>
            <a:pPr algn="l" indent="0" marL="0">
              <a:lnSpc>
                <a:spcPct val="105000"/>
              </a:lnSpc>
              <a:buNone/>
            </a:pPr>
            <a:r>
              <a:rPr lang="en-US" sz="1250" dirty="0">
                <a:solidFill>
                  <a:srgbClr val="3A3348"/>
                </a:solidFill>
                <a:latin typeface="Calibri" pitchFamily="34" charset="0"/>
                <a:ea typeface="Calibri" pitchFamily="34" charset="-122"/>
                <a:cs typeface="Calibri" pitchFamily="34" charset="-120"/>
              </a:rPr>
              <a:t>Tecnología potente que se siente simple, y un equipo humano que acompaña.</a:t>
            </a:r>
            <a:endParaRPr lang="en-US" sz="1250" dirty="0"/>
          </a:p>
        </p:txBody>
      </p:sp>
      <p:sp>
        <p:nvSpPr>
          <p:cNvPr id="22" name="Text 20"/>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01</a:t>
            </a:r>
            <a:endParaRPr lang="en-US" sz="900" dirty="0"/>
          </a:p>
        </p:txBody>
      </p:sp>
      <p:sp>
        <p:nvSpPr>
          <p:cNvPr id="23" name="Text 21"/>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15 min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8580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TU ROL</a:t>
            </a:r>
            <a:endParaRPr lang="en-US" sz="1150" dirty="0"/>
          </a:p>
        </p:txBody>
      </p:sp>
      <p:sp>
        <p:nvSpPr>
          <p:cNvPr id="3" name="Text 1"/>
          <p:cNvSpPr/>
          <p:nvPr/>
        </p:nvSpPr>
        <p:spPr>
          <a:xfrm>
            <a:off x="640080" y="1051560"/>
            <a:ext cx="5760720" cy="1645920"/>
          </a:xfrm>
          <a:prstGeom prst="rect">
            <a:avLst/>
          </a:prstGeom>
          <a:noFill/>
          <a:ln/>
        </p:spPr>
        <p:txBody>
          <a:bodyPr wrap="square" lIns="0" tIns="0" rIns="0" bIns="0" rtlCol="0" anchor="t"/>
          <a:lstStyle/>
          <a:p>
            <a:pPr algn="l" indent="0" marL="0">
              <a:lnSpc>
                <a:spcPct val="100000"/>
              </a:lnSpc>
              <a:buNone/>
            </a:pPr>
            <a:r>
              <a:rPr lang="en-US" sz="3400" b="1" dirty="0">
                <a:solidFill>
                  <a:srgbClr val="1B1526"/>
                </a:solidFill>
                <a:latin typeface="Century Schoolbook" pitchFamily="34" charset="0"/>
                <a:ea typeface="Century Schoolbook" pitchFamily="34" charset="-122"/>
                <a:cs typeface="Century Schoolbook" pitchFamily="34" charset="-120"/>
              </a:rPr>
              <a:t>El asesor es la cara de ATRIA</a:t>
            </a:r>
            <a:endParaRPr lang="en-US" sz="3400" dirty="0"/>
          </a:p>
        </p:txBody>
      </p:sp>
      <p:sp>
        <p:nvSpPr>
          <p:cNvPr id="4" name="Shape 2"/>
          <p:cNvSpPr/>
          <p:nvPr/>
        </p:nvSpPr>
        <p:spPr>
          <a:xfrm>
            <a:off x="6720840" y="914400"/>
            <a:ext cx="4830775" cy="4663440"/>
          </a:xfrm>
          <a:prstGeom prst="roundRect">
            <a:avLst>
              <a:gd name="adj" fmla="val 2745"/>
            </a:avLst>
          </a:prstGeom>
          <a:solidFill>
            <a:srgbClr val="2B1F3A"/>
          </a:solidFill>
          <a:ln/>
          <a:effectLst>
            <a:outerShdw sx="100000" sy="100000" kx="0" ky="0" algn="bl" rotWithShape="0" blurRad="101600" dist="38100" dir="5400000">
              <a:srgbClr val="1B1526">
                <a:alpha val="25000"/>
              </a:srgbClr>
            </a:outerShdw>
          </a:effectLst>
        </p:spPr>
      </p:sp>
      <p:sp>
        <p:nvSpPr>
          <p:cNvPr id="5" name="Text 3"/>
          <p:cNvSpPr/>
          <p:nvPr/>
        </p:nvSpPr>
        <p:spPr>
          <a:xfrm>
            <a:off x="6949440" y="914400"/>
            <a:ext cx="1371600" cy="1280160"/>
          </a:xfrm>
          <a:prstGeom prst="rect">
            <a:avLst/>
          </a:prstGeom>
          <a:noFill/>
          <a:ln/>
        </p:spPr>
        <p:txBody>
          <a:bodyPr wrap="square" lIns="0" tIns="0" rIns="0" bIns="0" rtlCol="0" anchor="t"/>
          <a:lstStyle/>
          <a:p>
            <a:pPr algn="l" indent="0" marL="0">
              <a:buNone/>
            </a:pPr>
            <a:r>
              <a:rPr lang="en-US" sz="9000" b="1" dirty="0">
                <a:solidFill>
                  <a:srgbClr val="A18BCF"/>
                </a:solidFill>
                <a:latin typeface="Century Schoolbook" pitchFamily="34" charset="0"/>
                <a:ea typeface="Century Schoolbook" pitchFamily="34" charset="-122"/>
                <a:cs typeface="Century Schoolbook" pitchFamily="34" charset="-120"/>
              </a:rPr>
              <a:t>“</a:t>
            </a:r>
            <a:endParaRPr lang="en-US" sz="9000" dirty="0"/>
          </a:p>
        </p:txBody>
      </p:sp>
      <p:sp>
        <p:nvSpPr>
          <p:cNvPr id="6" name="Text 4"/>
          <p:cNvSpPr/>
          <p:nvPr/>
        </p:nvSpPr>
        <p:spPr>
          <a:xfrm>
            <a:off x="7178040" y="1965960"/>
            <a:ext cx="3916375" cy="2011680"/>
          </a:xfrm>
          <a:prstGeom prst="rect">
            <a:avLst/>
          </a:prstGeom>
          <a:noFill/>
          <a:ln/>
        </p:spPr>
        <p:txBody>
          <a:bodyPr wrap="square" lIns="0" tIns="0" rIns="0" bIns="0" rtlCol="0" anchor="t"/>
          <a:lstStyle/>
          <a:p>
            <a:pPr algn="l" indent="0" marL="0">
              <a:lnSpc>
                <a:spcPct val="108000"/>
              </a:lnSpc>
              <a:buNone/>
            </a:pPr>
            <a:r>
              <a:rPr lang="en-US" sz="2100" b="1" dirty="0">
                <a:solidFill>
                  <a:srgbClr val="FFFFFF"/>
                </a:solidFill>
                <a:latin typeface="Century Schoolbook" pitchFamily="34" charset="0"/>
                <a:ea typeface="Century Schoolbook" pitchFamily="34" charset="-122"/>
                <a:cs typeface="Century Schoolbook" pitchFamily="34" charset="-120"/>
              </a:rPr>
              <a:t>Tu trabajo es entender al negocio, mostrar cómo ATRIA lo ordena y acompañar la decisión con ética.</a:t>
            </a:r>
            <a:endParaRPr lang="en-US" sz="2100" dirty="0"/>
          </a:p>
        </p:txBody>
      </p:sp>
      <p:sp>
        <p:nvSpPr>
          <p:cNvPr id="7" name="Text 5"/>
          <p:cNvSpPr/>
          <p:nvPr/>
        </p:nvSpPr>
        <p:spPr>
          <a:xfrm>
            <a:off x="7178040" y="4114800"/>
            <a:ext cx="3916375" cy="1280160"/>
          </a:xfrm>
          <a:prstGeom prst="rect">
            <a:avLst/>
          </a:prstGeom>
          <a:noFill/>
          <a:ln/>
        </p:spPr>
        <p:txBody>
          <a:bodyPr wrap="square" lIns="0" tIns="0" rIns="0" bIns="0" rtlCol="0" anchor="t"/>
          <a:lstStyle/>
          <a:p>
            <a:pPr algn="l" indent="0" marL="0">
              <a:lnSpc>
                <a:spcPct val="105000"/>
              </a:lnSpc>
              <a:buNone/>
            </a:pPr>
            <a:r>
              <a:rPr lang="en-US" sz="1400" i="1" dirty="0">
                <a:solidFill>
                  <a:srgbClr val="D9CEEF"/>
                </a:solidFill>
                <a:latin typeface="Calibri" pitchFamily="34" charset="0"/>
                <a:ea typeface="Calibri" pitchFamily="34" charset="-122"/>
                <a:cs typeface="Calibri" pitchFamily="34" charset="-120"/>
              </a:rPr>
              <a:t>No eres un repartidor de folletos. Eres el puente entre un problema real y una solución que funciona.</a:t>
            </a:r>
            <a:endParaRPr lang="en-US" sz="1400" dirty="0"/>
          </a:p>
        </p:txBody>
      </p:sp>
      <p:sp>
        <p:nvSpPr>
          <p:cNvPr id="8" name="Text 6"/>
          <p:cNvSpPr/>
          <p:nvPr/>
        </p:nvSpPr>
        <p:spPr>
          <a:xfrm>
            <a:off x="640080" y="4297680"/>
            <a:ext cx="5760720" cy="1280160"/>
          </a:xfrm>
          <a:prstGeom prst="rect">
            <a:avLst/>
          </a:prstGeom>
          <a:noFill/>
          <a:ln/>
        </p:spPr>
        <p:txBody>
          <a:bodyPr wrap="square" lIns="0" tIns="0" rIns="0" bIns="0" rtlCol="0" anchor="t"/>
          <a:lstStyle/>
          <a:p>
            <a:pPr algn="l" indent="0" marL="0">
              <a:buNone/>
            </a:pPr>
            <a:r>
              <a:rPr lang="en-US" sz="1300" i="1" dirty="0">
                <a:solidFill>
                  <a:srgbClr val="8B8397"/>
                </a:solidFill>
                <a:latin typeface="Calibri" pitchFamily="34" charset="0"/>
                <a:ea typeface="Calibri" pitchFamily="34" charset="-122"/>
                <a:cs typeface="Calibri" pitchFamily="34" charset="-120"/>
              </a:rPr>
              <a:t>Entender qué es ATRIA, su propósito y el rol del asesor comercial.</a:t>
            </a:r>
            <a:endParaRPr lang="en-US" sz="1300" dirty="0"/>
          </a:p>
        </p:txBody>
      </p:sp>
      <p:sp>
        <p:nvSpPr>
          <p:cNvPr id="9" name="Text 7"/>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01</a:t>
            </a:r>
            <a:endParaRPr lang="en-US" sz="900" dirty="0"/>
          </a:p>
        </p:txBody>
      </p:sp>
      <p:sp>
        <p:nvSpPr>
          <p:cNvPr id="10" name="Text 8"/>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15 min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TUS RESPONSABILIDADES</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200" b="1" dirty="0">
                <a:solidFill>
                  <a:srgbClr val="1B1526"/>
                </a:solidFill>
                <a:latin typeface="Century Schoolbook" pitchFamily="34" charset="0"/>
                <a:ea typeface="Century Schoolbook" pitchFamily="34" charset="-122"/>
                <a:cs typeface="Century Schoolbook" pitchFamily="34" charset="-120"/>
              </a:rPr>
              <a:t>Qué se espera de ti</a:t>
            </a:r>
            <a:endParaRPr lang="en-US" sz="3200" dirty="0"/>
          </a:p>
        </p:txBody>
      </p:sp>
      <p:sp>
        <p:nvSpPr>
          <p:cNvPr id="4" name="Shape 2"/>
          <p:cNvSpPr/>
          <p:nvPr/>
        </p:nvSpPr>
        <p:spPr>
          <a:xfrm>
            <a:off x="640080" y="1920240"/>
            <a:ext cx="10911535" cy="870966"/>
          </a:xfrm>
          <a:prstGeom prst="roundRect">
            <a:avLst>
              <a:gd name="adj" fmla="val 10499"/>
            </a:avLst>
          </a:prstGeom>
          <a:solidFill>
            <a:srgbClr val="F5F2FA"/>
          </a:solidFill>
          <a:ln w="12700">
            <a:solidFill>
              <a:srgbClr val="E7E1F0"/>
            </a:solidFill>
            <a:prstDash val="solid"/>
          </a:ln>
        </p:spPr>
      </p:sp>
      <p:sp>
        <p:nvSpPr>
          <p:cNvPr id="5" name="Shape 3"/>
          <p:cNvSpPr/>
          <p:nvPr/>
        </p:nvSpPr>
        <p:spPr>
          <a:xfrm>
            <a:off x="914400" y="2081403"/>
            <a:ext cx="548640" cy="548640"/>
          </a:xfrm>
          <a:prstGeom prst="ellipse">
            <a:avLst/>
          </a:prstGeom>
          <a:solidFill>
            <a:srgbClr val="3FB27F"/>
          </a:solidFill>
          <a:ln/>
        </p:spPr>
      </p:sp>
      <p:sp>
        <p:nvSpPr>
          <p:cNvPr id="6" name="Text 4"/>
          <p:cNvSpPr/>
          <p:nvPr/>
        </p:nvSpPr>
        <p:spPr>
          <a:xfrm>
            <a:off x="914400" y="2081403"/>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691640" y="2029968"/>
            <a:ext cx="9539935" cy="435483"/>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Representar la marca con honestidad</a:t>
            </a:r>
            <a:endParaRPr lang="en-US" sz="1700" dirty="0"/>
          </a:p>
        </p:txBody>
      </p:sp>
      <p:sp>
        <p:nvSpPr>
          <p:cNvPr id="8" name="Text 6"/>
          <p:cNvSpPr/>
          <p:nvPr/>
        </p:nvSpPr>
        <p:spPr>
          <a:xfrm>
            <a:off x="1691640" y="2310003"/>
            <a:ext cx="9539935" cy="435483"/>
          </a:xfrm>
          <a:prstGeom prst="rect">
            <a:avLst/>
          </a:prstGeom>
          <a:noFill/>
          <a:ln/>
        </p:spPr>
        <p:txBody>
          <a:bodyPr wrap="square" lIns="0" tIns="0" rIns="0" bIns="0" rtlCol="0" anchor="ctr"/>
          <a:lstStyle/>
          <a:p>
            <a:pPr algn="l" indent="0" marL="0">
              <a:buNone/>
            </a:pPr>
            <a:r>
              <a:rPr lang="en-US" sz="1250" i="1" dirty="0">
                <a:solidFill>
                  <a:srgbClr val="3A3348"/>
                </a:solidFill>
                <a:latin typeface="Calibri" pitchFamily="34" charset="0"/>
                <a:ea typeface="Calibri" pitchFamily="34" charset="-122"/>
                <a:cs typeface="Calibri" pitchFamily="34" charset="-120"/>
              </a:rPr>
              <a:t>Tu palabra es la palabra de ATRIA.</a:t>
            </a:r>
            <a:endParaRPr lang="en-US" sz="1250" dirty="0"/>
          </a:p>
        </p:txBody>
      </p:sp>
      <p:sp>
        <p:nvSpPr>
          <p:cNvPr id="9" name="Shape 7"/>
          <p:cNvSpPr/>
          <p:nvPr/>
        </p:nvSpPr>
        <p:spPr>
          <a:xfrm>
            <a:off x="640080" y="3047238"/>
            <a:ext cx="10911535" cy="870966"/>
          </a:xfrm>
          <a:prstGeom prst="roundRect">
            <a:avLst>
              <a:gd name="adj" fmla="val 10499"/>
            </a:avLst>
          </a:prstGeom>
          <a:solidFill>
            <a:srgbClr val="F5F2FA"/>
          </a:solidFill>
          <a:ln w="12700">
            <a:solidFill>
              <a:srgbClr val="E7E1F0"/>
            </a:solidFill>
            <a:prstDash val="solid"/>
          </a:ln>
        </p:spPr>
      </p:sp>
      <p:sp>
        <p:nvSpPr>
          <p:cNvPr id="10" name="Shape 8"/>
          <p:cNvSpPr/>
          <p:nvPr/>
        </p:nvSpPr>
        <p:spPr>
          <a:xfrm>
            <a:off x="914400" y="3208401"/>
            <a:ext cx="548640" cy="548640"/>
          </a:xfrm>
          <a:prstGeom prst="ellipse">
            <a:avLst/>
          </a:prstGeom>
          <a:solidFill>
            <a:srgbClr val="3FB27F"/>
          </a:solidFill>
          <a:ln/>
        </p:spPr>
      </p:sp>
      <p:sp>
        <p:nvSpPr>
          <p:cNvPr id="11" name="Text 9"/>
          <p:cNvSpPr/>
          <p:nvPr/>
        </p:nvSpPr>
        <p:spPr>
          <a:xfrm>
            <a:off x="914400" y="3208401"/>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1691640" y="3156966"/>
            <a:ext cx="9539935" cy="435483"/>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Aprender el producto a fondo</a:t>
            </a:r>
            <a:endParaRPr lang="en-US" sz="1700" dirty="0"/>
          </a:p>
        </p:txBody>
      </p:sp>
      <p:sp>
        <p:nvSpPr>
          <p:cNvPr id="13" name="Text 11"/>
          <p:cNvSpPr/>
          <p:nvPr/>
        </p:nvSpPr>
        <p:spPr>
          <a:xfrm>
            <a:off x="1691640" y="3437001"/>
            <a:ext cx="9539935" cy="435483"/>
          </a:xfrm>
          <a:prstGeom prst="rect">
            <a:avLst/>
          </a:prstGeom>
          <a:noFill/>
          <a:ln/>
        </p:spPr>
        <p:txBody>
          <a:bodyPr wrap="square" lIns="0" tIns="0" rIns="0" bIns="0" rtlCol="0" anchor="ctr"/>
          <a:lstStyle/>
          <a:p>
            <a:pPr algn="l" indent="0" marL="0">
              <a:buNone/>
            </a:pPr>
            <a:r>
              <a:rPr lang="en-US" sz="1250" i="1" dirty="0">
                <a:solidFill>
                  <a:srgbClr val="3A3348"/>
                </a:solidFill>
                <a:latin typeface="Calibri" pitchFamily="34" charset="0"/>
                <a:ea typeface="Calibri" pitchFamily="34" charset="-122"/>
                <a:cs typeface="Calibri" pitchFamily="34" charset="-120"/>
              </a:rPr>
              <a:t>No se vende lo que no se entiende.</a:t>
            </a:r>
            <a:endParaRPr lang="en-US" sz="1250" dirty="0"/>
          </a:p>
        </p:txBody>
      </p:sp>
      <p:sp>
        <p:nvSpPr>
          <p:cNvPr id="14" name="Shape 12"/>
          <p:cNvSpPr/>
          <p:nvPr/>
        </p:nvSpPr>
        <p:spPr>
          <a:xfrm>
            <a:off x="640080" y="4174236"/>
            <a:ext cx="10911535" cy="870966"/>
          </a:xfrm>
          <a:prstGeom prst="roundRect">
            <a:avLst>
              <a:gd name="adj" fmla="val 10499"/>
            </a:avLst>
          </a:prstGeom>
          <a:solidFill>
            <a:srgbClr val="F5F2FA"/>
          </a:solidFill>
          <a:ln w="12700">
            <a:solidFill>
              <a:srgbClr val="E7E1F0"/>
            </a:solidFill>
            <a:prstDash val="solid"/>
          </a:ln>
        </p:spPr>
      </p:sp>
      <p:sp>
        <p:nvSpPr>
          <p:cNvPr id="15" name="Shape 13"/>
          <p:cNvSpPr/>
          <p:nvPr/>
        </p:nvSpPr>
        <p:spPr>
          <a:xfrm>
            <a:off x="914400" y="4335399"/>
            <a:ext cx="548640" cy="548640"/>
          </a:xfrm>
          <a:prstGeom prst="ellipse">
            <a:avLst/>
          </a:prstGeom>
          <a:solidFill>
            <a:srgbClr val="3FB27F"/>
          </a:solidFill>
          <a:ln/>
        </p:spPr>
      </p:sp>
      <p:sp>
        <p:nvSpPr>
          <p:cNvPr id="16" name="Text 14"/>
          <p:cNvSpPr/>
          <p:nvPr/>
        </p:nvSpPr>
        <p:spPr>
          <a:xfrm>
            <a:off x="914400" y="4335399"/>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691640" y="4283964"/>
            <a:ext cx="9539935" cy="435483"/>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Registrar bien tus prospectos y ventas</a:t>
            </a:r>
            <a:endParaRPr lang="en-US" sz="1700" dirty="0"/>
          </a:p>
        </p:txBody>
      </p:sp>
      <p:sp>
        <p:nvSpPr>
          <p:cNvPr id="18" name="Text 16"/>
          <p:cNvSpPr/>
          <p:nvPr/>
        </p:nvSpPr>
        <p:spPr>
          <a:xfrm>
            <a:off x="1691640" y="4563999"/>
            <a:ext cx="9539935" cy="435483"/>
          </a:xfrm>
          <a:prstGeom prst="rect">
            <a:avLst/>
          </a:prstGeom>
          <a:noFill/>
          <a:ln/>
        </p:spPr>
        <p:txBody>
          <a:bodyPr wrap="square" lIns="0" tIns="0" rIns="0" bIns="0" rtlCol="0" anchor="ctr"/>
          <a:lstStyle/>
          <a:p>
            <a:pPr algn="l" indent="0" marL="0">
              <a:buNone/>
            </a:pPr>
            <a:r>
              <a:rPr lang="en-US" sz="1250" i="1" dirty="0">
                <a:solidFill>
                  <a:srgbClr val="3A3348"/>
                </a:solidFill>
                <a:latin typeface="Calibri" pitchFamily="34" charset="0"/>
                <a:ea typeface="Calibri" pitchFamily="34" charset="-122"/>
                <a:cs typeface="Calibri" pitchFamily="34" charset="-120"/>
              </a:rPr>
              <a:t>Lo que no se registra, no existe.</a:t>
            </a:r>
            <a:endParaRPr lang="en-US" sz="1250" dirty="0"/>
          </a:p>
        </p:txBody>
      </p:sp>
      <p:sp>
        <p:nvSpPr>
          <p:cNvPr id="19" name="Shape 17"/>
          <p:cNvSpPr/>
          <p:nvPr/>
        </p:nvSpPr>
        <p:spPr>
          <a:xfrm>
            <a:off x="640080" y="5301234"/>
            <a:ext cx="10911535" cy="870966"/>
          </a:xfrm>
          <a:prstGeom prst="roundRect">
            <a:avLst>
              <a:gd name="adj" fmla="val 10499"/>
            </a:avLst>
          </a:prstGeom>
          <a:solidFill>
            <a:srgbClr val="F5F2FA"/>
          </a:solidFill>
          <a:ln w="12700">
            <a:solidFill>
              <a:srgbClr val="E7E1F0"/>
            </a:solidFill>
            <a:prstDash val="solid"/>
          </a:ln>
        </p:spPr>
      </p:sp>
      <p:sp>
        <p:nvSpPr>
          <p:cNvPr id="20" name="Shape 18"/>
          <p:cNvSpPr/>
          <p:nvPr/>
        </p:nvSpPr>
        <p:spPr>
          <a:xfrm>
            <a:off x="914400" y="5462397"/>
            <a:ext cx="548640" cy="548640"/>
          </a:xfrm>
          <a:prstGeom prst="ellipse">
            <a:avLst/>
          </a:prstGeom>
          <a:solidFill>
            <a:srgbClr val="3FB27F"/>
          </a:solidFill>
          <a:ln/>
        </p:spPr>
      </p:sp>
      <p:sp>
        <p:nvSpPr>
          <p:cNvPr id="21" name="Text 19"/>
          <p:cNvSpPr/>
          <p:nvPr/>
        </p:nvSpPr>
        <p:spPr>
          <a:xfrm>
            <a:off x="914400" y="5462397"/>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1691640" y="5410962"/>
            <a:ext cx="9539935" cy="435483"/>
          </a:xfrm>
          <a:prstGeom prst="rect">
            <a:avLst/>
          </a:prstGeom>
          <a:noFill/>
          <a:ln/>
        </p:spPr>
        <p:txBody>
          <a:bodyPr wrap="square" lIns="0" tIns="0" rIns="0" bIns="0" rtlCol="0" anchor="ctr"/>
          <a:lstStyle/>
          <a:p>
            <a:pPr algn="l" indent="0" marL="0">
              <a:buNone/>
            </a:pPr>
            <a:r>
              <a:rPr lang="en-US" sz="1700" b="1" dirty="0">
                <a:solidFill>
                  <a:srgbClr val="2B1F3A"/>
                </a:solidFill>
                <a:latin typeface="Century Schoolbook" pitchFamily="34" charset="0"/>
                <a:ea typeface="Century Schoolbook" pitchFamily="34" charset="-122"/>
                <a:cs typeface="Century Schoolbook" pitchFamily="34" charset="-120"/>
              </a:rPr>
              <a:t>Cumplir las políticas comerciales</a:t>
            </a:r>
            <a:endParaRPr lang="en-US" sz="1700" dirty="0"/>
          </a:p>
        </p:txBody>
      </p:sp>
      <p:sp>
        <p:nvSpPr>
          <p:cNvPr id="23" name="Text 21"/>
          <p:cNvSpPr/>
          <p:nvPr/>
        </p:nvSpPr>
        <p:spPr>
          <a:xfrm>
            <a:off x="1691640" y="5690997"/>
            <a:ext cx="9539935" cy="435483"/>
          </a:xfrm>
          <a:prstGeom prst="rect">
            <a:avLst/>
          </a:prstGeom>
          <a:noFill/>
          <a:ln/>
        </p:spPr>
        <p:txBody>
          <a:bodyPr wrap="square" lIns="0" tIns="0" rIns="0" bIns="0" rtlCol="0" anchor="ctr"/>
          <a:lstStyle/>
          <a:p>
            <a:pPr algn="l" indent="0" marL="0">
              <a:buNone/>
            </a:pPr>
            <a:r>
              <a:rPr lang="en-US" sz="1250" i="1" dirty="0">
                <a:solidFill>
                  <a:srgbClr val="3A3348"/>
                </a:solidFill>
                <a:latin typeface="Calibri" pitchFamily="34" charset="0"/>
                <a:ea typeface="Calibri" pitchFamily="34" charset="-122"/>
                <a:cs typeface="Calibri" pitchFamily="34" charset="-120"/>
              </a:rPr>
              <a:t>Reglas claras protegen tu comisión.</a:t>
            </a:r>
            <a:endParaRPr lang="en-US" sz="1250" dirty="0"/>
          </a:p>
        </p:txBody>
      </p:sp>
      <p:sp>
        <p:nvSpPr>
          <p:cNvPr id="24" name="Text 22"/>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01</a:t>
            </a:r>
            <a:endParaRPr lang="en-US" sz="900" dirty="0"/>
          </a:p>
        </p:txBody>
      </p:sp>
      <p:sp>
        <p:nvSpPr>
          <p:cNvPr id="25" name="Text 23"/>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15 min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11535" cy="292608"/>
          </a:xfrm>
          <a:prstGeom prst="rect">
            <a:avLst/>
          </a:prstGeom>
          <a:noFill/>
          <a:ln/>
        </p:spPr>
        <p:txBody>
          <a:bodyPr wrap="square" lIns="0" tIns="0" rIns="0" bIns="0" rtlCol="0" anchor="ctr"/>
          <a:lstStyle/>
          <a:p>
            <a:pPr algn="l" indent="0" marL="0">
              <a:buNone/>
            </a:pPr>
            <a:r>
              <a:rPr lang="en-US" sz="1150" b="1" spc="300" kern="0" dirty="0">
                <a:solidFill>
                  <a:srgbClr val="A18BCF"/>
                </a:solidFill>
                <a:latin typeface="Calibri" pitchFamily="34" charset="0"/>
                <a:ea typeface="Calibri" pitchFamily="34" charset="-122"/>
                <a:cs typeface="Calibri" pitchFamily="34" charset="-120"/>
              </a:rPr>
              <a:t>APLÍCALO</a:t>
            </a:r>
            <a:endParaRPr lang="en-US" sz="1150" dirty="0"/>
          </a:p>
        </p:txBody>
      </p:sp>
      <p:sp>
        <p:nvSpPr>
          <p:cNvPr id="3" name="Text 1"/>
          <p:cNvSpPr/>
          <p:nvPr/>
        </p:nvSpPr>
        <p:spPr>
          <a:xfrm>
            <a:off x="640080" y="822960"/>
            <a:ext cx="10911535" cy="822960"/>
          </a:xfrm>
          <a:prstGeom prst="rect">
            <a:avLst/>
          </a:prstGeom>
          <a:noFill/>
          <a:ln/>
        </p:spPr>
        <p:txBody>
          <a:bodyPr wrap="square" lIns="0" tIns="0" rIns="0" bIns="0" rtlCol="0" anchor="t"/>
          <a:lstStyle/>
          <a:p>
            <a:pPr algn="l" indent="0" marL="0">
              <a:buNone/>
            </a:pPr>
            <a:r>
              <a:rPr lang="en-US" sz="3200" b="1" dirty="0">
                <a:solidFill>
                  <a:srgbClr val="1B1526"/>
                </a:solidFill>
                <a:latin typeface="Century Schoolbook" pitchFamily="34" charset="0"/>
                <a:ea typeface="Century Schoolbook" pitchFamily="34" charset="-122"/>
                <a:cs typeface="Century Schoolbook" pitchFamily="34" charset="-120"/>
              </a:rPr>
              <a:t>¿Comercio o restaurante?</a:t>
            </a:r>
            <a:endParaRPr lang="en-US" sz="3200" dirty="0"/>
          </a:p>
        </p:txBody>
      </p:sp>
      <p:sp>
        <p:nvSpPr>
          <p:cNvPr id="4" name="Shape 2"/>
          <p:cNvSpPr/>
          <p:nvPr/>
        </p:nvSpPr>
        <p:spPr>
          <a:xfrm>
            <a:off x="640080" y="1920240"/>
            <a:ext cx="5227168" cy="3977640"/>
          </a:xfrm>
          <a:prstGeom prst="roundRect">
            <a:avLst>
              <a:gd name="adj" fmla="val 2759"/>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5" name="Shape 3"/>
          <p:cNvSpPr/>
          <p:nvPr/>
        </p:nvSpPr>
        <p:spPr>
          <a:xfrm>
            <a:off x="640080" y="1920240"/>
            <a:ext cx="5227168" cy="914400"/>
          </a:xfrm>
          <a:prstGeom prst="roundRect">
            <a:avLst>
              <a:gd name="adj" fmla="val 12000"/>
            </a:avLst>
          </a:prstGeom>
          <a:solidFill>
            <a:srgbClr val="5C4B75"/>
          </a:solidFill>
          <a:ln/>
        </p:spPr>
      </p:sp>
      <p:sp>
        <p:nvSpPr>
          <p:cNvPr id="6" name="Shape 4"/>
          <p:cNvSpPr/>
          <p:nvPr/>
        </p:nvSpPr>
        <p:spPr>
          <a:xfrm>
            <a:off x="640080" y="2377440"/>
            <a:ext cx="5227168" cy="457200"/>
          </a:xfrm>
          <a:prstGeom prst="rect">
            <a:avLst/>
          </a:prstGeom>
          <a:solidFill>
            <a:srgbClr val="5C4B75"/>
          </a:solidFill>
          <a:ln/>
        </p:spPr>
      </p:sp>
      <p:sp>
        <p:nvSpPr>
          <p:cNvPr id="7" name="Text 5"/>
          <p:cNvSpPr/>
          <p:nvPr/>
        </p:nvSpPr>
        <p:spPr>
          <a:xfrm>
            <a:off x="640080" y="1920240"/>
            <a:ext cx="5227168" cy="914400"/>
          </a:xfrm>
          <a:prstGeom prst="rect">
            <a:avLst/>
          </a:prstGeom>
          <a:noFill/>
          <a:ln/>
        </p:spPr>
        <p:txBody>
          <a:bodyPr wrap="square" lIns="0" tIns="0" rIns="0" bIns="0" rtlCol="0" anchor="ctr"/>
          <a:lstStyle/>
          <a:p>
            <a:pPr algn="ctr" indent="0" marL="0">
              <a:buNone/>
            </a:pPr>
            <a:r>
              <a:rPr lang="en-US" sz="2100" b="1" dirty="0">
                <a:solidFill>
                  <a:srgbClr val="FFFFFF"/>
                </a:solidFill>
                <a:latin typeface="Century Schoolbook" pitchFamily="34" charset="0"/>
                <a:ea typeface="Century Schoolbook" pitchFamily="34" charset="-122"/>
                <a:cs typeface="Century Schoolbook" pitchFamily="34" charset="-120"/>
              </a:rPr>
              <a:t>Comercio general</a:t>
            </a:r>
            <a:endParaRPr lang="en-US" sz="2100" dirty="0"/>
          </a:p>
        </p:txBody>
      </p:sp>
      <p:sp>
        <p:nvSpPr>
          <p:cNvPr id="8" name="Text 6"/>
          <p:cNvSpPr/>
          <p:nvPr/>
        </p:nvSpPr>
        <p:spPr>
          <a:xfrm>
            <a:off x="960120" y="3108960"/>
            <a:ext cx="4587088" cy="100584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Ferretería, farmacia, tienda, distribuidora</a:t>
            </a:r>
            <a:endParaRPr lang="en-US" sz="1500" dirty="0"/>
          </a:p>
        </p:txBody>
      </p:sp>
      <p:sp>
        <p:nvSpPr>
          <p:cNvPr id="9" name="Text 7"/>
          <p:cNvSpPr/>
          <p:nvPr/>
        </p:nvSpPr>
        <p:spPr>
          <a:xfrm>
            <a:off x="960120" y="4206240"/>
            <a:ext cx="4587088" cy="1554480"/>
          </a:xfrm>
          <a:prstGeom prst="rect">
            <a:avLst/>
          </a:prstGeom>
          <a:noFill/>
          <a:ln/>
        </p:spPr>
        <p:txBody>
          <a:bodyPr wrap="square" lIns="0" tIns="0" rIns="0" bIns="0" rtlCol="0" anchor="t"/>
          <a:lstStyle/>
          <a:p>
            <a:pPr algn="l" indent="0" marL="0">
              <a:lnSpc>
                <a:spcPct val="110000"/>
              </a:lnSpc>
              <a:buNone/>
            </a:pPr>
            <a:r>
              <a:rPr lang="en-US" sz="1350" dirty="0">
                <a:solidFill>
                  <a:srgbClr val="3A3348"/>
                </a:solidFill>
                <a:latin typeface="Calibri" pitchFamily="34" charset="0"/>
                <a:ea typeface="Calibri" pitchFamily="34" charset="-122"/>
                <a:cs typeface="Calibri" pitchFamily="34" charset="-120"/>
              </a:rPr>
              <a:t>Necesita: POS, inventario, contabilidad y reportes</a:t>
            </a:r>
            <a:endParaRPr lang="en-US" sz="1350" dirty="0"/>
          </a:p>
        </p:txBody>
      </p:sp>
      <p:sp>
        <p:nvSpPr>
          <p:cNvPr id="10" name="Shape 8"/>
          <p:cNvSpPr/>
          <p:nvPr/>
        </p:nvSpPr>
        <p:spPr>
          <a:xfrm>
            <a:off x="6324448" y="1920240"/>
            <a:ext cx="5227168" cy="3977640"/>
          </a:xfrm>
          <a:prstGeom prst="roundRect">
            <a:avLst>
              <a:gd name="adj" fmla="val 2759"/>
            </a:avLst>
          </a:prstGeom>
          <a:solidFill>
            <a:srgbClr val="FFFFFF"/>
          </a:solidFill>
          <a:ln w="12700">
            <a:solidFill>
              <a:srgbClr val="E7E1F0"/>
            </a:solidFill>
            <a:prstDash val="solid"/>
          </a:ln>
          <a:effectLst>
            <a:outerShdw sx="100000" sy="100000" kx="0" ky="0" algn="bl" rotWithShape="0" blurRad="101600" dist="38100" dir="5400000">
              <a:srgbClr val="1B1526">
                <a:alpha val="14000"/>
              </a:srgbClr>
            </a:outerShdw>
          </a:effectLst>
        </p:spPr>
      </p:sp>
      <p:sp>
        <p:nvSpPr>
          <p:cNvPr id="11" name="Shape 9"/>
          <p:cNvSpPr/>
          <p:nvPr/>
        </p:nvSpPr>
        <p:spPr>
          <a:xfrm>
            <a:off x="6324448" y="1920240"/>
            <a:ext cx="5227168" cy="914400"/>
          </a:xfrm>
          <a:prstGeom prst="roundRect">
            <a:avLst>
              <a:gd name="adj" fmla="val 12000"/>
            </a:avLst>
          </a:prstGeom>
          <a:solidFill>
            <a:srgbClr val="2563EB"/>
          </a:solidFill>
          <a:ln/>
        </p:spPr>
      </p:sp>
      <p:sp>
        <p:nvSpPr>
          <p:cNvPr id="12" name="Shape 10"/>
          <p:cNvSpPr/>
          <p:nvPr/>
        </p:nvSpPr>
        <p:spPr>
          <a:xfrm>
            <a:off x="6324448" y="2377440"/>
            <a:ext cx="5227168" cy="457200"/>
          </a:xfrm>
          <a:prstGeom prst="rect">
            <a:avLst/>
          </a:prstGeom>
          <a:solidFill>
            <a:srgbClr val="2563EB"/>
          </a:solidFill>
          <a:ln/>
        </p:spPr>
      </p:sp>
      <p:sp>
        <p:nvSpPr>
          <p:cNvPr id="13" name="Text 11"/>
          <p:cNvSpPr/>
          <p:nvPr/>
        </p:nvSpPr>
        <p:spPr>
          <a:xfrm>
            <a:off x="6324448" y="1920240"/>
            <a:ext cx="5227168" cy="914400"/>
          </a:xfrm>
          <a:prstGeom prst="rect">
            <a:avLst/>
          </a:prstGeom>
          <a:noFill/>
          <a:ln/>
        </p:spPr>
        <p:txBody>
          <a:bodyPr wrap="square" lIns="0" tIns="0" rIns="0" bIns="0" rtlCol="0" anchor="ctr"/>
          <a:lstStyle/>
          <a:p>
            <a:pPr algn="ctr" indent="0" marL="0">
              <a:buNone/>
            </a:pPr>
            <a:r>
              <a:rPr lang="en-US" sz="2100" b="1" dirty="0">
                <a:solidFill>
                  <a:srgbClr val="FFFFFF"/>
                </a:solidFill>
                <a:latin typeface="Century Schoolbook" pitchFamily="34" charset="0"/>
                <a:ea typeface="Century Schoolbook" pitchFamily="34" charset="-122"/>
                <a:cs typeface="Century Schoolbook" pitchFamily="34" charset="-120"/>
              </a:rPr>
              <a:t>Restaurante</a:t>
            </a:r>
            <a:endParaRPr lang="en-US" sz="2100" dirty="0"/>
          </a:p>
        </p:txBody>
      </p:sp>
      <p:sp>
        <p:nvSpPr>
          <p:cNvPr id="14" name="Text 12"/>
          <p:cNvSpPr/>
          <p:nvPr/>
        </p:nvSpPr>
        <p:spPr>
          <a:xfrm>
            <a:off x="6644488" y="3108960"/>
            <a:ext cx="4587088" cy="1005840"/>
          </a:xfrm>
          <a:prstGeom prst="rect">
            <a:avLst/>
          </a:prstGeom>
          <a:noFill/>
          <a:ln/>
        </p:spPr>
        <p:txBody>
          <a:bodyPr wrap="square" lIns="0" tIns="0" rIns="0" bIns="0" rtlCol="0" anchor="t"/>
          <a:lstStyle/>
          <a:p>
            <a:pPr algn="l" indent="0" marL="0">
              <a:lnSpc>
                <a:spcPct val="105000"/>
              </a:lnSpc>
              <a:buNone/>
            </a:pPr>
            <a:r>
              <a:rPr lang="en-US" sz="1500" b="1" dirty="0">
                <a:solidFill>
                  <a:srgbClr val="1B1526"/>
                </a:solidFill>
                <a:latin typeface="Century Schoolbook" pitchFamily="34" charset="0"/>
                <a:ea typeface="Century Schoolbook" pitchFamily="34" charset="-122"/>
                <a:cs typeface="Century Schoolbook" pitchFamily="34" charset="-120"/>
              </a:rPr>
              <a:t>Cafetería, comida rápida, bar, cocina</a:t>
            </a:r>
            <a:endParaRPr lang="en-US" sz="1500" dirty="0"/>
          </a:p>
        </p:txBody>
      </p:sp>
      <p:sp>
        <p:nvSpPr>
          <p:cNvPr id="15" name="Text 13"/>
          <p:cNvSpPr/>
          <p:nvPr/>
        </p:nvSpPr>
        <p:spPr>
          <a:xfrm>
            <a:off x="6644488" y="4206240"/>
            <a:ext cx="4587088" cy="1554480"/>
          </a:xfrm>
          <a:prstGeom prst="rect">
            <a:avLst/>
          </a:prstGeom>
          <a:noFill/>
          <a:ln/>
        </p:spPr>
        <p:txBody>
          <a:bodyPr wrap="square" lIns="0" tIns="0" rIns="0" bIns="0" rtlCol="0" anchor="t"/>
          <a:lstStyle/>
          <a:p>
            <a:pPr algn="l" indent="0" marL="0">
              <a:lnSpc>
                <a:spcPct val="110000"/>
              </a:lnSpc>
              <a:buNone/>
            </a:pPr>
            <a:r>
              <a:rPr lang="en-US" sz="1350" dirty="0">
                <a:solidFill>
                  <a:srgbClr val="3A3348"/>
                </a:solidFill>
                <a:latin typeface="Calibri" pitchFamily="34" charset="0"/>
                <a:ea typeface="Calibri" pitchFamily="34" charset="-122"/>
                <a:cs typeface="Calibri" pitchFamily="34" charset="-120"/>
              </a:rPr>
              <a:t>Necesita además: pedidos y menú conectados a caja e insumos</a:t>
            </a:r>
            <a:endParaRPr lang="en-US" sz="1350" dirty="0"/>
          </a:p>
        </p:txBody>
      </p:sp>
      <p:sp>
        <p:nvSpPr>
          <p:cNvPr id="16" name="Text 14"/>
          <p:cNvSpPr/>
          <p:nvPr/>
        </p:nvSpPr>
        <p:spPr>
          <a:xfrm>
            <a:off x="640080" y="6400800"/>
            <a:ext cx="7315200" cy="274320"/>
          </a:xfrm>
          <a:prstGeom prst="rect">
            <a:avLst/>
          </a:prstGeom>
          <a:noFill/>
          <a:ln/>
        </p:spPr>
        <p:txBody>
          <a:bodyPr wrap="square" lIns="0" tIns="0" rIns="0" bIns="0" rtlCol="0" anchor="ctr"/>
          <a:lstStyle/>
          <a:p>
            <a:pPr algn="l" indent="0" marL="0">
              <a:buNone/>
            </a:pPr>
            <a:r>
              <a:rPr lang="en-US" sz="900" b="1" dirty="0">
                <a:solidFill>
                  <a:srgbClr val="2B1F3A"/>
                </a:solidFill>
                <a:latin typeface="Calibri" pitchFamily="34" charset="0"/>
                <a:ea typeface="Calibri" pitchFamily="34" charset="-122"/>
                <a:cs typeface="Calibri" pitchFamily="34" charset="-120"/>
              </a:rPr>
              <a:t>ATRIA</a:t>
            </a:r>
            <a:pPr algn="l" indent="0" marL="0">
              <a:buNone/>
            </a:pPr>
            <a:r>
              <a:rPr lang="en-US" sz="900" dirty="0">
                <a:solidFill>
                  <a:srgbClr val="8B8397"/>
                </a:solidFill>
                <a:latin typeface="Calibri" pitchFamily="34" charset="0"/>
                <a:ea typeface="Calibri" pitchFamily="34" charset="-122"/>
                <a:cs typeface="Calibri" pitchFamily="34" charset="-120"/>
              </a:rPr>
              <a:t>   ·   Academia Comercial · Módulo 01</a:t>
            </a:r>
            <a:endParaRPr lang="en-US" sz="900" dirty="0"/>
          </a:p>
        </p:txBody>
      </p:sp>
      <p:sp>
        <p:nvSpPr>
          <p:cNvPr id="17" name="Text 15"/>
          <p:cNvSpPr/>
          <p:nvPr/>
        </p:nvSpPr>
        <p:spPr>
          <a:xfrm>
            <a:off x="9265615" y="6400800"/>
            <a:ext cx="2286000" cy="274320"/>
          </a:xfrm>
          <a:prstGeom prst="rect">
            <a:avLst/>
          </a:prstGeom>
          <a:noFill/>
          <a:ln/>
        </p:spPr>
        <p:txBody>
          <a:bodyPr wrap="square" lIns="0" tIns="0" rIns="0" bIns="0" rtlCol="0" anchor="ctr"/>
          <a:lstStyle/>
          <a:p>
            <a:pPr algn="r" indent="0" marL="0">
              <a:buNone/>
            </a:pPr>
            <a:r>
              <a:rPr lang="en-US" sz="900" dirty="0">
                <a:solidFill>
                  <a:srgbClr val="8B8397"/>
                </a:solidFill>
                <a:latin typeface="Calibri" pitchFamily="34" charset="0"/>
                <a:ea typeface="Calibri" pitchFamily="34" charset="-122"/>
                <a:cs typeface="Calibri" pitchFamily="34" charset="-120"/>
              </a:rPr>
              <a:t>15 min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416"/>
        </a:solidFill>
      </p:bgPr>
    </p:bg>
    <p:spTree>
      <p:nvGrpSpPr>
        <p:cNvPr id="1" name=""/>
        <p:cNvGrpSpPr/>
        <p:nvPr/>
      </p:nvGrpSpPr>
      <p:grpSpPr>
        <a:xfrm>
          <a:off x="0" y="0"/>
          <a:ext cx="0" cy="0"/>
          <a:chOff x="0" y="0"/>
          <a:chExt cx="0" cy="0"/>
        </a:xfrm>
      </p:grpSpPr>
      <p:pic>
        <p:nvPicPr>
          <p:cNvPr id="2" name="Image 0" descr="C:\Users\Maykel\AppData\Local\Temp\claude\C--Users-Maykel-Documents-Vendedores-ATRIA\2835f6c9-42b1-4d99-a7c2-ba9d9749de1e\scratchpad\gradient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40080" y="640080"/>
            <a:ext cx="10911535" cy="292608"/>
          </a:xfrm>
          <a:prstGeom prst="rect">
            <a:avLst/>
          </a:prstGeom>
          <a:noFill/>
          <a:ln/>
        </p:spPr>
        <p:txBody>
          <a:bodyPr wrap="square" lIns="0" tIns="0" rIns="0" bIns="0" rtlCol="0" anchor="ctr"/>
          <a:lstStyle/>
          <a:p>
            <a:pPr algn="l" indent="0" marL="0">
              <a:buNone/>
            </a:pPr>
            <a:r>
              <a:rPr lang="en-US" sz="1150" b="1" spc="300" kern="0" dirty="0">
                <a:solidFill>
                  <a:srgbClr val="C9B8F0"/>
                </a:solidFill>
                <a:latin typeface="Calibri" pitchFamily="34" charset="0"/>
                <a:ea typeface="Calibri" pitchFamily="34" charset="-122"/>
                <a:cs typeface="Calibri" pitchFamily="34" charset="-120"/>
              </a:rPr>
              <a:t>PARA RECORDAR</a:t>
            </a:r>
            <a:endParaRPr lang="en-US" sz="1150" dirty="0"/>
          </a:p>
        </p:txBody>
      </p:sp>
      <p:sp>
        <p:nvSpPr>
          <p:cNvPr id="4" name="Text 1"/>
          <p:cNvSpPr/>
          <p:nvPr/>
        </p:nvSpPr>
        <p:spPr>
          <a:xfrm>
            <a:off x="640080" y="1005840"/>
            <a:ext cx="10911535" cy="914400"/>
          </a:xfrm>
          <a:prstGeom prst="rect">
            <a:avLst/>
          </a:prstGeom>
          <a:noFill/>
          <a:ln/>
        </p:spPr>
        <p:txBody>
          <a:bodyPr wrap="square" lIns="0" tIns="0" rIns="0" bIns="0" rtlCol="0" anchor="t"/>
          <a:lstStyle/>
          <a:p>
            <a:pPr algn="l" indent="0" marL="0">
              <a:buNone/>
            </a:pPr>
            <a:r>
              <a:rPr lang="en-US" sz="3600" b="1" dirty="0">
                <a:solidFill>
                  <a:srgbClr val="FFFFFF"/>
                </a:solidFill>
                <a:latin typeface="Century Schoolbook" pitchFamily="34" charset="0"/>
                <a:ea typeface="Century Schoolbook" pitchFamily="34" charset="-122"/>
                <a:cs typeface="Century Schoolbook" pitchFamily="34" charset="-120"/>
              </a:rPr>
              <a:t>Lo que te llevas de este módulo</a:t>
            </a:r>
            <a:endParaRPr lang="en-US" sz="3600" dirty="0"/>
          </a:p>
        </p:txBody>
      </p:sp>
      <p:sp>
        <p:nvSpPr>
          <p:cNvPr id="5" name="Shape 2"/>
          <p:cNvSpPr/>
          <p:nvPr/>
        </p:nvSpPr>
        <p:spPr>
          <a:xfrm>
            <a:off x="640080" y="2331720"/>
            <a:ext cx="10911535" cy="1112520"/>
          </a:xfrm>
          <a:prstGeom prst="roundRect">
            <a:avLst>
              <a:gd name="adj" fmla="val 8219"/>
            </a:avLst>
          </a:prstGeom>
          <a:solidFill>
            <a:srgbClr val="FFFFFF">
              <a:alpha val="10000"/>
            </a:srgbClr>
          </a:solidFill>
          <a:ln w="9525">
            <a:solidFill>
              <a:srgbClr val="FFFFFF">
                <a:alpha val="35000"/>
              </a:srgbClr>
            </a:solidFill>
            <a:prstDash val="solid"/>
          </a:ln>
        </p:spPr>
      </p:sp>
      <p:sp>
        <p:nvSpPr>
          <p:cNvPr id="6" name="Shape 3"/>
          <p:cNvSpPr/>
          <p:nvPr/>
        </p:nvSpPr>
        <p:spPr>
          <a:xfrm>
            <a:off x="896112" y="2586228"/>
            <a:ext cx="603504" cy="603504"/>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7" name="Text 4"/>
          <p:cNvSpPr/>
          <p:nvPr/>
        </p:nvSpPr>
        <p:spPr>
          <a:xfrm>
            <a:off x="896112" y="2586228"/>
            <a:ext cx="603504" cy="603504"/>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1</a:t>
            </a:r>
            <a:endParaRPr lang="en-US" sz="2200" dirty="0"/>
          </a:p>
        </p:txBody>
      </p:sp>
      <p:sp>
        <p:nvSpPr>
          <p:cNvPr id="8" name="Text 5"/>
          <p:cNvSpPr/>
          <p:nvPr/>
        </p:nvSpPr>
        <p:spPr>
          <a:xfrm>
            <a:off x="1691640" y="2331720"/>
            <a:ext cx="9539935" cy="1112520"/>
          </a:xfrm>
          <a:prstGeom prst="rect">
            <a:avLst/>
          </a:prstGeom>
          <a:noFill/>
          <a:ln/>
        </p:spPr>
        <p:txBody>
          <a:bodyPr wrap="square" lIns="0" tIns="0" rIns="0" bIns="0" rtlCol="0" anchor="ctr"/>
          <a:lstStyle/>
          <a:p>
            <a:pPr algn="l" indent="0" marL="0">
              <a:lnSpc>
                <a:spcPct val="102000"/>
              </a:lnSpc>
              <a:buNone/>
            </a:pPr>
            <a:r>
              <a:rPr lang="en-US" sz="1600" b="1" dirty="0">
                <a:solidFill>
                  <a:srgbClr val="F3EEFB"/>
                </a:solidFill>
                <a:latin typeface="Calibri" pitchFamily="34" charset="0"/>
                <a:ea typeface="Calibri" pitchFamily="34" charset="-122"/>
                <a:cs typeface="Calibri" pitchFamily="34" charset="-120"/>
              </a:rPr>
              <a:t>ATRIA integra POS, inventario, contabilidad automática y operación para restaurantes.</a:t>
            </a:r>
            <a:endParaRPr lang="en-US" sz="1600" dirty="0"/>
          </a:p>
        </p:txBody>
      </p:sp>
      <p:sp>
        <p:nvSpPr>
          <p:cNvPr id="9" name="Shape 6"/>
          <p:cNvSpPr/>
          <p:nvPr/>
        </p:nvSpPr>
        <p:spPr>
          <a:xfrm>
            <a:off x="640080" y="3718560"/>
            <a:ext cx="10911535" cy="1112520"/>
          </a:xfrm>
          <a:prstGeom prst="roundRect">
            <a:avLst>
              <a:gd name="adj" fmla="val 8219"/>
            </a:avLst>
          </a:prstGeom>
          <a:solidFill>
            <a:srgbClr val="FFFFFF">
              <a:alpha val="10000"/>
            </a:srgbClr>
          </a:solidFill>
          <a:ln w="9525">
            <a:solidFill>
              <a:srgbClr val="FFFFFF">
                <a:alpha val="35000"/>
              </a:srgbClr>
            </a:solidFill>
            <a:prstDash val="solid"/>
          </a:ln>
        </p:spPr>
      </p:sp>
      <p:sp>
        <p:nvSpPr>
          <p:cNvPr id="10" name="Shape 7"/>
          <p:cNvSpPr/>
          <p:nvPr/>
        </p:nvSpPr>
        <p:spPr>
          <a:xfrm>
            <a:off x="896112" y="3973068"/>
            <a:ext cx="603504" cy="603504"/>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1" name="Text 8"/>
          <p:cNvSpPr/>
          <p:nvPr/>
        </p:nvSpPr>
        <p:spPr>
          <a:xfrm>
            <a:off x="896112" y="3973068"/>
            <a:ext cx="603504" cy="603504"/>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2</a:t>
            </a:r>
            <a:endParaRPr lang="en-US" sz="2200" dirty="0"/>
          </a:p>
        </p:txBody>
      </p:sp>
      <p:sp>
        <p:nvSpPr>
          <p:cNvPr id="12" name="Text 9"/>
          <p:cNvSpPr/>
          <p:nvPr/>
        </p:nvSpPr>
        <p:spPr>
          <a:xfrm>
            <a:off x="1691640" y="3718560"/>
            <a:ext cx="9539935" cy="1112520"/>
          </a:xfrm>
          <a:prstGeom prst="rect">
            <a:avLst/>
          </a:prstGeom>
          <a:noFill/>
          <a:ln/>
        </p:spPr>
        <p:txBody>
          <a:bodyPr wrap="square" lIns="0" tIns="0" rIns="0" bIns="0" rtlCol="0" anchor="ctr"/>
          <a:lstStyle/>
          <a:p>
            <a:pPr algn="l" indent="0" marL="0">
              <a:lnSpc>
                <a:spcPct val="102000"/>
              </a:lnSpc>
              <a:buNone/>
            </a:pPr>
            <a:r>
              <a:rPr lang="en-US" sz="1600" b="1" dirty="0">
                <a:solidFill>
                  <a:srgbClr val="F3EEFB"/>
                </a:solidFill>
                <a:latin typeface="Calibri" pitchFamily="34" charset="0"/>
                <a:ea typeface="Calibri" pitchFamily="34" charset="-122"/>
                <a:cs typeface="Calibri" pitchFamily="34" charset="-120"/>
              </a:rPr>
              <a:t>El asesor es el puente entre el negocio y la solución.</a:t>
            </a:r>
            <a:endParaRPr lang="en-US" sz="1600" dirty="0"/>
          </a:p>
        </p:txBody>
      </p:sp>
      <p:sp>
        <p:nvSpPr>
          <p:cNvPr id="13" name="Shape 10"/>
          <p:cNvSpPr/>
          <p:nvPr/>
        </p:nvSpPr>
        <p:spPr>
          <a:xfrm>
            <a:off x="640080" y="5105400"/>
            <a:ext cx="10911535" cy="1112520"/>
          </a:xfrm>
          <a:prstGeom prst="roundRect">
            <a:avLst>
              <a:gd name="adj" fmla="val 8219"/>
            </a:avLst>
          </a:prstGeom>
          <a:solidFill>
            <a:srgbClr val="FFFFFF">
              <a:alpha val="10000"/>
            </a:srgbClr>
          </a:solidFill>
          <a:ln w="9525">
            <a:solidFill>
              <a:srgbClr val="FFFFFF">
                <a:alpha val="35000"/>
              </a:srgbClr>
            </a:solidFill>
            <a:prstDash val="solid"/>
          </a:ln>
        </p:spPr>
      </p:sp>
      <p:sp>
        <p:nvSpPr>
          <p:cNvPr id="14" name="Shape 11"/>
          <p:cNvSpPr/>
          <p:nvPr/>
        </p:nvSpPr>
        <p:spPr>
          <a:xfrm>
            <a:off x="896112" y="5359908"/>
            <a:ext cx="603504" cy="603504"/>
          </a:xfrm>
          <a:prstGeom prst="ellipse">
            <a:avLst/>
          </a:prstGeom>
          <a:solidFill>
            <a:srgbClr val="A18BCF"/>
          </a:solidFill>
          <a:ln/>
          <a:effectLst>
            <a:outerShdw sx="100000" sy="100000" kx="0" ky="0" algn="bl" rotWithShape="0" blurRad="101600" dist="38100" dir="5400000">
              <a:srgbClr val="1B1526">
                <a:alpha val="22000"/>
              </a:srgbClr>
            </a:outerShdw>
          </a:effectLst>
        </p:spPr>
      </p:sp>
      <p:sp>
        <p:nvSpPr>
          <p:cNvPr id="15" name="Text 12"/>
          <p:cNvSpPr/>
          <p:nvPr/>
        </p:nvSpPr>
        <p:spPr>
          <a:xfrm>
            <a:off x="896112" y="5359908"/>
            <a:ext cx="603504" cy="603504"/>
          </a:xfrm>
          <a:prstGeom prst="rect">
            <a:avLst/>
          </a:prstGeom>
          <a:noFill/>
          <a:ln/>
        </p:spPr>
        <p:txBody>
          <a:bodyPr wrap="square" lIns="0" tIns="0" rIns="0" bIns="0" rtlCol="0" anchor="ctr"/>
          <a:lstStyle/>
          <a:p>
            <a:pPr algn="ctr" indent="0" marL="0">
              <a:buNone/>
            </a:pPr>
            <a:r>
              <a:rPr lang="en-US" sz="2200" b="1" dirty="0">
                <a:solidFill>
                  <a:srgbClr val="2B1F3A"/>
                </a:solidFill>
                <a:latin typeface="Century Schoolbook" pitchFamily="34" charset="0"/>
                <a:ea typeface="Century Schoolbook" pitchFamily="34" charset="-122"/>
                <a:cs typeface="Century Schoolbook" pitchFamily="34" charset="-120"/>
              </a:rPr>
              <a:t>3</a:t>
            </a:r>
            <a:endParaRPr lang="en-US" sz="2200" dirty="0"/>
          </a:p>
        </p:txBody>
      </p:sp>
      <p:sp>
        <p:nvSpPr>
          <p:cNvPr id="16" name="Text 13"/>
          <p:cNvSpPr/>
          <p:nvPr/>
        </p:nvSpPr>
        <p:spPr>
          <a:xfrm>
            <a:off x="1691640" y="5105400"/>
            <a:ext cx="9539935" cy="1112520"/>
          </a:xfrm>
          <a:prstGeom prst="rect">
            <a:avLst/>
          </a:prstGeom>
          <a:noFill/>
          <a:ln/>
        </p:spPr>
        <p:txBody>
          <a:bodyPr wrap="square" lIns="0" tIns="0" rIns="0" bIns="0" rtlCol="0" anchor="ctr"/>
          <a:lstStyle/>
          <a:p>
            <a:pPr algn="l" indent="0" marL="0">
              <a:lnSpc>
                <a:spcPct val="102000"/>
              </a:lnSpc>
              <a:buNone/>
            </a:pPr>
            <a:r>
              <a:rPr lang="en-US" sz="1600" b="1" dirty="0">
                <a:solidFill>
                  <a:srgbClr val="F3EEFB"/>
                </a:solidFill>
                <a:latin typeface="Calibri" pitchFamily="34" charset="0"/>
                <a:ea typeface="Calibri" pitchFamily="34" charset="-122"/>
                <a:cs typeface="Calibri" pitchFamily="34" charset="-120"/>
              </a:rPr>
              <a:t>La ética y el registro correcto son la base del programa.</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416"/>
        </a:solidFill>
      </p:bgPr>
    </p:bg>
    <p:spTree>
      <p:nvGrpSpPr>
        <p:cNvPr id="1" name=""/>
        <p:cNvGrpSpPr/>
        <p:nvPr/>
      </p:nvGrpSpPr>
      <p:grpSpPr>
        <a:xfrm>
          <a:off x="0" y="0"/>
          <a:ext cx="0" cy="0"/>
          <a:chOff x="0" y="0"/>
          <a:chExt cx="0" cy="0"/>
        </a:xfrm>
      </p:grpSpPr>
      <p:pic>
        <p:nvPicPr>
          <p:cNvPr id="2" name="Image 0" descr="C:\Users\Maykel\AppData\Local\Temp\claude\C--Users-Maykel-Documents-Vendedores-ATRIA\2835f6c9-42b1-4d99-a7c2-ba9d9749de1e\scratchpad\gradient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10048" y="1005840"/>
            <a:ext cx="1371600" cy="1371600"/>
          </a:xfrm>
          <a:prstGeom prst="rect">
            <a:avLst/>
          </a:prstGeom>
          <a:noFill/>
          <a:ln/>
        </p:spPr>
        <p:txBody>
          <a:bodyPr wrap="square" lIns="0" tIns="0" rIns="0" bIns="0" rtlCol="0" anchor="ctr"/>
          <a:lstStyle/>
          <a:p>
            <a:pPr algn="ctr" indent="0" marL="0">
              <a:buNone/>
            </a:pPr>
            <a:r>
              <a:rPr lang="en-US" sz="6000" b="1" dirty="0">
                <a:solidFill>
                  <a:srgbClr val="A18BCF"/>
                </a:solidFill>
                <a:latin typeface="Calibri" pitchFamily="34" charset="0"/>
                <a:ea typeface="Calibri" pitchFamily="34" charset="-122"/>
                <a:cs typeface="Calibri" pitchFamily="34" charset="-120"/>
              </a:rPr>
              <a:t>✓</a:t>
            </a:r>
            <a:endParaRPr lang="en-US" sz="6000" dirty="0"/>
          </a:p>
        </p:txBody>
      </p:sp>
      <p:sp>
        <p:nvSpPr>
          <p:cNvPr id="4" name="Text 1"/>
          <p:cNvSpPr/>
          <p:nvPr/>
        </p:nvSpPr>
        <p:spPr>
          <a:xfrm>
            <a:off x="640080" y="2331720"/>
            <a:ext cx="10911535" cy="292608"/>
          </a:xfrm>
          <a:prstGeom prst="rect">
            <a:avLst/>
          </a:prstGeom>
          <a:noFill/>
          <a:ln/>
        </p:spPr>
        <p:txBody>
          <a:bodyPr wrap="square" lIns="0" tIns="0" rIns="0" bIns="0" rtlCol="0" anchor="ctr"/>
          <a:lstStyle/>
          <a:p>
            <a:pPr algn="ctr" indent="0" marL="0">
              <a:buNone/>
            </a:pPr>
            <a:r>
              <a:rPr lang="en-US" sz="1200" b="1" spc="300" kern="0" dirty="0">
                <a:solidFill>
                  <a:srgbClr val="C9B8F0"/>
                </a:solidFill>
                <a:latin typeface="Calibri" pitchFamily="34" charset="0"/>
                <a:ea typeface="Calibri" pitchFamily="34" charset="-122"/>
                <a:cs typeface="Calibri" pitchFamily="34" charset="-120"/>
              </a:rPr>
              <a:t>CIERRE DEL MÓDULO 01</a:t>
            </a:r>
            <a:endParaRPr lang="en-US" sz="1200" dirty="0"/>
          </a:p>
        </p:txBody>
      </p:sp>
      <p:sp>
        <p:nvSpPr>
          <p:cNvPr id="5" name="Text 2"/>
          <p:cNvSpPr/>
          <p:nvPr/>
        </p:nvSpPr>
        <p:spPr>
          <a:xfrm>
            <a:off x="640080" y="2651760"/>
            <a:ext cx="10911535" cy="914400"/>
          </a:xfrm>
          <a:prstGeom prst="rect">
            <a:avLst/>
          </a:prstGeom>
          <a:noFill/>
          <a:ln/>
        </p:spPr>
        <p:txBody>
          <a:bodyPr wrap="square" lIns="0" tIns="0" rIns="0" bIns="0" rtlCol="0" anchor="t"/>
          <a:lstStyle/>
          <a:p>
            <a:pPr algn="ctr" indent="0" marL="0">
              <a:buNone/>
            </a:pPr>
            <a:r>
              <a:rPr lang="en-US" sz="4200" b="1" dirty="0">
                <a:solidFill>
                  <a:srgbClr val="FFFFFF"/>
                </a:solidFill>
                <a:latin typeface="Century Schoolbook" pitchFamily="34" charset="0"/>
                <a:ea typeface="Century Schoolbook" pitchFamily="34" charset="-122"/>
                <a:cs typeface="Century Schoolbook" pitchFamily="34" charset="-120"/>
              </a:rPr>
              <a:t>Estás listo para empezar</a:t>
            </a:r>
            <a:endParaRPr lang="en-US" sz="4200" dirty="0"/>
          </a:p>
        </p:txBody>
      </p:sp>
      <p:sp>
        <p:nvSpPr>
          <p:cNvPr id="6" name="Text 3"/>
          <p:cNvSpPr/>
          <p:nvPr/>
        </p:nvSpPr>
        <p:spPr>
          <a:xfrm>
            <a:off x="1645920" y="3611880"/>
            <a:ext cx="8899855" cy="1097280"/>
          </a:xfrm>
          <a:prstGeom prst="rect">
            <a:avLst/>
          </a:prstGeom>
          <a:noFill/>
          <a:ln/>
        </p:spPr>
        <p:txBody>
          <a:bodyPr wrap="square" lIns="0" tIns="0" rIns="0" bIns="0" rtlCol="0" anchor="t"/>
          <a:lstStyle/>
          <a:p>
            <a:pPr algn="ctr" indent="0" marL="0">
              <a:lnSpc>
                <a:spcPct val="110000"/>
              </a:lnSpc>
              <a:buNone/>
            </a:pPr>
            <a:r>
              <a:rPr lang="en-US" sz="1800" i="1" dirty="0">
                <a:solidFill>
                  <a:srgbClr val="E7DEF7"/>
                </a:solidFill>
                <a:latin typeface="Calibri" pitchFamily="34" charset="0"/>
                <a:ea typeface="Calibri" pitchFamily="34" charset="-122"/>
                <a:cs typeface="Calibri" pitchFamily="34" charset="-120"/>
              </a:rPr>
              <a:t>Ya sabes qué es ATRIA, a quién ayuda y cuál es tu rol. Ahora vamos a conocer el producto a fondo.</a:t>
            </a:r>
            <a:endParaRPr lang="en-US" sz="1800" dirty="0"/>
          </a:p>
        </p:txBody>
      </p:sp>
      <p:sp>
        <p:nvSpPr>
          <p:cNvPr id="7" name="Shape 4"/>
          <p:cNvSpPr/>
          <p:nvPr/>
        </p:nvSpPr>
        <p:spPr>
          <a:xfrm>
            <a:off x="1645920" y="4892040"/>
            <a:ext cx="8899855" cy="1005840"/>
          </a:xfrm>
          <a:prstGeom prst="roundRect">
            <a:avLst>
              <a:gd name="adj" fmla="val 12727"/>
            </a:avLst>
          </a:prstGeom>
          <a:solidFill>
            <a:srgbClr val="FFFFFF">
              <a:alpha val="12000"/>
            </a:srgbClr>
          </a:solidFill>
          <a:ln w="9525">
            <a:solidFill>
              <a:srgbClr val="FFFFFF">
                <a:alpha val="45000"/>
              </a:srgbClr>
            </a:solidFill>
            <a:prstDash val="solid"/>
          </a:ln>
        </p:spPr>
      </p:sp>
      <p:sp>
        <p:nvSpPr>
          <p:cNvPr id="8" name="Text 5"/>
          <p:cNvSpPr/>
          <p:nvPr/>
        </p:nvSpPr>
        <p:spPr>
          <a:xfrm>
            <a:off x="2011680" y="4892040"/>
            <a:ext cx="8168335" cy="1005840"/>
          </a:xfrm>
          <a:prstGeom prst="rect">
            <a:avLst/>
          </a:prstGeom>
          <a:noFill/>
          <a:ln/>
        </p:spPr>
        <p:txBody>
          <a:bodyPr wrap="square" lIns="0" tIns="0" rIns="0" bIns="0" rtlCol="0" anchor="ctr"/>
          <a:lstStyle/>
          <a:p>
            <a:pPr algn="ctr" indent="0" marL="0">
              <a:lnSpc>
                <a:spcPct val="105000"/>
              </a:lnSpc>
              <a:buNone/>
            </a:pPr>
            <a:r>
              <a:rPr lang="en-US" sz="1400" b="1" dirty="0">
                <a:solidFill>
                  <a:srgbClr val="FFFFFF"/>
                </a:solidFill>
                <a:latin typeface="Calibri" pitchFamily="34" charset="0"/>
                <a:ea typeface="Calibri" pitchFamily="34" charset="-122"/>
                <a:cs typeface="Calibri" pitchFamily="34" charset="-120"/>
              </a:rPr>
              <a:t>Siguiente paso: presenta el examen del Módulo 01 y avanza al Módulo 02 — Dominio del producto.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ATRIA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ATRIA · Módulo 01 · Bienvenida a ATRIA</dc:title>
  <dc:subject>Bienvenida a ATRIA</dc:subject>
  <dc:creator>Academia Comercial ATRIA</dc:creator>
  <cp:lastModifiedBy>Academia Comercial ATRIA</cp:lastModifiedBy>
  <cp:revision>1</cp:revision>
  <dcterms:created xsi:type="dcterms:W3CDTF">2026-08-03T02:46:46Z</dcterms:created>
  <dcterms:modified xsi:type="dcterms:W3CDTF">2026-08-03T02:46:46Z</dcterms:modified>
</cp:coreProperties>
</file>